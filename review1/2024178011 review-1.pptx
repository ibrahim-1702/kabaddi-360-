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70" r:id="rId3"/>
    <p:sldId id="276" r:id="rId4"/>
    <p:sldId id="271" r:id="rId5"/>
    <p:sldId id="272" r:id="rId6"/>
    <p:sldId id="273" r:id="rId7"/>
    <p:sldId id="258" r:id="rId8"/>
    <p:sldId id="288" r:id="rId9"/>
    <p:sldId id="274" r:id="rId10"/>
    <p:sldId id="275" r:id="rId11"/>
    <p:sldId id="277" r:id="rId12"/>
    <p:sldId id="278" r:id="rId13"/>
    <p:sldId id="279" r:id="rId14"/>
    <p:sldId id="280" r:id="rId15"/>
    <p:sldId id="281" r:id="rId16"/>
    <p:sldId id="282" r:id="rId17"/>
    <p:sldId id="283" r:id="rId18"/>
    <p:sldId id="284" r:id="rId19"/>
    <p:sldId id="285" r:id="rId20"/>
    <p:sldId id="286" r:id="rId21"/>
    <p:sldId id="28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322E9-8FCB-4E36-92B9-AAA94F993B43}" type="datetimeFigureOut">
              <a:rPr lang="en-IN" smtClean="0"/>
              <a:t>24-01-2026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ACFA9A-76B6-4342-89DF-DC137DC2088D}" type="slidenum">
              <a:rPr lang="en-IN" smtClean="0"/>
              <a:t>‹#›</a:t>
            </a:fld>
            <a:endParaRPr lang="en-IN"/>
          </a:p>
        </p:txBody>
      </p:sp>
    </p:spTree>
    <p:extLst>
      <p:ext uri="{BB962C8B-B14F-4D97-AF65-F5344CB8AC3E}">
        <p14:creationId xmlns:p14="http://schemas.microsoft.com/office/powerpoint/2010/main" val="380585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AR Playback of Reference Moves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Automated Movement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Error Identification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LLM-Generated Coaching Feedback</a:t>
            </a:r>
          </a:p>
          <a:p>
            <a:endParaRPr lang="en-IN" dirty="0"/>
          </a:p>
        </p:txBody>
      </p:sp>
      <p:sp>
        <p:nvSpPr>
          <p:cNvPr id="4" name="Slide Number Placeholder 3"/>
          <p:cNvSpPr>
            <a:spLocks noGrp="1"/>
          </p:cNvSpPr>
          <p:nvPr>
            <p:ph type="sldNum" sz="quarter" idx="5"/>
          </p:nvPr>
        </p:nvSpPr>
        <p:spPr/>
        <p:txBody>
          <a:bodyPr/>
          <a:lstStyle/>
          <a:p>
            <a:fld id="{E3F0E897-8437-4E9C-8342-A80BE0E1B52C}" type="slidenum">
              <a:rPr lang="en-IN" smtClean="0"/>
              <a:t>4</a:t>
            </a:fld>
            <a:endParaRPr lang="en-IN"/>
          </a:p>
        </p:txBody>
      </p:sp>
    </p:spTree>
    <p:extLst>
      <p:ext uri="{BB962C8B-B14F-4D97-AF65-F5344CB8AC3E}">
        <p14:creationId xmlns:p14="http://schemas.microsoft.com/office/powerpoint/2010/main" val="1370669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works related to pose estimation, motion analysis, and skeleton-based learning.</a:t>
            </a:r>
          </a:p>
          <a:p>
            <a:endParaRPr lang="en-US" dirty="0"/>
          </a:p>
          <a:p>
            <a:r>
              <a:rPr lang="en-US" dirty="0"/>
              <a:t>The first paper by </a:t>
            </a:r>
            <a:r>
              <a:rPr lang="en-US" b="1" dirty="0"/>
              <a:t>Aleksić (2024)</a:t>
            </a:r>
            <a:r>
              <a:rPr lang="en-US" dirty="0"/>
              <a:t> </a:t>
            </a:r>
            <a:r>
              <a:rPr lang="en-US" b="1" dirty="0"/>
              <a:t>validates </a:t>
            </a:r>
            <a:r>
              <a:rPr lang="en-US" b="1" dirty="0" err="1"/>
              <a:t>markerless</a:t>
            </a:r>
            <a:r>
              <a:rPr lang="en-US" b="1" dirty="0"/>
              <a:t> pose estimation </a:t>
            </a:r>
            <a:r>
              <a:rPr lang="en-US" dirty="0"/>
              <a:t>by comparing it 3D motion capture systems. This work shows that </a:t>
            </a:r>
            <a:r>
              <a:rPr lang="en-US" dirty="0" err="1"/>
              <a:t>markerless</a:t>
            </a:r>
            <a:r>
              <a:rPr lang="en-US" dirty="0"/>
              <a:t> approaches can achieve high accuracy, making them suitable for real-world sports applications without expensive hardware.</a:t>
            </a:r>
          </a:p>
          <a:p>
            <a:r>
              <a:rPr lang="en-US" dirty="0"/>
              <a:t>The second paper by </a:t>
            </a:r>
            <a:r>
              <a:rPr lang="en-US" b="1" dirty="0"/>
              <a:t>Lin et al. (2020)</a:t>
            </a:r>
            <a:r>
              <a:rPr lang="en-US" dirty="0"/>
              <a:t> demonstrates a complete pose-based pipeline using </a:t>
            </a:r>
            <a:r>
              <a:rPr lang="en-US" b="1" dirty="0" err="1"/>
              <a:t>OpenPose</a:t>
            </a:r>
            <a:r>
              <a:rPr lang="en-US" dirty="0"/>
              <a:t> and machine learning classifiers. Although it is not sports-specific, it clearly establishes that pose-based features are reliable for movement analysis in real environments.</a:t>
            </a:r>
          </a:p>
          <a:p>
            <a:r>
              <a:rPr lang="en-US" dirty="0"/>
              <a:t>The third work by </a:t>
            </a:r>
            <a:r>
              <a:rPr lang="en-US" b="1" dirty="0" err="1"/>
              <a:t>Devzel</a:t>
            </a:r>
            <a:r>
              <a:rPr lang="en-US" b="1" dirty="0"/>
              <a:t> et al. (2023)</a:t>
            </a:r>
            <a:r>
              <a:rPr lang="en-US" dirty="0"/>
              <a:t> focuses on skeleton-based action recognition using few-shot learning. This paper is important because it shows that skeleton representations are effective for learning and comparing movements, which directly motivates the similarity engine in my project.</a:t>
            </a:r>
          </a:p>
          <a:p>
            <a:endParaRPr lang="en-IN" dirty="0"/>
          </a:p>
        </p:txBody>
      </p:sp>
      <p:sp>
        <p:nvSpPr>
          <p:cNvPr id="4" name="Slide Number Placeholder 3"/>
          <p:cNvSpPr>
            <a:spLocks noGrp="1"/>
          </p:cNvSpPr>
          <p:nvPr>
            <p:ph type="sldNum" sz="quarter" idx="5"/>
          </p:nvPr>
        </p:nvSpPr>
        <p:spPr/>
        <p:txBody>
          <a:bodyPr/>
          <a:lstStyle/>
          <a:p>
            <a:fld id="{E3F0E897-8437-4E9C-8342-A80BE0E1B52C}" type="slidenum">
              <a:rPr lang="en-IN" smtClean="0"/>
              <a:t>5</a:t>
            </a:fld>
            <a:endParaRPr lang="en-IN"/>
          </a:p>
        </p:txBody>
      </p:sp>
    </p:spTree>
    <p:extLst>
      <p:ext uri="{BB962C8B-B14F-4D97-AF65-F5344CB8AC3E}">
        <p14:creationId xmlns:p14="http://schemas.microsoft.com/office/powerpoint/2010/main" val="145905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Continuing the literature survey, this slide focuses on real-time tracking and AR/MR-based avatar systems.</a:t>
            </a:r>
          </a:p>
          <a:p>
            <a:r>
              <a:rPr lang="en-US" b="1" dirty="0"/>
              <a:t>Long Liu et al. (2024)</a:t>
            </a:r>
            <a:r>
              <a:rPr lang="en-US" dirty="0"/>
              <a:t> propose a real-time pose estimation and tracking framework using </a:t>
            </a:r>
            <a:r>
              <a:rPr lang="en-US" dirty="0" err="1"/>
              <a:t>OpenPose</a:t>
            </a:r>
            <a:r>
              <a:rPr lang="en-US" dirty="0"/>
              <a:t> and </a:t>
            </a:r>
            <a:r>
              <a:rPr lang="en-US" dirty="0" err="1"/>
              <a:t>DeepSORT</a:t>
            </a:r>
            <a:r>
              <a:rPr lang="en-US" dirty="0"/>
              <a:t>. Their work highlights how pose tracking can be used effectively in sports environments, even with occlusions and multiple players.</a:t>
            </a:r>
          </a:p>
          <a:p>
            <a:r>
              <a:rPr lang="en-US" b="1" dirty="0"/>
              <a:t>Ihara et al. (2024)</a:t>
            </a:r>
            <a:r>
              <a:rPr lang="en-US" dirty="0"/>
              <a:t> present a system that converts 2D instructional videos into mixed-reality 3D avatars. This paper is particularly relevant to my project because it demonstrates how motion extracted from videos can be transformed into interactive 3D avatars, which aligns closely with the idea of ghost trainers.</a:t>
            </a:r>
          </a:p>
          <a:p>
            <a:r>
              <a:rPr lang="en-US" dirty="0"/>
              <a:t>However, this system lacks an automated feedback loop, which my project aims to address.</a:t>
            </a:r>
          </a:p>
        </p:txBody>
      </p:sp>
      <p:sp>
        <p:nvSpPr>
          <p:cNvPr id="4" name="Slide Number Placeholder 3"/>
          <p:cNvSpPr>
            <a:spLocks noGrp="1"/>
          </p:cNvSpPr>
          <p:nvPr>
            <p:ph type="sldNum" sz="quarter" idx="5"/>
          </p:nvPr>
        </p:nvSpPr>
        <p:spPr/>
        <p:txBody>
          <a:bodyPr/>
          <a:lstStyle/>
          <a:p>
            <a:fld id="{E3F0E897-8437-4E9C-8342-A80BE0E1B52C}" type="slidenum">
              <a:rPr lang="en-IN" smtClean="0"/>
              <a:t>6</a:t>
            </a:fld>
            <a:endParaRPr lang="en-IN"/>
          </a:p>
        </p:txBody>
      </p:sp>
    </p:spTree>
    <p:extLst>
      <p:ext uri="{BB962C8B-B14F-4D97-AF65-F5344CB8AC3E}">
        <p14:creationId xmlns:p14="http://schemas.microsoft.com/office/powerpoint/2010/main" val="742366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2203-445D-1FF2-0825-5FC28BFBCB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A120FE-2A5E-DB92-FB28-7D737AD7BC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AE3117-86BE-8928-2D61-8C749B199929}"/>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39514433-51A2-CD0A-EF35-6E5D38668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C1818-582B-6BB8-E800-DCA5A35D667F}"/>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093822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C0F5-D0D1-1CE1-AAE0-7F7E38733D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B4248-109C-9C2F-8B1E-59D611F70E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210B7B-54E7-43E2-52F9-E6576D7FD45D}"/>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2C19A518-30EA-3BDE-5AA6-0A5EC3EE85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1586D2-D791-29DB-1BF0-B86D7F95FB89}"/>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633380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7930-2075-8FE9-140D-C1A0E1FD0B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188A16-F2CC-79EA-E1E5-9869A1A9D1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B3D8B5-A2D6-D47B-01B8-71A8E0345033}"/>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CCAAB06F-0F62-8FAC-E9B4-502CF73C8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9DD5D-248B-1FBF-1816-8B730CC2FFCA}"/>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614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8441B-D84E-9DA8-5D94-41735235C7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84229-7DF6-256F-B6EA-302E035214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342A60-EB95-01EA-4FB0-4CE60ED19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A04F76-18FC-3329-ECF9-6B95E28A9AE0}"/>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6" name="Footer Placeholder 5">
            <a:extLst>
              <a:ext uri="{FF2B5EF4-FFF2-40B4-BE49-F238E27FC236}">
                <a16:creationId xmlns:a16="http://schemas.microsoft.com/office/drawing/2014/main" id="{5D2666FF-57AC-0FC0-B419-800BF04852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3843BE-E479-4474-3DB7-635404D5DE16}"/>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58812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1561-58EA-98A9-4148-E323E8C2D5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059EAA-3A28-2F0D-2E28-D17835EFBF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E953F-8791-4C7C-6350-214148ECA5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D9E305-31D6-7BAA-49AA-9BF3122AEE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FF8D1-C839-1A14-40F0-D22751C1A0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C065CA-D153-657F-C731-D7C75CB3576B}"/>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8" name="Footer Placeholder 7">
            <a:extLst>
              <a:ext uri="{FF2B5EF4-FFF2-40B4-BE49-F238E27FC236}">
                <a16:creationId xmlns:a16="http://schemas.microsoft.com/office/drawing/2014/main" id="{5E611BB0-35D3-3A81-17E5-C89D725EB2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5BDF9B-75B7-77C3-3BD4-CBEAD88A8735}"/>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1214582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6E00-F571-4178-92F3-A67B81ADC5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A232B1-F245-25F4-F575-55547BA52F8A}"/>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4" name="Footer Placeholder 3">
            <a:extLst>
              <a:ext uri="{FF2B5EF4-FFF2-40B4-BE49-F238E27FC236}">
                <a16:creationId xmlns:a16="http://schemas.microsoft.com/office/drawing/2014/main" id="{296BA4E9-A64A-3726-89C1-578141EAC9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A94DFE-BC38-33FB-1CC8-EBA428380E10}"/>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065880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2B3545-F168-D5E6-646E-082C0C97B4FE}"/>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3" name="Footer Placeholder 2">
            <a:extLst>
              <a:ext uri="{FF2B5EF4-FFF2-40B4-BE49-F238E27FC236}">
                <a16:creationId xmlns:a16="http://schemas.microsoft.com/office/drawing/2014/main" id="{258871FF-BB51-DB1F-D5CE-00B6642D37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CD43A5-36C2-F692-8759-DA355ADEB047}"/>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31382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3F41-954F-5BCD-519F-24694DEF4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BAE94E-F951-F0FF-E9E8-641DE7160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0724F0-4DAC-34C2-E31B-5E49368DB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F8E29D-F405-41B5-E301-C0CBA2C8C024}"/>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6" name="Footer Placeholder 5">
            <a:extLst>
              <a:ext uri="{FF2B5EF4-FFF2-40B4-BE49-F238E27FC236}">
                <a16:creationId xmlns:a16="http://schemas.microsoft.com/office/drawing/2014/main" id="{2B1E47ED-77DF-7FF9-EEFF-11BD80051F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45E997-5E3E-A11F-58C8-D9E8A783994A}"/>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26695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A075F-D3A0-246A-9C0B-27CCCABEBF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68CEA4-CAE7-F286-BDC2-F1929AF51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ACB7A0-1DE1-945B-6490-4A2BB410A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D19EFE-D2CD-4F50-92EA-3D0D6241348B}"/>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6" name="Footer Placeholder 5">
            <a:extLst>
              <a:ext uri="{FF2B5EF4-FFF2-40B4-BE49-F238E27FC236}">
                <a16:creationId xmlns:a16="http://schemas.microsoft.com/office/drawing/2014/main" id="{B83C805D-2E8C-C5D0-A9D6-5E66420C0B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E2720F-AED6-37EC-745A-7A9DC30626AD}"/>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760260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B00D-28E2-8DBE-9068-BDCE3FE16A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A141BC-7F3D-EFA6-353C-9C49DAA1B8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3C9F4-A35E-7543-E5C6-ACCDC1467A58}"/>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FDA1C37F-CF5C-67CB-D805-57740D3383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DC895-2F44-5218-9F98-FEE602E5B669}"/>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92704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F549F7-3E2C-C8EA-BF2E-B49B98F93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1471AA-82EB-E02E-9255-44EB7204A5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644751-ED20-0131-C95A-0AAB04FF2AEC}"/>
              </a:ext>
            </a:extLst>
          </p:cNvPr>
          <p:cNvSpPr>
            <a:spLocks noGrp="1"/>
          </p:cNvSpPr>
          <p:nvPr>
            <p:ph type="dt" sz="half" idx="10"/>
          </p:nvPr>
        </p:nvSpPr>
        <p:spPr/>
        <p:txBody>
          <a:body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2AEF5490-33B7-4039-607E-385940A60A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A4C0E-8AC4-1DD7-D5FD-38E068EDA993}"/>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2387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AA5B60-C512-E10C-687A-F9C1B8D88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1EF491-A607-960A-E6C7-34112FCB38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F77DCE-66D9-F82C-1E58-ACAAB6C712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C48ACE-AE27-47B1-B7D4-7EF694A9D53C}" type="datetimeFigureOut">
              <a:rPr lang="en-IN" smtClean="0"/>
              <a:t>24-01-2026</a:t>
            </a:fld>
            <a:endParaRPr lang="en-IN"/>
          </a:p>
        </p:txBody>
      </p:sp>
      <p:sp>
        <p:nvSpPr>
          <p:cNvPr id="5" name="Footer Placeholder 4">
            <a:extLst>
              <a:ext uri="{FF2B5EF4-FFF2-40B4-BE49-F238E27FC236}">
                <a16:creationId xmlns:a16="http://schemas.microsoft.com/office/drawing/2014/main" id="{95BB7BA5-6928-2166-0D60-D721FEC806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B0997-EBB1-84F8-E639-B6CABE4000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2E7A9C-C7C3-426D-89FC-B8A08B2A8F9B}" type="slidenum">
              <a:rPr lang="en-IN" smtClean="0"/>
              <a:t>‹#›</a:t>
            </a:fld>
            <a:endParaRPr lang="en-IN"/>
          </a:p>
        </p:txBody>
      </p:sp>
    </p:spTree>
    <p:extLst>
      <p:ext uri="{BB962C8B-B14F-4D97-AF65-F5344CB8AC3E}">
        <p14:creationId xmlns:p14="http://schemas.microsoft.com/office/powerpoint/2010/main" val="92703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mdpi.com/2076-3417/11/1/32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openaccess.thecvf.com/content/CVPR2023W/CVSports/papers/Deyzel_One-Shot_Skeleton-Based_Action_Recognition_on_Strength_and_Conditioning_Exercises_CVPRW_2023_paper.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ublication/379958550_Real-time_pose_estimation_and_motion_tracking_for_motion_performance_using_deep_learning_model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arxiv.org/abs/2405.18565"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57F2C-96EE-81E3-E3D3-CEA0276A220B}"/>
              </a:ext>
            </a:extLst>
          </p:cNvPr>
          <p:cNvSpPr>
            <a:spLocks noGrp="1"/>
          </p:cNvSpPr>
          <p:nvPr>
            <p:ph type="ctrTitle"/>
          </p:nvPr>
        </p:nvSpPr>
        <p:spPr>
          <a:xfrm>
            <a:off x="1295400" y="868362"/>
            <a:ext cx="9601200" cy="2387600"/>
          </a:xfrm>
        </p:spPr>
        <p:txBody>
          <a:bodyPr>
            <a:normAutofit fontScale="90000"/>
          </a:bodyPr>
          <a:lstStyle/>
          <a:p>
            <a:r>
              <a:rPr lang="en-US" dirty="0"/>
              <a:t>An AR-Based Coaching System for Kabaddi Using Pose Estimation and LLM Feedback</a:t>
            </a:r>
            <a:endParaRPr lang="en-IN" dirty="0"/>
          </a:p>
        </p:txBody>
      </p:sp>
      <p:sp>
        <p:nvSpPr>
          <p:cNvPr id="6" name="Subtitle 2">
            <a:extLst>
              <a:ext uri="{FF2B5EF4-FFF2-40B4-BE49-F238E27FC236}">
                <a16:creationId xmlns:a16="http://schemas.microsoft.com/office/drawing/2014/main" id="{33E9484C-A76D-28D9-0D4D-689D97D6C98E}"/>
              </a:ext>
            </a:extLst>
          </p:cNvPr>
          <p:cNvSpPr txBox="1">
            <a:spLocks/>
          </p:cNvSpPr>
          <p:nvPr/>
        </p:nvSpPr>
        <p:spPr>
          <a:xfrm>
            <a:off x="1524000" y="422871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Arial" panose="020B0604020202020204" pitchFamily="34" charset="0"/>
                <a:cs typeface="Arial" panose="020B0604020202020204" pitchFamily="34" charset="0"/>
              </a:rPr>
              <a:t>Dr. T. </a:t>
            </a:r>
            <a:r>
              <a:rPr lang="en-US" i="1" dirty="0">
                <a:latin typeface="Arial" panose="020B0604020202020204" pitchFamily="34" charset="0"/>
                <a:cs typeface="Arial" panose="020B0604020202020204" pitchFamily="34" charset="0"/>
              </a:rPr>
              <a:t>Mala</a:t>
            </a:r>
            <a:r>
              <a:rPr lang="en-IN" dirty="0">
                <a:latin typeface="Arial" panose="020B0604020202020204" pitchFamily="34" charset="0"/>
                <a:cs typeface="Arial" panose="020B0604020202020204" pitchFamily="34" charset="0"/>
              </a:rPr>
              <a:t>,					    Mohamed Ibrahim MS,</a:t>
            </a:r>
          </a:p>
          <a:p>
            <a:pPr algn="l"/>
            <a:r>
              <a:rPr lang="en-IN" dirty="0">
                <a:latin typeface="Arial" panose="020B0604020202020204" pitchFamily="34" charset="0"/>
                <a:cs typeface="Arial" panose="020B0604020202020204" pitchFamily="34" charset="0"/>
              </a:rPr>
              <a:t>Professor,						          2024178011</a:t>
            </a:r>
          </a:p>
        </p:txBody>
      </p:sp>
    </p:spTree>
    <p:extLst>
      <p:ext uri="{BB962C8B-B14F-4D97-AF65-F5344CB8AC3E}">
        <p14:creationId xmlns:p14="http://schemas.microsoft.com/office/powerpoint/2010/main" val="223134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C055-8BC1-A003-6B4D-8C519D940F1E}"/>
              </a:ext>
            </a:extLst>
          </p:cNvPr>
          <p:cNvSpPr>
            <a:spLocks noGrp="1"/>
          </p:cNvSpPr>
          <p:nvPr>
            <p:ph type="title"/>
          </p:nvPr>
        </p:nvSpPr>
        <p:spPr>
          <a:xfrm>
            <a:off x="838199" y="68792"/>
            <a:ext cx="10515600" cy="1325563"/>
          </a:xfrm>
        </p:spPr>
        <p:txBody>
          <a:bodyPr/>
          <a:lstStyle/>
          <a:p>
            <a:r>
              <a:rPr lang="en-IN" b="1" dirty="0"/>
              <a:t>1. Introduction</a:t>
            </a:r>
          </a:p>
        </p:txBody>
      </p:sp>
      <p:sp>
        <p:nvSpPr>
          <p:cNvPr id="5" name="Rectangle 2">
            <a:extLst>
              <a:ext uri="{FF2B5EF4-FFF2-40B4-BE49-F238E27FC236}">
                <a16:creationId xmlns:a16="http://schemas.microsoft.com/office/drawing/2014/main" id="{779BE586-6C07-37E3-4399-B708E5FF27C2}"/>
              </a:ext>
            </a:extLst>
          </p:cNvPr>
          <p:cNvSpPr>
            <a:spLocks noGrp="1" noChangeArrowheads="1"/>
          </p:cNvSpPr>
          <p:nvPr>
            <p:ph idx="1"/>
          </p:nvPr>
        </p:nvSpPr>
        <p:spPr bwMode="auto">
          <a:xfrm>
            <a:off x="838199" y="1753116"/>
            <a:ext cx="110913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Kabaddi is a high-intensity contact sport that requires explosive movements such as </a:t>
            </a:r>
            <a:r>
              <a:rPr kumimoji="0" lang="en-US" altLang="en-US" sz="2000" b="1" i="0" u="none" strike="noStrike" cap="none" normalizeH="0" baseline="0" dirty="0">
                <a:ln>
                  <a:noFill/>
                </a:ln>
                <a:solidFill>
                  <a:schemeClr val="tx1"/>
                </a:solidFill>
                <a:effectLst/>
                <a:latin typeface="Arial" panose="020B0604020202020204" pitchFamily="34" charset="0"/>
              </a:rPr>
              <a:t>toe-touch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scorpion kick</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hand touch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dubki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bonus step</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jump raid</a:t>
            </a:r>
            <a:r>
              <a:rPr kumimoji="0" lang="en-US" altLang="en-US" sz="2000" b="0" i="0" u="none" strike="noStrike" cap="none" normalizeH="0" baseline="0" dirty="0">
                <a:ln>
                  <a:noFill/>
                </a:ln>
                <a:solidFill>
                  <a:schemeClr val="tx1"/>
                </a:solidFill>
                <a:effectLst/>
                <a:latin typeface="Arial" panose="020B0604020202020204" pitchFamily="34" charset="0"/>
              </a:rPr>
              <a:t>. Mastery of these skills demands precise timing, balance, and body coordination.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Players—especially beginners—often struggle to correctly learn these techniques because </a:t>
            </a:r>
            <a:r>
              <a:rPr kumimoji="0" lang="en-US" altLang="en-US" sz="2000" b="1" i="0" u="none" strike="noStrike" cap="none" normalizeH="0" baseline="0" dirty="0">
                <a:ln>
                  <a:noFill/>
                </a:ln>
                <a:solidFill>
                  <a:schemeClr val="tx1"/>
                </a:solidFill>
                <a:effectLst/>
                <a:latin typeface="Arial" panose="020B0604020202020204" pitchFamily="34" charset="0"/>
              </a:rPr>
              <a:t>visual demonstrations are brief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coaches may not always be available</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players cannot see their own mistakes in real time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introduces an </a:t>
            </a:r>
            <a:r>
              <a:rPr kumimoji="0" lang="en-US" altLang="en-US" sz="2000" b="1" i="0" u="none" strike="noStrike" cap="none" normalizeH="0" baseline="0" dirty="0">
                <a:ln>
                  <a:noFill/>
                </a:ln>
                <a:solidFill>
                  <a:schemeClr val="tx1"/>
                </a:solidFill>
                <a:effectLst/>
                <a:latin typeface="Arial" panose="020B0604020202020204" pitchFamily="34" charset="0"/>
              </a:rPr>
              <a:t>AR-based Kabaddi Ghost Trainer</a:t>
            </a:r>
            <a:r>
              <a:rPr kumimoji="0" lang="en-US" altLang="en-US" sz="2000" b="0" i="0" u="none" strike="noStrike" cap="none" normalizeH="0" baseline="0" dirty="0">
                <a:ln>
                  <a:noFill/>
                </a:ln>
                <a:solidFill>
                  <a:schemeClr val="tx1"/>
                </a:solidFill>
                <a:effectLst/>
                <a:latin typeface="Arial" panose="020B0604020202020204" pitchFamily="34" charset="0"/>
              </a:rPr>
              <a:t>, where a virtual avatar demonstrates reference moves and the system evaluates how closely the player replicates them using </a:t>
            </a:r>
            <a:r>
              <a:rPr kumimoji="0" lang="en-US" altLang="en-US" sz="2000" b="1" i="0" u="none" strike="noStrike" cap="none" normalizeH="0" baseline="0" dirty="0">
                <a:ln>
                  <a:noFill/>
                </a:ln>
                <a:solidFill>
                  <a:schemeClr val="tx1"/>
                </a:solidFill>
                <a:effectLst/>
                <a:latin typeface="Arial" panose="020B0604020202020204" pitchFamily="34" charset="0"/>
              </a:rPr>
              <a:t>pose estimation, sequence comparison, and feedback generation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The goal is to help Kabaddi learners practice independently, receive </a:t>
            </a:r>
            <a:r>
              <a:rPr kumimoji="0" lang="en-US" altLang="en-US" sz="2000" b="1" i="0" u="none" strike="noStrike" cap="none" normalizeH="0" baseline="0" dirty="0">
                <a:ln>
                  <a:noFill/>
                </a:ln>
                <a:solidFill>
                  <a:schemeClr val="tx1"/>
                </a:solidFill>
                <a:effectLst/>
                <a:latin typeface="Arial" panose="020B0604020202020204" pitchFamily="34" charset="0"/>
              </a:rPr>
              <a:t>real-time correction cues</a:t>
            </a:r>
            <a:r>
              <a:rPr kumimoji="0" lang="en-US" altLang="en-US" sz="2000" b="0" i="0" u="none" strike="noStrike" cap="none" normalizeH="0" baseline="0" dirty="0">
                <a:ln>
                  <a:noFill/>
                </a:ln>
                <a:solidFill>
                  <a:schemeClr val="tx1"/>
                </a:solidFill>
                <a:effectLst/>
                <a:latin typeface="Arial" panose="020B0604020202020204" pitchFamily="34" charset="0"/>
              </a:rPr>
              <a:t>, and improve movements with clear visual and data-driven guidance.</a:t>
            </a:r>
          </a:p>
        </p:txBody>
      </p:sp>
    </p:spTree>
    <p:extLst>
      <p:ext uri="{BB962C8B-B14F-4D97-AF65-F5344CB8AC3E}">
        <p14:creationId xmlns:p14="http://schemas.microsoft.com/office/powerpoint/2010/main" val="919927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80AF3-0C72-D0CF-0EF0-4B6CC22FBBBD}"/>
              </a:ext>
            </a:extLst>
          </p:cNvPr>
          <p:cNvSpPr>
            <a:spLocks noGrp="1"/>
          </p:cNvSpPr>
          <p:nvPr>
            <p:ph type="title"/>
          </p:nvPr>
        </p:nvSpPr>
        <p:spPr>
          <a:xfrm>
            <a:off x="692852" y="180058"/>
            <a:ext cx="10515600" cy="949429"/>
          </a:xfrm>
        </p:spPr>
        <p:txBody>
          <a:bodyPr/>
          <a:lstStyle/>
          <a:p>
            <a:r>
              <a:rPr lang="en-IN" b="1" dirty="0"/>
              <a:t>2. Introduction (Kabaddi skills)</a:t>
            </a:r>
          </a:p>
        </p:txBody>
      </p:sp>
      <p:sp>
        <p:nvSpPr>
          <p:cNvPr id="4" name="Rectangle 1">
            <a:extLst>
              <a:ext uri="{FF2B5EF4-FFF2-40B4-BE49-F238E27FC236}">
                <a16:creationId xmlns:a16="http://schemas.microsoft.com/office/drawing/2014/main" id="{3BA1B766-358F-EA49-FF03-2F37ACBB6C73}"/>
              </a:ext>
            </a:extLst>
          </p:cNvPr>
          <p:cNvSpPr>
            <a:spLocks noGrp="1" noChangeArrowheads="1"/>
          </p:cNvSpPr>
          <p:nvPr>
            <p:ph idx="1"/>
          </p:nvPr>
        </p:nvSpPr>
        <p:spPr bwMode="auto">
          <a:xfrm>
            <a:off x="265957" y="1275507"/>
            <a:ext cx="568469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400" b="1" dirty="0">
                <a:latin typeface="Arial" panose="020B0604020202020204" pitchFamily="34" charset="0"/>
              </a:rPr>
              <a:t>T</a:t>
            </a:r>
            <a:r>
              <a:rPr kumimoji="0" lang="en-US" altLang="en-US" sz="1400" b="1" i="0" u="none" strike="noStrike" cap="none" normalizeH="0" baseline="0" dirty="0">
                <a:ln>
                  <a:noFill/>
                </a:ln>
                <a:solidFill>
                  <a:schemeClr val="tx1"/>
                </a:solidFill>
                <a:effectLst/>
                <a:latin typeface="Arial" panose="020B0604020202020204" pitchFamily="34" charset="0"/>
              </a:rPr>
              <a:t>oe Touch</a:t>
            </a:r>
            <a:endParaRPr lang="en-US" altLang="en-US" sz="1400" dirty="0">
              <a:latin typeface="Arial" panose="020B0604020202020204" pitchFamily="34" charset="0"/>
            </a:endParaRPr>
          </a:p>
          <a:p>
            <a:pPr lvl="1"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quick forward extension of the leg to tap the defender while maintaining balance.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051" name="Picture 3" descr="Kabaddi Basics – Learn Kabaddi with the #Paltan">
            <a:extLst>
              <a:ext uri="{FF2B5EF4-FFF2-40B4-BE49-F238E27FC236}">
                <a16:creationId xmlns:a16="http://schemas.microsoft.com/office/drawing/2014/main" id="{C4062F56-4E59-4A7D-2AD3-7A4823079A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18" t="25792" r="-1218" b="-16874"/>
          <a:stretch>
            <a:fillRect/>
          </a:stretch>
        </p:blipFill>
        <p:spPr bwMode="auto">
          <a:xfrm>
            <a:off x="3090211" y="1796502"/>
            <a:ext cx="2526489" cy="1551416"/>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andtouch">
            <a:extLst>
              <a:ext uri="{FF2B5EF4-FFF2-40B4-BE49-F238E27FC236}">
                <a16:creationId xmlns:a16="http://schemas.microsoft.com/office/drawing/2014/main" id="{46F30C94-C8D7-AFCD-3946-D32DEDE69B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49" t="31213" r="-1"/>
          <a:stretch>
            <a:fillRect/>
          </a:stretch>
        </p:blipFill>
        <p:spPr bwMode="auto">
          <a:xfrm>
            <a:off x="8748457" y="5417973"/>
            <a:ext cx="2498251" cy="1356534"/>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bonus">
            <a:extLst>
              <a:ext uri="{FF2B5EF4-FFF2-40B4-BE49-F238E27FC236}">
                <a16:creationId xmlns:a16="http://schemas.microsoft.com/office/drawing/2014/main" id="{95ACC228-AF2A-C1D8-5B6A-8400FD554E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70" t="34149"/>
          <a:stretch>
            <a:fillRect/>
          </a:stretch>
        </p:blipFill>
        <p:spPr bwMode="auto">
          <a:xfrm>
            <a:off x="3108303" y="3434366"/>
            <a:ext cx="2526489" cy="14091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09EA67F-8570-0D8F-11C4-7B1103D0CFE0}"/>
              </a:ext>
            </a:extLst>
          </p:cNvPr>
          <p:cNvSpPr txBox="1"/>
          <p:nvPr/>
        </p:nvSpPr>
        <p:spPr>
          <a:xfrm>
            <a:off x="5950653" y="1129487"/>
            <a:ext cx="6096000"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Scorpion Kick</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backward high kick performed when facing away from the defender.</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A575C5E-4C14-9FB2-8428-E5C74FF57FE0}"/>
              </a:ext>
            </a:extLst>
          </p:cNvPr>
          <p:cNvSpPr txBox="1"/>
          <p:nvPr/>
        </p:nvSpPr>
        <p:spPr>
          <a:xfrm>
            <a:off x="5950652" y="2939888"/>
            <a:ext cx="6146800"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Jump Raid</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leap over defenders to avoid blocks while maintaining raid rhythm.</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EFA58B45-F2D7-09E1-018C-C5425F5DCD2D}"/>
              </a:ext>
            </a:extLst>
          </p:cNvPr>
          <p:cNvSpPr txBox="1"/>
          <p:nvPr/>
        </p:nvSpPr>
        <p:spPr>
          <a:xfrm>
            <a:off x="6007100" y="4736089"/>
            <a:ext cx="6184900"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Hand Touch / Running Hand Touch</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Fast hand extension during forward motion to tag defenders.</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057" name="Picture 9" descr="It’s the 28th of July, so let’s scorpion kick-start #VivoProKabaddi Season  5! One of the more advanced moves, a scorpion kick is used by a raider to  surprise the defence! How many of these will we see ...">
            <a:extLst>
              <a:ext uri="{FF2B5EF4-FFF2-40B4-BE49-F238E27FC236}">
                <a16:creationId xmlns:a16="http://schemas.microsoft.com/office/drawing/2014/main" id="{35360F58-33FE-8F87-FDAD-C67D4C0A8E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1607"/>
          <a:stretch>
            <a:fillRect/>
          </a:stretch>
        </p:blipFill>
        <p:spPr bwMode="auto">
          <a:xfrm>
            <a:off x="8764761" y="1710959"/>
            <a:ext cx="2481947" cy="1377027"/>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11" descr="Dubki: The move where raiders go low to leave defenders high and dry">
            <a:extLst>
              <a:ext uri="{FF2B5EF4-FFF2-40B4-BE49-F238E27FC236}">
                <a16:creationId xmlns:a16="http://schemas.microsoft.com/office/drawing/2014/main" id="{368A84F0-3D8C-89D2-8B3D-F6B63E5CD4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6394" y="5360335"/>
            <a:ext cx="2490306" cy="128111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7B0A4ED-1434-D6F6-4960-E2D21DC3BC71}"/>
              </a:ext>
            </a:extLst>
          </p:cNvPr>
          <p:cNvSpPr txBox="1"/>
          <p:nvPr/>
        </p:nvSpPr>
        <p:spPr>
          <a:xfrm>
            <a:off x="327251" y="4785400"/>
            <a:ext cx="6206066" cy="523220"/>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Dubki (Dive Escape)</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low-body dive used to slip under a defender’s block.</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3F31ABE9-4067-517E-1762-63077D6C0C63}"/>
              </a:ext>
            </a:extLst>
          </p:cNvPr>
          <p:cNvSpPr txBox="1"/>
          <p:nvPr/>
        </p:nvSpPr>
        <p:spPr>
          <a:xfrm>
            <a:off x="327251" y="2845873"/>
            <a:ext cx="5525919"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Bonus Step</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long stride into the bonus line using body stretch and hip flexibility.</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061" name="Picture 13" descr="The Jump is the perfect way to escape a defender who comes in low.">
            <a:extLst>
              <a:ext uri="{FF2B5EF4-FFF2-40B4-BE49-F238E27FC236}">
                <a16:creationId xmlns:a16="http://schemas.microsoft.com/office/drawing/2014/main" id="{EA03E11B-7CFC-677B-1714-C4144E3A7A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5067"/>
          <a:stretch>
            <a:fillRect/>
          </a:stretch>
        </p:blipFill>
        <p:spPr bwMode="auto">
          <a:xfrm>
            <a:off x="8798662" y="3550639"/>
            <a:ext cx="2448046" cy="1169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38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62BF-4D66-0FBD-2209-6DC6EB81DFFC}"/>
              </a:ext>
            </a:extLst>
          </p:cNvPr>
          <p:cNvSpPr>
            <a:spLocks noGrp="1"/>
          </p:cNvSpPr>
          <p:nvPr>
            <p:ph type="title"/>
          </p:nvPr>
        </p:nvSpPr>
        <p:spPr/>
        <p:txBody>
          <a:bodyPr>
            <a:normAutofit/>
          </a:bodyPr>
          <a:lstStyle/>
          <a:p>
            <a:r>
              <a:rPr lang="en-IN" b="1" dirty="0"/>
              <a:t>2. Problem Statement</a:t>
            </a:r>
          </a:p>
        </p:txBody>
      </p:sp>
      <p:sp>
        <p:nvSpPr>
          <p:cNvPr id="3" name="Content Placeholder 2">
            <a:extLst>
              <a:ext uri="{FF2B5EF4-FFF2-40B4-BE49-F238E27FC236}">
                <a16:creationId xmlns:a16="http://schemas.microsoft.com/office/drawing/2014/main" id="{A14E347D-8933-510D-B4A5-0ACDD08B3161}"/>
              </a:ext>
            </a:extLst>
          </p:cNvPr>
          <p:cNvSpPr>
            <a:spLocks noGrp="1"/>
          </p:cNvSpPr>
          <p:nvPr>
            <p:ph idx="1"/>
          </p:nvPr>
        </p:nvSpPr>
        <p:spPr/>
        <p:txBody>
          <a:bodyPr>
            <a:normAutofit fontScale="77500" lnSpcReduction="20000"/>
          </a:bodyPr>
          <a:lstStyle/>
          <a:p>
            <a:pPr marL="0" indent="0">
              <a:buNone/>
            </a:pPr>
            <a:r>
              <a:rPr lang="en-US" b="1" dirty="0"/>
              <a:t>Problem:</a:t>
            </a:r>
          </a:p>
          <a:p>
            <a:pPr lvl="1">
              <a:buFont typeface="Wingdings" panose="05000000000000000000" pitchFamily="2" charset="2"/>
              <a:buChar char="Ø"/>
            </a:pPr>
            <a:r>
              <a:rPr lang="en-US" sz="2600" dirty="0"/>
              <a:t>Kabaddi learners lack continuous visual guidance, real-time correction, and objective scoring, making it difficult to accurately replicate advanced movements.</a:t>
            </a:r>
          </a:p>
          <a:p>
            <a:pPr marL="457200" lvl="1" indent="0">
              <a:buNone/>
            </a:pPr>
            <a:endParaRPr lang="en-US" dirty="0"/>
          </a:p>
          <a:p>
            <a:pPr marL="0" indent="0">
              <a:buNone/>
            </a:pPr>
            <a:r>
              <a:rPr lang="en-US" b="1" dirty="0"/>
              <a:t>Solutions Provided By the Proposed System:</a:t>
            </a:r>
            <a:endParaRPr lang="en-US" dirty="0"/>
          </a:p>
          <a:p>
            <a:pPr lvl="1">
              <a:buFont typeface="Wingdings" panose="05000000000000000000" pitchFamily="2" charset="2"/>
              <a:buChar char="Ø"/>
            </a:pPr>
            <a:r>
              <a:rPr lang="en-US" b="1" dirty="0"/>
              <a:t>AR Playback of Reference Moves</a:t>
            </a:r>
          </a:p>
          <a:p>
            <a:pPr lvl="2"/>
            <a:r>
              <a:rPr lang="en-US" sz="2300" dirty="0"/>
              <a:t>Players can view a 3D/AR “ghost” demonstrating the correct technique, allowing them to mimic the move with proper angle and timing.</a:t>
            </a:r>
          </a:p>
          <a:p>
            <a:pPr lvl="1">
              <a:buFont typeface="Wingdings" panose="05000000000000000000" pitchFamily="2" charset="2"/>
              <a:buChar char="Ø"/>
            </a:pPr>
            <a:r>
              <a:rPr lang="en-US" b="1" dirty="0"/>
              <a:t>Automated Movement Analysis</a:t>
            </a:r>
          </a:p>
          <a:p>
            <a:pPr lvl="2"/>
            <a:r>
              <a:rPr lang="en-US" sz="2300" dirty="0"/>
              <a:t>The user's captured movement is processed using pose estimation and compared with expert reference sequences.</a:t>
            </a:r>
          </a:p>
          <a:p>
            <a:pPr lvl="1">
              <a:buFont typeface="Wingdings" panose="05000000000000000000" pitchFamily="2" charset="2"/>
              <a:buChar char="Ø"/>
            </a:pPr>
            <a:r>
              <a:rPr lang="en-US" b="1" dirty="0"/>
              <a:t>Error Identification</a:t>
            </a:r>
          </a:p>
          <a:p>
            <a:pPr lvl="2"/>
            <a:r>
              <a:rPr lang="en-US" sz="2300" dirty="0"/>
              <a:t>Joint-wise mistakes, timing mismatches, and posture deviations are detected using similarity metrics and threshold-based classifiers.</a:t>
            </a:r>
          </a:p>
          <a:p>
            <a:pPr lvl="1">
              <a:buFont typeface="Wingdings" panose="05000000000000000000" pitchFamily="2" charset="2"/>
              <a:buChar char="Ø"/>
            </a:pPr>
            <a:r>
              <a:rPr lang="en-US" b="1" dirty="0"/>
              <a:t>LLM-Generated Coaching Feedback</a:t>
            </a:r>
          </a:p>
          <a:p>
            <a:pPr lvl="2"/>
            <a:r>
              <a:rPr lang="en-US" sz="2300" dirty="0"/>
              <a:t>The system produces simple, actionable instructions (“Raise your right elbow higher”, “Lean less forward”, etc.) to guide improvement.</a:t>
            </a:r>
          </a:p>
          <a:p>
            <a:pPr marL="0" indent="0">
              <a:buNone/>
            </a:pPr>
            <a:endParaRPr lang="en-IN" dirty="0"/>
          </a:p>
        </p:txBody>
      </p:sp>
    </p:spTree>
    <p:extLst>
      <p:ext uri="{BB962C8B-B14F-4D97-AF65-F5344CB8AC3E}">
        <p14:creationId xmlns:p14="http://schemas.microsoft.com/office/powerpoint/2010/main" val="45999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7ADAB-7DD9-CBDC-3A37-A5B049A34D14}"/>
              </a:ext>
            </a:extLst>
          </p:cNvPr>
          <p:cNvSpPr>
            <a:spLocks noGrp="1"/>
          </p:cNvSpPr>
          <p:nvPr>
            <p:ph type="title"/>
          </p:nvPr>
        </p:nvSpPr>
        <p:spPr>
          <a:xfrm>
            <a:off x="838199" y="-245532"/>
            <a:ext cx="10515600" cy="1571096"/>
          </a:xfrm>
        </p:spPr>
        <p:txBody>
          <a:bodyPr>
            <a:normAutofit/>
          </a:bodyPr>
          <a:lstStyle/>
          <a:p>
            <a:r>
              <a:rPr lang="en-IN" b="1" dirty="0"/>
              <a:t>4. Literature Survey</a:t>
            </a:r>
          </a:p>
        </p:txBody>
      </p:sp>
      <p:graphicFrame>
        <p:nvGraphicFramePr>
          <p:cNvPr id="4" name="Content Placeholder 3">
            <a:extLst>
              <a:ext uri="{FF2B5EF4-FFF2-40B4-BE49-F238E27FC236}">
                <a16:creationId xmlns:a16="http://schemas.microsoft.com/office/drawing/2014/main" id="{9DCE27C0-FB53-F712-1E88-6591B840BE04}"/>
              </a:ext>
            </a:extLst>
          </p:cNvPr>
          <p:cNvGraphicFramePr>
            <a:graphicFrameLocks noGrp="1"/>
          </p:cNvGraphicFramePr>
          <p:nvPr>
            <p:ph idx="1"/>
          </p:nvPr>
        </p:nvGraphicFramePr>
        <p:xfrm>
          <a:off x="411819" y="1063098"/>
          <a:ext cx="11336865" cy="5506536"/>
        </p:xfrm>
        <a:graphic>
          <a:graphicData uri="http://schemas.openxmlformats.org/drawingml/2006/table">
            <a:tbl>
              <a:tblPr/>
              <a:tblGrid>
                <a:gridCol w="2267373">
                  <a:extLst>
                    <a:ext uri="{9D8B030D-6E8A-4147-A177-3AD203B41FA5}">
                      <a16:colId xmlns:a16="http://schemas.microsoft.com/office/drawing/2014/main" val="1390895459"/>
                    </a:ext>
                  </a:extLst>
                </a:gridCol>
                <a:gridCol w="2267373">
                  <a:extLst>
                    <a:ext uri="{9D8B030D-6E8A-4147-A177-3AD203B41FA5}">
                      <a16:colId xmlns:a16="http://schemas.microsoft.com/office/drawing/2014/main" val="132336232"/>
                    </a:ext>
                  </a:extLst>
                </a:gridCol>
                <a:gridCol w="2255520">
                  <a:extLst>
                    <a:ext uri="{9D8B030D-6E8A-4147-A177-3AD203B41FA5}">
                      <a16:colId xmlns:a16="http://schemas.microsoft.com/office/drawing/2014/main" val="1881627907"/>
                    </a:ext>
                  </a:extLst>
                </a:gridCol>
                <a:gridCol w="2279226">
                  <a:extLst>
                    <a:ext uri="{9D8B030D-6E8A-4147-A177-3AD203B41FA5}">
                      <a16:colId xmlns:a16="http://schemas.microsoft.com/office/drawing/2014/main" val="268974318"/>
                    </a:ext>
                  </a:extLst>
                </a:gridCol>
                <a:gridCol w="2267373">
                  <a:extLst>
                    <a:ext uri="{9D8B030D-6E8A-4147-A177-3AD203B41FA5}">
                      <a16:colId xmlns:a16="http://schemas.microsoft.com/office/drawing/2014/main" val="489148535"/>
                    </a:ext>
                  </a:extLst>
                </a:gridCol>
              </a:tblGrid>
              <a:tr h="245354">
                <a:tc>
                  <a:txBody>
                    <a:bodyPr/>
                    <a:lstStyle/>
                    <a:p>
                      <a:pPr>
                        <a:buNone/>
                      </a:pPr>
                      <a:r>
                        <a:rPr lang="en-IN" sz="1600" b="1" dirty="0"/>
                        <a:t>Paper Title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Problem addressed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Positives / What they implemented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Negatives / Limitations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Result / metric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324124"/>
                  </a:ext>
                </a:extLst>
              </a:tr>
              <a:tr h="986396">
                <a:tc>
                  <a:txBody>
                    <a:bodyPr/>
                    <a:lstStyle/>
                    <a:p>
                      <a:pPr>
                        <a:buNone/>
                      </a:pPr>
                      <a:r>
                        <a:rPr lang="en-US" sz="1600" dirty="0"/>
                        <a:t>Aleksić, J., 2024. </a:t>
                      </a:r>
                      <a:r>
                        <a:rPr lang="en-US" sz="1600" i="1" dirty="0" err="1"/>
                        <a:t>Markerless</a:t>
                      </a:r>
                      <a:r>
                        <a:rPr lang="en-US" sz="1600" i="1" dirty="0"/>
                        <a:t> Pose Estimation vs. 3D Marker-Based Motion Capture: Application to Countermovement Jump (CMJ)</a:t>
                      </a:r>
                      <a:r>
                        <a:rPr lang="en-US" sz="1600" dirty="0"/>
                        <a:t>. Sensors.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Validates </a:t>
                      </a:r>
                      <a:r>
                        <a:rPr lang="en-US" sz="1600" dirty="0" err="1"/>
                        <a:t>markerless</a:t>
                      </a:r>
                      <a:r>
                        <a:rPr lang="en-US" sz="1600" dirty="0"/>
                        <a:t> pose estimation (</a:t>
                      </a:r>
                      <a:r>
                        <a:rPr lang="en-US" sz="1600" dirty="0" err="1"/>
                        <a:t>MMPose</a:t>
                      </a:r>
                      <a:r>
                        <a:rPr lang="en-US" sz="1600" dirty="0"/>
                        <a:t>) for biomechanical temporal analysis by comparing to gold-standard 3D </a:t>
                      </a:r>
                      <a:r>
                        <a:rPr lang="en-US" sz="1600" dirty="0" err="1"/>
                        <a:t>MoCap</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Uses multi-camera </a:t>
                      </a:r>
                      <a:r>
                        <a:rPr lang="en-US" sz="1600" dirty="0" err="1"/>
                        <a:t>markerless</a:t>
                      </a:r>
                      <a:r>
                        <a:rPr lang="en-US" sz="1600" dirty="0"/>
                        <a:t> to estimate 3D joint angles; significant real-world validation.</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Focused on jump task only; </a:t>
                      </a:r>
                    </a:p>
                    <a:p>
                      <a:pPr marL="171450" indent="-171450">
                        <a:buFont typeface="Arial" panose="020B0604020202020204" pitchFamily="34" charset="0"/>
                        <a:buChar char="•"/>
                      </a:pPr>
                      <a:r>
                        <a:rPr lang="en-US" sz="1600" dirty="0"/>
                        <a:t>limited to specific motions; </a:t>
                      </a:r>
                    </a:p>
                    <a:p>
                      <a:pPr marL="171450" indent="-171450">
                        <a:buFont typeface="Arial" panose="020B0604020202020204" pitchFamily="34" charset="0"/>
                        <a:buChar char="•"/>
                      </a:pPr>
                      <a:r>
                        <a:rPr lang="en-US" sz="1600" dirty="0"/>
                        <a:t>requires multi-view.</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800" b="0" i="0" kern="1200" dirty="0">
                          <a:solidFill>
                            <a:schemeClr val="tx1"/>
                          </a:solidFill>
                          <a:effectLst/>
                          <a:latin typeface="+mn-lt"/>
                          <a:ea typeface="+mn-ea"/>
                          <a:cs typeface="+mn-cs"/>
                        </a:rPr>
                        <a:t>RMSE = 0.035 m</a:t>
                      </a:r>
                    </a:p>
                    <a:p>
                      <a:pPr marL="171450" indent="-171450" algn="l">
                        <a:buFont typeface="Arial" panose="020B0604020202020204" pitchFamily="34" charset="0"/>
                        <a:buChar char="•"/>
                      </a:pPr>
                      <a:r>
                        <a:rPr lang="en-US" sz="1800" b="0" i="0" kern="1200" dirty="0">
                          <a:solidFill>
                            <a:schemeClr val="tx1"/>
                          </a:solidFill>
                          <a:effectLst/>
                          <a:latin typeface="+mn-lt"/>
                          <a:ea typeface="+mn-ea"/>
                          <a:cs typeface="+mn-cs"/>
                        </a:rPr>
                        <a:t>correlation coefficient (r) of 0.992 and 0.993</a:t>
                      </a: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624244"/>
                  </a:ext>
                </a:extLst>
              </a:tr>
              <a:tr h="796085">
                <a:tc>
                  <a:txBody>
                    <a:bodyPr/>
                    <a:lstStyle/>
                    <a:p>
                      <a:pPr>
                        <a:buNone/>
                      </a:pPr>
                      <a:r>
                        <a:rPr lang="en-US" sz="1600" dirty="0"/>
                        <a:t>Lin et al. (2020), </a:t>
                      </a:r>
                      <a:r>
                        <a:rPr lang="en-US" sz="1600" i="1" dirty="0"/>
                        <a:t>Applied Sciences (MDPI)</a:t>
                      </a:r>
                      <a:r>
                        <a:rPr lang="en-US" sz="1600" dirty="0"/>
                        <a:t> — </a:t>
                      </a:r>
                      <a:r>
                        <a:rPr lang="en-US" sz="1600" i="1" dirty="0"/>
                        <a:t>Fall detection based on </a:t>
                      </a:r>
                      <a:r>
                        <a:rPr lang="en-US" sz="1600" i="1" dirty="0" err="1"/>
                        <a:t>OpenPose</a:t>
                      </a:r>
                      <a:r>
                        <a:rPr lang="en-US" sz="1600" dirty="0"/>
                        <a:t>. (</a:t>
                      </a:r>
                      <a:r>
                        <a:rPr lang="en-US" sz="1600" dirty="0">
                          <a:hlinkClick r:id="rId3" tooltip="A Framework for Fall Detection Based on OpenPose ..."/>
                        </a:rPr>
                        <a:t>MDPI</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600" dirty="0"/>
                        <a:t>Implementation of pose-estimation (</a:t>
                      </a:r>
                      <a:r>
                        <a:rPr lang="en-US" sz="1600" dirty="0" err="1"/>
                        <a:t>OpenPose</a:t>
                      </a:r>
                      <a:r>
                        <a:rPr lang="en-US" sz="1600" dirty="0"/>
                        <a:t>) + ML classifier for fall detection from video.</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Concrete pipeline.</a:t>
                      </a:r>
                    </a:p>
                    <a:p>
                      <a:pPr marL="171450" indent="-171450">
                        <a:buFont typeface="Arial" panose="020B0604020202020204" pitchFamily="34" charset="0"/>
                        <a:buChar char="•"/>
                      </a:pPr>
                      <a:r>
                        <a:rPr lang="en-US" sz="1600" dirty="0"/>
                        <a:t>Working of pose-based features in real scenes.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not sport-specific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sz="1800" b="0" i="0" kern="1200" dirty="0">
                          <a:solidFill>
                            <a:schemeClr val="tx1"/>
                          </a:solidFill>
                          <a:effectLst/>
                          <a:latin typeface="+mn-lt"/>
                          <a:ea typeface="+mn-ea"/>
                          <a:cs typeface="+mn-cs"/>
                        </a:rPr>
                        <a:t> </a:t>
                      </a:r>
                      <a:r>
                        <a:rPr lang="en-US" sz="1600" kern="1200" dirty="0">
                          <a:solidFill>
                            <a:schemeClr val="tx1"/>
                          </a:solidFill>
                          <a:latin typeface="+mn-lt"/>
                          <a:ea typeface="+mn-ea"/>
                          <a:cs typeface="+mn-cs"/>
                        </a:rPr>
                        <a:t>RNN has the highest accuracy of 89% with LR=0.1</a:t>
                      </a:r>
                    </a:p>
                    <a:p>
                      <a:pPr marL="171450" indent="-171450" algn="l" defTabSz="914400" rtl="0" eaLnBrk="1" latinLnBrk="0" hangingPunct="1">
                        <a:buFont typeface="Arial" panose="020B0604020202020204" pitchFamily="34" charset="0"/>
                        <a:buChar char="•"/>
                      </a:pPr>
                      <a:r>
                        <a:rPr lang="en-IN" sz="1600" kern="1200" dirty="0">
                          <a:solidFill>
                            <a:schemeClr val="tx1"/>
                          </a:solidFill>
                          <a:latin typeface="+mn-lt"/>
                          <a:ea typeface="+mn-ea"/>
                          <a:cs typeface="+mn-cs"/>
                        </a:rPr>
                        <a:t>LSTM &amp; GRU model accuracy of 98.3% with LR = 0.01</a:t>
                      </a:r>
                      <a:endParaRPr lang="en-US" sz="1600" kern="1200" dirty="0">
                        <a:solidFill>
                          <a:schemeClr val="tx1"/>
                        </a:solidFill>
                        <a:latin typeface="+mn-lt"/>
                        <a:ea typeface="+mn-ea"/>
                        <a:cs typeface="+mn-cs"/>
                      </a:endParaRP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098763"/>
                  </a:ext>
                </a:extLst>
              </a:tr>
              <a:tr h="1191728">
                <a:tc>
                  <a:txBody>
                    <a:bodyPr/>
                    <a:lstStyle/>
                    <a:p>
                      <a:pPr>
                        <a:buNone/>
                      </a:pPr>
                      <a:r>
                        <a:rPr lang="en-IN" sz="1600" dirty="0" err="1"/>
                        <a:t>Deyzel</a:t>
                      </a:r>
                      <a:r>
                        <a:rPr lang="en-IN" sz="1600" dirty="0"/>
                        <a:t> et al. (2023), </a:t>
                      </a:r>
                      <a:r>
                        <a:rPr lang="en-IN" sz="1600" i="1" dirty="0"/>
                        <a:t>CVPR Workshops (</a:t>
                      </a:r>
                      <a:r>
                        <a:rPr lang="en-IN" sz="1600" i="1" dirty="0" err="1"/>
                        <a:t>CVSports</a:t>
                      </a:r>
                      <a:r>
                        <a:rPr lang="en-IN" sz="1600" i="1" dirty="0"/>
                        <a:t>)</a:t>
                      </a:r>
                      <a:r>
                        <a:rPr lang="en-IN" sz="1600" dirty="0"/>
                        <a:t> — </a:t>
                      </a:r>
                      <a:r>
                        <a:rPr lang="en-IN" sz="1600" i="1" dirty="0"/>
                        <a:t>One-shot skeleton-based action recognition on strength and conditioning exercises</a:t>
                      </a:r>
                      <a:r>
                        <a:rPr lang="en-IN" sz="1600" dirty="0"/>
                        <a:t> (CVPRW 2023). (</a:t>
                      </a:r>
                      <a:r>
                        <a:rPr lang="en-IN" sz="1600" dirty="0">
                          <a:hlinkClick r:id="rId4" tooltip="One-shot skeleton-based action recognition on strength and ..."/>
                        </a:rPr>
                        <a:t>CVF Open Access</a:t>
                      </a:r>
                      <a:r>
                        <a:rPr lang="en-IN"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Practical skeleton-based recognition for exercise coaching with few-shot examples.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Implementation-focused: dataset of skeleton motion</a:t>
                      </a:r>
                    </a:p>
                    <a:p>
                      <a:pPr marL="171450" indent="-171450">
                        <a:buFont typeface="Arial" panose="020B0604020202020204" pitchFamily="34" charset="0"/>
                        <a:buChar char="•"/>
                      </a:pPr>
                      <a:r>
                        <a:rPr lang="en-US" sz="1600" dirty="0"/>
                        <a:t>one-shot classification</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Dataset covers conditioning exercises (not Kabaddi).</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IN" sz="1600" dirty="0"/>
                        <a:t>GCN metric = 46.2</a:t>
                      </a:r>
                    </a:p>
                    <a:p>
                      <a:pPr marL="171450" indent="-171450" algn="l">
                        <a:buFont typeface="Arial" panose="020B0604020202020204" pitchFamily="34" charset="0"/>
                        <a:buChar char="•"/>
                      </a:pPr>
                      <a:r>
                        <a:rPr lang="en-IN" sz="1600" dirty="0"/>
                        <a:t>Accuracy of 87.4%</a:t>
                      </a: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6904164"/>
                  </a:ext>
                </a:extLst>
              </a:tr>
            </a:tbl>
          </a:graphicData>
        </a:graphic>
      </p:graphicFrame>
    </p:spTree>
    <p:extLst>
      <p:ext uri="{BB962C8B-B14F-4D97-AF65-F5344CB8AC3E}">
        <p14:creationId xmlns:p14="http://schemas.microsoft.com/office/powerpoint/2010/main" val="3746191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966E2B-40CB-C477-E418-D1E82C2650BB}"/>
              </a:ext>
            </a:extLst>
          </p:cNvPr>
          <p:cNvSpPr>
            <a:spLocks noGrp="1"/>
          </p:cNvSpPr>
          <p:nvPr>
            <p:ph type="title"/>
          </p:nvPr>
        </p:nvSpPr>
        <p:spPr>
          <a:xfrm>
            <a:off x="838199" y="20638"/>
            <a:ext cx="10515600" cy="1325563"/>
          </a:xfrm>
        </p:spPr>
        <p:txBody>
          <a:bodyPr>
            <a:normAutofit/>
          </a:bodyPr>
          <a:lstStyle/>
          <a:p>
            <a:r>
              <a:rPr lang="en-IN" b="1" dirty="0"/>
              <a:t>4. Literature Survey cont.</a:t>
            </a:r>
          </a:p>
        </p:txBody>
      </p:sp>
      <p:graphicFrame>
        <p:nvGraphicFramePr>
          <p:cNvPr id="8" name="Table 7">
            <a:extLst>
              <a:ext uri="{FF2B5EF4-FFF2-40B4-BE49-F238E27FC236}">
                <a16:creationId xmlns:a16="http://schemas.microsoft.com/office/drawing/2014/main" id="{D8B11C05-F164-814E-6999-ACA9F9870507}"/>
              </a:ext>
            </a:extLst>
          </p:cNvPr>
          <p:cNvGraphicFramePr>
            <a:graphicFrameLocks noGrp="1"/>
          </p:cNvGraphicFramePr>
          <p:nvPr/>
        </p:nvGraphicFramePr>
        <p:xfrm>
          <a:off x="237066" y="1526677"/>
          <a:ext cx="11751732" cy="4716642"/>
        </p:xfrm>
        <a:graphic>
          <a:graphicData uri="http://schemas.openxmlformats.org/drawingml/2006/table">
            <a:tbl>
              <a:tblPr/>
              <a:tblGrid>
                <a:gridCol w="2350346">
                  <a:extLst>
                    <a:ext uri="{9D8B030D-6E8A-4147-A177-3AD203B41FA5}">
                      <a16:colId xmlns:a16="http://schemas.microsoft.com/office/drawing/2014/main" val="4071787630"/>
                    </a:ext>
                  </a:extLst>
                </a:gridCol>
                <a:gridCol w="2226598">
                  <a:extLst>
                    <a:ext uri="{9D8B030D-6E8A-4147-A177-3AD203B41FA5}">
                      <a16:colId xmlns:a16="http://schemas.microsoft.com/office/drawing/2014/main" val="871988062"/>
                    </a:ext>
                  </a:extLst>
                </a:gridCol>
                <a:gridCol w="2887469">
                  <a:extLst>
                    <a:ext uri="{9D8B030D-6E8A-4147-A177-3AD203B41FA5}">
                      <a16:colId xmlns:a16="http://schemas.microsoft.com/office/drawing/2014/main" val="2695272587"/>
                    </a:ext>
                  </a:extLst>
                </a:gridCol>
                <a:gridCol w="2062477">
                  <a:extLst>
                    <a:ext uri="{9D8B030D-6E8A-4147-A177-3AD203B41FA5}">
                      <a16:colId xmlns:a16="http://schemas.microsoft.com/office/drawing/2014/main" val="3619803610"/>
                    </a:ext>
                  </a:extLst>
                </a:gridCol>
                <a:gridCol w="2224842">
                  <a:extLst>
                    <a:ext uri="{9D8B030D-6E8A-4147-A177-3AD203B41FA5}">
                      <a16:colId xmlns:a16="http://schemas.microsoft.com/office/drawing/2014/main" val="1457833660"/>
                    </a:ext>
                  </a:extLst>
                </a:gridCol>
              </a:tblGrid>
              <a:tr h="245354">
                <a:tc>
                  <a:txBody>
                    <a:bodyPr/>
                    <a:lstStyle/>
                    <a:p>
                      <a:pPr>
                        <a:buNone/>
                      </a:pPr>
                      <a:r>
                        <a:rPr lang="en-IN" sz="1600" b="1" dirty="0"/>
                        <a:t>Paper Title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Problem addressed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Positives / What they implemented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Negatives / Limitations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Result / metric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690318"/>
                  </a:ext>
                </a:extLst>
              </a:tr>
              <a:tr h="986396">
                <a:tc>
                  <a:txBody>
                    <a:bodyPr/>
                    <a:lstStyle/>
                    <a:p>
                      <a:pPr>
                        <a:buNone/>
                      </a:pPr>
                      <a:r>
                        <a:rPr lang="en-US" sz="1600" dirty="0"/>
                        <a:t>Long Liu et al. (2024), </a:t>
                      </a:r>
                      <a:r>
                        <a:rPr lang="en-US" sz="1600" i="1" dirty="0"/>
                        <a:t>Journal of Intelligent &amp; Systems / JISYS</a:t>
                      </a:r>
                      <a:r>
                        <a:rPr lang="en-US" sz="1600" dirty="0"/>
                        <a:t> — </a:t>
                      </a:r>
                      <a:r>
                        <a:rPr lang="en-US" sz="1600" i="1" dirty="0"/>
                        <a:t>Real-time pose estimation and motion tracking for sports performance (volleyball example)</a:t>
                      </a:r>
                      <a:r>
                        <a:rPr lang="en-US" sz="1600" dirty="0"/>
                        <a:t>. (</a:t>
                      </a:r>
                      <a:r>
                        <a:rPr lang="en-US" sz="1600" dirty="0">
                          <a:hlinkClick r:id="rId3" tooltip="(PDF) Real-time pose estimation and motion tracking for ..."/>
                        </a:rPr>
                        <a:t>ResearchGate</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Implementation of real-time pose estimation (</a:t>
                      </a:r>
                      <a:r>
                        <a:rPr lang="en-US" sz="1600" dirty="0" err="1"/>
                        <a:t>OpenPose</a:t>
                      </a:r>
                      <a:r>
                        <a:rPr lang="en-US" sz="1600" dirty="0"/>
                        <a:t> + tracking) and motion analytics in a sport scenario.</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Integration of </a:t>
                      </a:r>
                      <a:r>
                        <a:rPr lang="en-US" sz="1600" dirty="0" err="1"/>
                        <a:t>OpenPose</a:t>
                      </a:r>
                      <a:r>
                        <a:rPr lang="en-US" sz="1600" dirty="0"/>
                        <a:t> + </a:t>
                      </a:r>
                      <a:r>
                        <a:rPr lang="en-US" sz="1600" dirty="0" err="1"/>
                        <a:t>DeepSORT</a:t>
                      </a:r>
                      <a:r>
                        <a:rPr lang="en-US" sz="1600" dirty="0"/>
                        <a:t> for multi-person tracking.</a:t>
                      </a:r>
                    </a:p>
                    <a:p>
                      <a:pPr marL="171450" indent="-171450">
                        <a:buFont typeface="Arial" panose="020B0604020202020204" pitchFamily="34" charset="0"/>
                        <a:buChar char="•"/>
                      </a:pPr>
                      <a:r>
                        <a:rPr lang="en-US" sz="1600" dirty="0"/>
                        <a:t>handles occlusion &amp; multi-player scenes.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Focused only on volleyball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600" dirty="0"/>
                        <a:t>Accuracy of 97.25% at</a:t>
                      </a:r>
                      <a:br>
                        <a:rPr lang="en-US" sz="1600" dirty="0"/>
                      </a:br>
                      <a:r>
                        <a:rPr lang="en-US" sz="1600" dirty="0"/>
                        <a:t>13.9 fps.</a:t>
                      </a:r>
                    </a:p>
                    <a:p>
                      <a:pPr marL="171450" indent="-171450" algn="l">
                        <a:buFont typeface="Arial" panose="020B0604020202020204" pitchFamily="34" charset="0"/>
                        <a:buChar char="•"/>
                      </a:pPr>
                      <a:r>
                        <a:rPr lang="en-US" sz="1600" dirty="0"/>
                        <a:t>Accuracy of 97.38% at 13.4 fps.</a:t>
                      </a:r>
                    </a:p>
                    <a:p>
                      <a:pPr marL="171450" indent="-171450" algn="l">
                        <a:buFont typeface="Arial" panose="020B0604020202020204" pitchFamily="34" charset="0"/>
                        <a:buChar char="•"/>
                      </a:pPr>
                      <a:r>
                        <a:rPr lang="en-US" sz="1600" dirty="0"/>
                        <a:t>Accuracy of 96.47% at 12.5 fps.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479881"/>
                  </a:ext>
                </a:extLst>
              </a:tr>
              <a:tr h="796085">
                <a:tc>
                  <a:txBody>
                    <a:bodyPr/>
                    <a:lstStyle/>
                    <a:p>
                      <a:pPr>
                        <a:buNone/>
                      </a:pPr>
                      <a:r>
                        <a:rPr lang="en-US" sz="1600" dirty="0"/>
                        <a:t>Ihara et al. (2024), arXiv / Mixed Reality Systems — Video2MR: Automatically generating mixed reality 3D instructional avatars by augmenting motion extracted from 2D videos. (</a:t>
                      </a:r>
                      <a:r>
                        <a:rPr lang="en-US" sz="1600" dirty="0">
                          <a:hlinkClick r:id="rId4"/>
                        </a:rPr>
                        <a:t>arXiv</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600" dirty="0"/>
                        <a:t>Transforming 2D instructional </a:t>
                      </a:r>
                    </a:p>
                    <a:p>
                      <a:pPr algn="l">
                        <a:buNone/>
                      </a:pPr>
                      <a:r>
                        <a:rPr lang="en-US" sz="1600" dirty="0"/>
                        <a:t>video recordings into interactive 3D mixed reality motion instructions to assist physical training.</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automatically extracts motion from 2D video and generates 3D MR avatars; </a:t>
                      </a:r>
                    </a:p>
                    <a:p>
                      <a:pPr marL="171450" indent="-171450">
                        <a:buFont typeface="Arial" panose="020B0604020202020204" pitchFamily="34" charset="0"/>
                        <a:buChar char="•"/>
                      </a:pPr>
                      <a:r>
                        <a:rPr lang="en-US" sz="1600" dirty="0"/>
                        <a:t>highlights trajectory differences; </a:t>
                      </a:r>
                    </a:p>
                    <a:p>
                      <a:pPr marL="171450" indent="-171450">
                        <a:buFont typeface="Arial" panose="020B0604020202020204" pitchFamily="34" charset="0"/>
                        <a:buChar char="•"/>
                      </a:pPr>
                      <a:r>
                        <a:rPr lang="en-US" sz="1600" dirty="0"/>
                        <a:t>supports time and spatial manipulation. </a:t>
                      </a:r>
                    </a:p>
                    <a:p>
                      <a:pPr marL="171450" indent="-171450">
                        <a:buFont typeface="Arial" panose="020B0604020202020204" pitchFamily="34" charset="0"/>
                        <a:buChar char="•"/>
                      </a:pPr>
                      <a:r>
                        <a:rPr lang="en-US" sz="1600" dirty="0"/>
                        <a:t>augment existing instructional content into a 3D mixed reality format.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Requires specific hardware (HoloLens 2 + Azure Kinect);</a:t>
                      </a:r>
                    </a:p>
                    <a:p>
                      <a:pPr marL="171450" indent="-171450">
                        <a:buFont typeface="Arial" panose="020B0604020202020204" pitchFamily="34" charset="0"/>
                        <a:buChar char="•"/>
                      </a:pPr>
                      <a:r>
                        <a:rPr lang="en-US" sz="1600" dirty="0"/>
                        <a:t>Focused on MR-only no full AR/AI training feedback loop; </a:t>
                      </a:r>
                    </a:p>
                    <a:p>
                      <a:pPr marL="171450" indent="-171450">
                        <a:buFont typeface="Arial" panose="020B0604020202020204" pitchFamily="34" charset="0"/>
                        <a:buChar char="•"/>
                      </a:pPr>
                      <a:r>
                        <a:rPr lang="en-US" sz="1600" dirty="0"/>
                        <a:t>No personalized corrective feedback.</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600" dirty="0"/>
                        <a:t>Baseball </a:t>
                      </a:r>
                      <a:r>
                        <a:rPr lang="en-US" sz="1600" dirty="0" err="1"/>
                        <a:t>No.of</a:t>
                      </a:r>
                      <a:r>
                        <a:rPr lang="en-US" sz="1600" dirty="0"/>
                        <a:t> Errors: 7 Accuracy of 93%</a:t>
                      </a:r>
                    </a:p>
                    <a:p>
                      <a:pPr marL="171450" indent="-171450" algn="l">
                        <a:buFont typeface="Arial" panose="020B0604020202020204" pitchFamily="34" charset="0"/>
                        <a:buChar char="•"/>
                      </a:pPr>
                      <a:r>
                        <a:rPr lang="en-US" sz="1600" dirty="0"/>
                        <a:t>Yoga No of Errors: 8 Accuracy of 89%</a:t>
                      </a:r>
                    </a:p>
                    <a:p>
                      <a:pPr marL="171450" indent="-171450" algn="l">
                        <a:buFont typeface="Arial" panose="020B0604020202020204" pitchFamily="34" charset="0"/>
                        <a:buChar char="•"/>
                      </a:pPr>
                      <a:r>
                        <a:rPr lang="en-US" sz="1600" dirty="0"/>
                        <a:t>Martial Arts No of Errors: 11 Accuracy of 86%</a:t>
                      </a:r>
                    </a:p>
                    <a:p>
                      <a:pPr marL="171450" indent="-171450" algn="l">
                        <a:buFont typeface="Arial" panose="020B0604020202020204" pitchFamily="34" charset="0"/>
                        <a:buChar char="•"/>
                      </a:pP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8205298"/>
                  </a:ext>
                </a:extLst>
              </a:tr>
            </a:tbl>
          </a:graphicData>
        </a:graphic>
      </p:graphicFrame>
    </p:spTree>
    <p:extLst>
      <p:ext uri="{BB962C8B-B14F-4D97-AF65-F5344CB8AC3E}">
        <p14:creationId xmlns:p14="http://schemas.microsoft.com/office/powerpoint/2010/main" val="2694787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47B3-C17D-4A35-3A33-B83464D58145}"/>
              </a:ext>
            </a:extLst>
          </p:cNvPr>
          <p:cNvSpPr>
            <a:spLocks noGrp="1"/>
          </p:cNvSpPr>
          <p:nvPr>
            <p:ph type="title"/>
          </p:nvPr>
        </p:nvSpPr>
        <p:spPr>
          <a:xfrm>
            <a:off x="838200" y="46898"/>
            <a:ext cx="10515600" cy="1325563"/>
          </a:xfrm>
        </p:spPr>
        <p:txBody>
          <a:bodyPr/>
          <a:lstStyle/>
          <a:p>
            <a:r>
              <a:rPr lang="en-IN" dirty="0"/>
              <a:t>5. Overall System Architecture (High Level)</a:t>
            </a:r>
          </a:p>
        </p:txBody>
      </p:sp>
      <p:sp>
        <p:nvSpPr>
          <p:cNvPr id="7" name="Rectangle 6">
            <a:extLst>
              <a:ext uri="{FF2B5EF4-FFF2-40B4-BE49-F238E27FC236}">
                <a16:creationId xmlns:a16="http://schemas.microsoft.com/office/drawing/2014/main" id="{BDAF9011-FE0D-7A07-3911-46A78E522A3A}"/>
              </a:ext>
            </a:extLst>
          </p:cNvPr>
          <p:cNvSpPr/>
          <p:nvPr/>
        </p:nvSpPr>
        <p:spPr>
          <a:xfrm>
            <a:off x="1269203" y="1089328"/>
            <a:ext cx="9003879" cy="55545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Content Placeholder 21">
            <a:extLst>
              <a:ext uri="{FF2B5EF4-FFF2-40B4-BE49-F238E27FC236}">
                <a16:creationId xmlns:a16="http://schemas.microsoft.com/office/drawing/2014/main" id="{E539CDE8-58AF-F78E-AF99-B57C61DE25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204" y="1089328"/>
            <a:ext cx="9003878" cy="5554571"/>
          </a:xfrm>
        </p:spPr>
      </p:pic>
    </p:spTree>
    <p:extLst>
      <p:ext uri="{BB962C8B-B14F-4D97-AF65-F5344CB8AC3E}">
        <p14:creationId xmlns:p14="http://schemas.microsoft.com/office/powerpoint/2010/main" val="72405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042A-0666-B2B4-C723-1DD86C1D61F5}"/>
              </a:ext>
            </a:extLst>
          </p:cNvPr>
          <p:cNvSpPr>
            <a:spLocks noGrp="1"/>
          </p:cNvSpPr>
          <p:nvPr>
            <p:ph type="title"/>
          </p:nvPr>
        </p:nvSpPr>
        <p:spPr/>
        <p:txBody>
          <a:bodyPr/>
          <a:lstStyle/>
          <a:p>
            <a:r>
              <a:rPr lang="en-US" dirty="0"/>
              <a:t>6. </a:t>
            </a:r>
            <a:r>
              <a:rPr lang="en-IN" dirty="0"/>
              <a:t>Modules</a:t>
            </a:r>
            <a:r>
              <a:rPr lang="en-US" dirty="0"/>
              <a:t> </a:t>
            </a:r>
            <a:endParaRPr lang="en-IN" dirty="0"/>
          </a:p>
        </p:txBody>
      </p:sp>
      <p:sp>
        <p:nvSpPr>
          <p:cNvPr id="3" name="Content Placeholder 2">
            <a:extLst>
              <a:ext uri="{FF2B5EF4-FFF2-40B4-BE49-F238E27FC236}">
                <a16:creationId xmlns:a16="http://schemas.microsoft.com/office/drawing/2014/main" id="{02B2DEE0-08D8-3661-6B64-B1A95E77C2A5}"/>
              </a:ext>
            </a:extLst>
          </p:cNvPr>
          <p:cNvSpPr>
            <a:spLocks noGrp="1"/>
          </p:cNvSpPr>
          <p:nvPr>
            <p:ph idx="1"/>
          </p:nvPr>
        </p:nvSpPr>
        <p:spPr/>
        <p:txBody>
          <a:bodyPr>
            <a:normAutofit fontScale="92500" lnSpcReduction="10000"/>
          </a:bodyPr>
          <a:lstStyle/>
          <a:p>
            <a:pPr marL="457200" indent="-457200">
              <a:buFont typeface="+mj-lt"/>
              <a:buAutoNum type="alphaUcPeriod"/>
            </a:pPr>
            <a:r>
              <a:rPr lang="en-US" sz="2000" dirty="0"/>
              <a:t> Pose Extraction &amp; Cleaning</a:t>
            </a:r>
          </a:p>
          <a:p>
            <a:pPr marL="971550" lvl="1" indent="-514350">
              <a:buFont typeface="+mj-lt"/>
              <a:buAutoNum type="romanLcPeriod"/>
            </a:pPr>
            <a:r>
              <a:rPr lang="en-US" sz="1600" dirty="0"/>
              <a:t>YOLO PERSON DETECTION (RAIDER)</a:t>
            </a:r>
          </a:p>
          <a:p>
            <a:pPr marL="971550" lvl="1" indent="-514350">
              <a:buFont typeface="+mj-lt"/>
              <a:buAutoNum type="romanLcPeriod"/>
            </a:pPr>
            <a:r>
              <a:rPr lang="en-US" sz="1600" dirty="0"/>
              <a:t>POSE ESTIMATION</a:t>
            </a:r>
          </a:p>
          <a:p>
            <a:pPr marL="971550" lvl="1" indent="-514350">
              <a:buFont typeface="+mj-lt"/>
              <a:buAutoNum type="romanLcPeriod"/>
            </a:pPr>
            <a:r>
              <a:rPr lang="en-US" sz="1600" dirty="0"/>
              <a:t>FORMAT CONVERTION</a:t>
            </a:r>
          </a:p>
          <a:p>
            <a:pPr marL="971550" lvl="1" indent="-514350">
              <a:buFont typeface="+mj-lt"/>
              <a:buAutoNum type="romanLcPeriod"/>
            </a:pPr>
            <a:r>
              <a:rPr lang="en-US" sz="1600" dirty="0"/>
              <a:t>DATA CANONICALIZATION</a:t>
            </a:r>
          </a:p>
          <a:p>
            <a:pPr marL="457200" indent="-457200">
              <a:buFont typeface="+mj-lt"/>
              <a:buAutoNum type="alphaUcPeriod"/>
            </a:pPr>
            <a:r>
              <a:rPr lang="en-US" sz="2000" dirty="0"/>
              <a:t>TEMPORAL ALIGNMENT</a:t>
            </a:r>
          </a:p>
          <a:p>
            <a:pPr marL="971550" lvl="1" indent="-514350">
              <a:buFont typeface="+mj-lt"/>
              <a:buAutoNum type="romanLcPeriod"/>
            </a:pPr>
            <a:r>
              <a:rPr lang="en-US" sz="1600" dirty="0"/>
              <a:t>PELVIS TRAJECTORY EXTRACTION</a:t>
            </a:r>
          </a:p>
          <a:p>
            <a:pPr marL="971550" lvl="1" indent="-514350">
              <a:buFont typeface="+mj-lt"/>
              <a:buAutoNum type="romanLcPeriod"/>
            </a:pPr>
            <a:r>
              <a:rPr lang="en-US" sz="1600" dirty="0"/>
              <a:t>DYNAMIC TIME WARPING</a:t>
            </a:r>
          </a:p>
          <a:p>
            <a:pPr marL="971550" lvl="1" indent="-514350">
              <a:buFont typeface="+mj-lt"/>
              <a:buAutoNum type="romanLcPeriod"/>
            </a:pPr>
            <a:r>
              <a:rPr lang="en-US" sz="1600" dirty="0"/>
              <a:t>ALIGNED SQUENCE GENERATOR</a:t>
            </a:r>
          </a:p>
          <a:p>
            <a:pPr marL="457200" indent="-457200">
              <a:buFont typeface="+mj-lt"/>
              <a:buAutoNum type="alphaUcPeriod"/>
            </a:pPr>
            <a:r>
              <a:rPr lang="en-US" sz="2000" dirty="0"/>
              <a:t>JOINT ERROR ANALYSIS</a:t>
            </a:r>
          </a:p>
          <a:p>
            <a:pPr marL="914400" lvl="1" indent="-457200">
              <a:buFont typeface="+mj-lt"/>
              <a:buAutoNum type="romanUcPeriod"/>
            </a:pPr>
            <a:r>
              <a:rPr lang="en-US" sz="1600" dirty="0"/>
              <a:t>ERROR COMPUTATION ENGINE</a:t>
            </a:r>
          </a:p>
          <a:p>
            <a:pPr marL="914400" lvl="1" indent="-457200">
              <a:buFont typeface="+mj-lt"/>
              <a:buAutoNum type="romanUcPeriod"/>
            </a:pPr>
            <a:r>
              <a:rPr lang="en-US" sz="1600" dirty="0"/>
              <a:t>STATISTICAL AGRIGATION MODULE</a:t>
            </a:r>
          </a:p>
          <a:p>
            <a:pPr marL="914400" lvl="1" indent="-457200">
              <a:buFont typeface="+mj-lt"/>
              <a:buAutoNum type="romanUcPeriod"/>
            </a:pPr>
            <a:r>
              <a:rPr lang="en-US" sz="1600" dirty="0"/>
              <a:t>DATA SERIALIZATION</a:t>
            </a:r>
          </a:p>
          <a:p>
            <a:pPr marL="457200" indent="-457200">
              <a:buFont typeface="+mj-lt"/>
              <a:buAutoNum type="alphaUcPeriod"/>
            </a:pPr>
            <a:r>
              <a:rPr lang="en-US" sz="2000" dirty="0"/>
              <a:t>SIMLARITY SCORE</a:t>
            </a:r>
            <a:endParaRPr lang="en-US" dirty="0"/>
          </a:p>
          <a:p>
            <a:pPr marL="914400" lvl="1" indent="-457200">
              <a:buFont typeface="+mj-lt"/>
              <a:buAutoNum type="romanUcPeriod"/>
            </a:pPr>
            <a:r>
              <a:rPr lang="en-US" sz="1600" dirty="0"/>
              <a:t>SIMILARITY SCORE ENGINE</a:t>
            </a:r>
          </a:p>
          <a:p>
            <a:pPr marL="914400" lvl="1" indent="-457200">
              <a:buFont typeface="+mj-lt"/>
              <a:buAutoNum type="romanUcPeriod"/>
            </a:pPr>
            <a:endParaRPr lang="en-US" sz="1600" dirty="0"/>
          </a:p>
          <a:p>
            <a:pPr lvl="1"/>
            <a:endParaRPr lang="en-IN" dirty="0"/>
          </a:p>
          <a:p>
            <a:pPr lvl="1"/>
            <a:endParaRPr lang="en-IN" dirty="0"/>
          </a:p>
        </p:txBody>
      </p:sp>
    </p:spTree>
    <p:extLst>
      <p:ext uri="{BB962C8B-B14F-4D97-AF65-F5344CB8AC3E}">
        <p14:creationId xmlns:p14="http://schemas.microsoft.com/office/powerpoint/2010/main" val="415785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7FBB-A56A-64F2-95E8-B5CC009B7CEB}"/>
              </a:ext>
            </a:extLst>
          </p:cNvPr>
          <p:cNvSpPr>
            <a:spLocks noGrp="1"/>
          </p:cNvSpPr>
          <p:nvPr>
            <p:ph type="title"/>
          </p:nvPr>
        </p:nvSpPr>
        <p:spPr/>
        <p:txBody>
          <a:bodyPr/>
          <a:lstStyle/>
          <a:p>
            <a:r>
              <a:rPr lang="en-IN" dirty="0"/>
              <a:t>6. Modules (POSE EXTRACTION &amp; CLEANING)</a:t>
            </a:r>
          </a:p>
        </p:txBody>
      </p:sp>
      <p:sp>
        <p:nvSpPr>
          <p:cNvPr id="3" name="Content Placeholder 2">
            <a:extLst>
              <a:ext uri="{FF2B5EF4-FFF2-40B4-BE49-F238E27FC236}">
                <a16:creationId xmlns:a16="http://schemas.microsoft.com/office/drawing/2014/main" id="{673FC6C7-1A10-314F-B44B-D306091E0A0D}"/>
              </a:ext>
            </a:extLst>
          </p:cNvPr>
          <p:cNvSpPr>
            <a:spLocks noGrp="1"/>
          </p:cNvSpPr>
          <p:nvPr>
            <p:ph idx="1"/>
          </p:nvPr>
        </p:nvSpPr>
        <p:spPr/>
        <p:txBody>
          <a:bodyPr/>
          <a:lstStyle/>
          <a:p>
            <a:pPr marL="0" indent="0">
              <a:buNone/>
            </a:pPr>
            <a:r>
              <a:rPr lang="en-IN" dirty="0"/>
              <a:t>Level 1 POSE EXTRACTION &amp; CLEANING</a:t>
            </a:r>
          </a:p>
          <a:p>
            <a:endParaRPr lang="en-IN" dirty="0"/>
          </a:p>
          <a:p>
            <a:r>
              <a:rPr lang="en-IN" dirty="0"/>
              <a:t>MODULES :</a:t>
            </a:r>
          </a:p>
          <a:p>
            <a:pPr lvl="1"/>
            <a:r>
              <a:rPr lang="en-IN" dirty="0"/>
              <a:t>YOLO PERSON DETECTION</a:t>
            </a:r>
          </a:p>
          <a:p>
            <a:pPr lvl="1"/>
            <a:r>
              <a:rPr lang="en-IN" dirty="0"/>
              <a:t>POSE ESTIMATION</a:t>
            </a:r>
          </a:p>
          <a:p>
            <a:pPr lvl="1"/>
            <a:r>
              <a:rPr lang="en-IN" dirty="0"/>
              <a:t>FORMAT CONVERTION</a:t>
            </a:r>
          </a:p>
          <a:p>
            <a:pPr lvl="1"/>
            <a:r>
              <a:rPr lang="en-IN" dirty="0"/>
              <a:t>DATA CANONICALIZATION &amp; CLEANING</a:t>
            </a:r>
          </a:p>
        </p:txBody>
      </p:sp>
    </p:spTree>
    <p:extLst>
      <p:ext uri="{BB962C8B-B14F-4D97-AF65-F5344CB8AC3E}">
        <p14:creationId xmlns:p14="http://schemas.microsoft.com/office/powerpoint/2010/main" val="22539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B180-F318-6BD9-DCBE-BE44604AB8C0}"/>
              </a:ext>
            </a:extLst>
          </p:cNvPr>
          <p:cNvSpPr>
            <a:spLocks noGrp="1"/>
          </p:cNvSpPr>
          <p:nvPr>
            <p:ph type="title"/>
          </p:nvPr>
        </p:nvSpPr>
        <p:spPr/>
        <p:txBody>
          <a:bodyPr/>
          <a:lstStyle/>
          <a:p>
            <a:r>
              <a:rPr lang="en-US" dirty="0"/>
              <a:t>6A – Module Overview &amp; Block Diagram</a:t>
            </a:r>
            <a:endParaRPr lang="en-IN" dirty="0"/>
          </a:p>
        </p:txBody>
      </p:sp>
      <p:sp>
        <p:nvSpPr>
          <p:cNvPr id="3" name="Content Placeholder 2">
            <a:extLst>
              <a:ext uri="{FF2B5EF4-FFF2-40B4-BE49-F238E27FC236}">
                <a16:creationId xmlns:a16="http://schemas.microsoft.com/office/drawing/2014/main" id="{933BB3F7-04E5-492E-A91D-78AE0436D5A3}"/>
              </a:ext>
            </a:extLst>
          </p:cNvPr>
          <p:cNvSpPr>
            <a:spLocks noGrp="1"/>
          </p:cNvSpPr>
          <p:nvPr>
            <p:ph idx="1"/>
          </p:nvPr>
        </p:nvSpPr>
        <p:spPr/>
        <p:txBody>
          <a:bodyPr/>
          <a:lstStyle/>
          <a:p>
            <a:r>
              <a:rPr lang="en-US" b="1" dirty="0"/>
              <a:t>Module:</a:t>
            </a:r>
          </a:p>
          <a:p>
            <a:pPr lvl="1"/>
            <a:r>
              <a:rPr lang="en-US" b="1" dirty="0"/>
              <a:t>YOLO-Based Person Detection and Tracking</a:t>
            </a:r>
            <a:endParaRPr lang="en-US" dirty="0"/>
          </a:p>
          <a:p>
            <a:r>
              <a:rPr lang="en-US" b="1" dirty="0"/>
              <a:t>Purpose: </a:t>
            </a:r>
          </a:p>
          <a:p>
            <a:pPr lvl="1"/>
            <a:r>
              <a:rPr lang="en-US" dirty="0"/>
              <a:t>tracks the active Kabaddi player (raider) from raw multi-person video.</a:t>
            </a:r>
          </a:p>
          <a:p>
            <a:endParaRPr lang="en-IN" dirty="0"/>
          </a:p>
        </p:txBody>
      </p:sp>
      <p:pic>
        <p:nvPicPr>
          <p:cNvPr id="16" name="Picture 15">
            <a:extLst>
              <a:ext uri="{FF2B5EF4-FFF2-40B4-BE49-F238E27FC236}">
                <a16:creationId xmlns:a16="http://schemas.microsoft.com/office/drawing/2014/main" id="{8A3EDEF0-D8DE-3318-119E-A7038743E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62" y="4576348"/>
            <a:ext cx="11725275" cy="885825"/>
          </a:xfrm>
          <a:prstGeom prst="rect">
            <a:avLst/>
          </a:prstGeom>
        </p:spPr>
      </p:pic>
    </p:spTree>
    <p:extLst>
      <p:ext uri="{BB962C8B-B14F-4D97-AF65-F5344CB8AC3E}">
        <p14:creationId xmlns:p14="http://schemas.microsoft.com/office/powerpoint/2010/main" val="58838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F9E9-F79B-47A3-0E73-B441DC82A898}"/>
              </a:ext>
            </a:extLst>
          </p:cNvPr>
          <p:cNvSpPr>
            <a:spLocks noGrp="1"/>
          </p:cNvSpPr>
          <p:nvPr>
            <p:ph type="title"/>
          </p:nvPr>
        </p:nvSpPr>
        <p:spPr/>
        <p:txBody>
          <a:bodyPr/>
          <a:lstStyle/>
          <a:p>
            <a:r>
              <a:rPr lang="en-US" dirty="0"/>
              <a:t>6B – Algorithm Details</a:t>
            </a:r>
            <a:endParaRPr lang="en-IN" dirty="0"/>
          </a:p>
        </p:txBody>
      </p:sp>
      <p:sp>
        <p:nvSpPr>
          <p:cNvPr id="3" name="Content Placeholder 2">
            <a:extLst>
              <a:ext uri="{FF2B5EF4-FFF2-40B4-BE49-F238E27FC236}">
                <a16:creationId xmlns:a16="http://schemas.microsoft.com/office/drawing/2014/main" id="{D157C188-BD44-6F47-D1EC-D63BA16E3A9B}"/>
              </a:ext>
            </a:extLst>
          </p:cNvPr>
          <p:cNvSpPr>
            <a:spLocks noGrp="1"/>
          </p:cNvSpPr>
          <p:nvPr>
            <p:ph idx="1"/>
          </p:nvPr>
        </p:nvSpPr>
        <p:spPr/>
        <p:txBody>
          <a:bodyPr>
            <a:normAutofit lnSpcReduction="10000"/>
          </a:bodyPr>
          <a:lstStyle/>
          <a:p>
            <a:r>
              <a:rPr lang="en-US" b="1" dirty="0"/>
              <a:t>Algorithms Used</a:t>
            </a:r>
          </a:p>
          <a:p>
            <a:pPr lvl="1"/>
            <a:r>
              <a:rPr lang="en-US" b="1" dirty="0"/>
              <a:t>YOLOv8 – Object Detection</a:t>
            </a:r>
          </a:p>
          <a:p>
            <a:pPr lvl="2"/>
            <a:r>
              <a:rPr lang="en-US" b="1" dirty="0"/>
              <a:t>Role: </a:t>
            </a:r>
            <a:r>
              <a:rPr lang="en-US" dirty="0"/>
              <a:t>Detect all human instances in each frame.</a:t>
            </a:r>
            <a:endParaRPr lang="en-US" b="1" dirty="0"/>
          </a:p>
          <a:p>
            <a:pPr lvl="2"/>
            <a:r>
              <a:rPr lang="en-IN" b="1" dirty="0"/>
              <a:t>Result:</a:t>
            </a:r>
            <a:r>
              <a:rPr lang="en-IN" dirty="0"/>
              <a:t> B = { (x1, y1, x2, y2, confidence, class=person) }</a:t>
            </a:r>
            <a:endParaRPr lang="en-US" dirty="0"/>
          </a:p>
          <a:p>
            <a:pPr lvl="1"/>
            <a:r>
              <a:rPr lang="en-US" b="1" dirty="0" err="1"/>
              <a:t>ByteTrack</a:t>
            </a:r>
            <a:r>
              <a:rPr lang="en-US" b="1" dirty="0"/>
              <a:t> – Multi-object Tracking</a:t>
            </a:r>
          </a:p>
          <a:p>
            <a:pPr lvl="2"/>
            <a:r>
              <a:rPr lang="en-US" b="1" dirty="0"/>
              <a:t>Role: </a:t>
            </a:r>
            <a:r>
              <a:rPr lang="en-US" dirty="0"/>
              <a:t>Assign persistent IDs to detected persons across frames.</a:t>
            </a:r>
          </a:p>
          <a:p>
            <a:pPr lvl="2"/>
            <a:r>
              <a:rPr lang="en-US" b="1" dirty="0"/>
              <a:t>Result:</a:t>
            </a:r>
            <a:r>
              <a:rPr lang="en-US" dirty="0"/>
              <a:t> Track ID → Sequence of bounding boxes over time</a:t>
            </a:r>
          </a:p>
          <a:p>
            <a:pPr lvl="1"/>
            <a:r>
              <a:rPr lang="en-US" b="1" dirty="0"/>
              <a:t>Motion-Based Raider Selection (Heuristic) “</a:t>
            </a:r>
            <a:r>
              <a:rPr lang="en-IN" dirty="0"/>
              <a:t>Cumulative Displacement Heuristic</a:t>
            </a:r>
            <a:r>
              <a:rPr lang="en-US" b="1" dirty="0"/>
              <a:t>”</a:t>
            </a:r>
          </a:p>
          <a:p>
            <a:pPr lvl="1"/>
            <a:r>
              <a:rPr lang="en-IN" b="1" dirty="0"/>
              <a:t>Formula: </a:t>
            </a:r>
          </a:p>
          <a:p>
            <a:pPr marL="457200" lvl="1" indent="0">
              <a:buNone/>
            </a:pPr>
            <a:r>
              <a:rPr lang="en-IN" dirty="0"/>
              <a:t>		</a:t>
            </a:r>
            <a:r>
              <a:rPr lang="en-IN" dirty="0" err="1"/>
              <a:t>motion_i</a:t>
            </a:r>
            <a:r>
              <a:rPr lang="en-IN" dirty="0"/>
              <a:t> = </a:t>
            </a:r>
            <a:r>
              <a:rPr lang="el-GR" dirty="0"/>
              <a:t>Σ || </a:t>
            </a:r>
            <a:r>
              <a:rPr lang="en-IN" dirty="0" err="1"/>
              <a:t>position_t</a:t>
            </a:r>
            <a:r>
              <a:rPr lang="en-IN" dirty="0"/>
              <a:t> − position_(t−1) ||</a:t>
            </a:r>
          </a:p>
          <a:p>
            <a:pPr marL="457200" lvl="1" indent="0">
              <a:buNone/>
            </a:pPr>
            <a:r>
              <a:rPr lang="en-IN" dirty="0"/>
              <a:t>		raider = argmax(</a:t>
            </a:r>
            <a:r>
              <a:rPr lang="en-IN" dirty="0" err="1"/>
              <a:t>motion_i</a:t>
            </a:r>
            <a:r>
              <a:rPr lang="en-IN" dirty="0"/>
              <a:t>)</a:t>
            </a:r>
          </a:p>
          <a:p>
            <a:pPr lvl="2"/>
            <a:endParaRPr lang="en-IN" b="1" dirty="0"/>
          </a:p>
          <a:p>
            <a:pPr lvl="2"/>
            <a:endParaRPr lang="en-US" dirty="0"/>
          </a:p>
        </p:txBody>
      </p:sp>
    </p:spTree>
    <p:extLst>
      <p:ext uri="{BB962C8B-B14F-4D97-AF65-F5344CB8AC3E}">
        <p14:creationId xmlns:p14="http://schemas.microsoft.com/office/powerpoint/2010/main" val="3038518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1005-28F4-33B1-CB9C-7B6F6000B62D}"/>
              </a:ext>
            </a:extLst>
          </p:cNvPr>
          <p:cNvSpPr>
            <a:spLocks noGrp="1"/>
          </p:cNvSpPr>
          <p:nvPr>
            <p:ph type="title"/>
          </p:nvPr>
        </p:nvSpPr>
        <p:spPr/>
        <p:txBody>
          <a:bodyPr/>
          <a:lstStyle/>
          <a:p>
            <a:r>
              <a:rPr lang="en-US" dirty="0"/>
              <a:t>6A – Algorithm Details cont.</a:t>
            </a:r>
            <a:endParaRPr lang="en-IN" dirty="0"/>
          </a:p>
        </p:txBody>
      </p:sp>
      <p:sp>
        <p:nvSpPr>
          <p:cNvPr id="3" name="Content Placeholder 2">
            <a:extLst>
              <a:ext uri="{FF2B5EF4-FFF2-40B4-BE49-F238E27FC236}">
                <a16:creationId xmlns:a16="http://schemas.microsoft.com/office/drawing/2014/main" id="{06FC5F17-52F6-DADC-542A-B0EEE9B1FC07}"/>
              </a:ext>
            </a:extLst>
          </p:cNvPr>
          <p:cNvSpPr>
            <a:spLocks noGrp="1"/>
          </p:cNvSpPr>
          <p:nvPr>
            <p:ph idx="1"/>
          </p:nvPr>
        </p:nvSpPr>
        <p:spPr/>
        <p:txBody>
          <a:bodyPr>
            <a:normAutofit fontScale="62500" lnSpcReduction="20000"/>
          </a:bodyPr>
          <a:lstStyle/>
          <a:p>
            <a:pPr marL="0" indent="0">
              <a:buNone/>
            </a:pPr>
            <a:r>
              <a:rPr lang="es-ES" b="1" dirty="0"/>
              <a:t>Final OUTPUT:</a:t>
            </a:r>
            <a:endParaRPr lang="es-ES" dirty="0"/>
          </a:p>
          <a:p>
            <a:pPr marL="0" indent="0">
              <a:buNone/>
            </a:pPr>
            <a:r>
              <a:rPr lang="es-ES" sz="2300" dirty="0" err="1"/>
              <a:t>Raider_BBoxes</a:t>
            </a:r>
            <a:r>
              <a:rPr lang="es-ES" sz="2300" dirty="0"/>
              <a:t> = {</a:t>
            </a:r>
          </a:p>
          <a:p>
            <a:pPr marL="0" indent="0">
              <a:buNone/>
            </a:pPr>
            <a:r>
              <a:rPr lang="es-ES" sz="2300" dirty="0"/>
              <a:t>  frame_1: (x1, y1, x2, y2),</a:t>
            </a:r>
          </a:p>
          <a:p>
            <a:pPr marL="0" indent="0">
              <a:buNone/>
            </a:pPr>
            <a:r>
              <a:rPr lang="es-ES" sz="2300" dirty="0"/>
              <a:t>  frame_2: (x1, y1, x2, y2),</a:t>
            </a:r>
          </a:p>
          <a:p>
            <a:pPr marL="0" indent="0">
              <a:buNone/>
            </a:pPr>
            <a:r>
              <a:rPr lang="es-ES" sz="2300" dirty="0"/>
              <a:t>  ...</a:t>
            </a:r>
          </a:p>
          <a:p>
            <a:pPr marL="0" indent="0">
              <a:buNone/>
            </a:pPr>
            <a:r>
              <a:rPr lang="es-ES" sz="2300" dirty="0"/>
              <a:t>}</a:t>
            </a:r>
          </a:p>
          <a:p>
            <a:pPr marL="0" indent="0">
              <a:buNone/>
            </a:pPr>
            <a:endParaRPr lang="en-IN" dirty="0"/>
          </a:p>
          <a:p>
            <a:pPr marL="0" indent="0">
              <a:buNone/>
            </a:pPr>
            <a:r>
              <a:rPr lang="en-IN" dirty="0"/>
              <a:t>Sample I/P, O/P:</a:t>
            </a:r>
          </a:p>
          <a:p>
            <a:pPr marL="0" indent="0">
              <a:buNone/>
            </a:pPr>
            <a:r>
              <a:rPr lang="en-US" dirty="0"/>
              <a:t>	Sample Input: raw video with 5–7 players visible</a:t>
            </a:r>
          </a:p>
          <a:p>
            <a:pPr marL="0" indent="0">
              <a:buNone/>
            </a:pPr>
            <a:r>
              <a:rPr lang="en-US" dirty="0"/>
              <a:t>	</a:t>
            </a:r>
          </a:p>
          <a:p>
            <a:pPr marL="0" indent="0">
              <a:buNone/>
            </a:pPr>
            <a:r>
              <a:rPr lang="en-US" dirty="0"/>
              <a:t>Sample Output (video with annotations)</a:t>
            </a:r>
          </a:p>
          <a:p>
            <a:pPr marL="0" indent="0">
              <a:buNone/>
            </a:pPr>
            <a:r>
              <a:rPr lang="en-US" dirty="0"/>
              <a:t>	Frame 45:</a:t>
            </a:r>
          </a:p>
          <a:p>
            <a:pPr marL="0" indent="0">
              <a:buNone/>
            </a:pPr>
            <a:r>
              <a:rPr lang="en-US" dirty="0"/>
              <a:t>	Raider ID = 3</a:t>
            </a:r>
          </a:p>
          <a:p>
            <a:pPr marL="0" indent="0">
              <a:buNone/>
            </a:pPr>
            <a:r>
              <a:rPr lang="en-US" dirty="0"/>
              <a:t>	Bounding Box = (420, 180, 610, 520)</a:t>
            </a:r>
          </a:p>
          <a:p>
            <a:pPr marL="0" indent="0">
              <a:buNone/>
            </a:pPr>
            <a:endParaRPr lang="en-IN" dirty="0"/>
          </a:p>
        </p:txBody>
      </p:sp>
    </p:spTree>
    <p:extLst>
      <p:ext uri="{BB962C8B-B14F-4D97-AF65-F5344CB8AC3E}">
        <p14:creationId xmlns:p14="http://schemas.microsoft.com/office/powerpoint/2010/main" val="144731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FE54-CD71-B1B9-E3FA-37100C9AB3AB}"/>
              </a:ext>
            </a:extLst>
          </p:cNvPr>
          <p:cNvSpPr>
            <a:spLocks noGrp="1"/>
          </p:cNvSpPr>
          <p:nvPr>
            <p:ph type="title"/>
          </p:nvPr>
        </p:nvSpPr>
        <p:spPr/>
        <p:txBody>
          <a:bodyPr/>
          <a:lstStyle/>
          <a:p>
            <a:r>
              <a:rPr lang="en-US" dirty="0"/>
              <a:t>7A – Module Overview &amp; Block Diagram</a:t>
            </a:r>
            <a:endParaRPr lang="en-IN" dirty="0"/>
          </a:p>
        </p:txBody>
      </p:sp>
      <p:sp>
        <p:nvSpPr>
          <p:cNvPr id="3" name="Content Placeholder 2">
            <a:extLst>
              <a:ext uri="{FF2B5EF4-FFF2-40B4-BE49-F238E27FC236}">
                <a16:creationId xmlns:a16="http://schemas.microsoft.com/office/drawing/2014/main" id="{4665AFA0-3BE0-6961-BDD5-25E884B53CB6}"/>
              </a:ext>
            </a:extLst>
          </p:cNvPr>
          <p:cNvSpPr>
            <a:spLocks noGrp="1"/>
          </p:cNvSpPr>
          <p:nvPr>
            <p:ph idx="1"/>
          </p:nvPr>
        </p:nvSpPr>
        <p:spPr/>
        <p:txBody>
          <a:bodyPr>
            <a:normAutofit fontScale="77500" lnSpcReduction="20000"/>
          </a:bodyPr>
          <a:lstStyle/>
          <a:p>
            <a:r>
              <a:rPr lang="en-US" b="1" dirty="0"/>
              <a:t>Module Name</a:t>
            </a:r>
          </a:p>
          <a:p>
            <a:pPr lvl="1"/>
            <a:r>
              <a:rPr lang="en-US" b="1" dirty="0"/>
              <a:t>Single-Person Pose Estimation using </a:t>
            </a:r>
            <a:r>
              <a:rPr lang="en-US" b="1" dirty="0" err="1"/>
              <a:t>MediaPipe</a:t>
            </a:r>
            <a:r>
              <a:rPr lang="en-US" b="1" dirty="0"/>
              <a:t> </a:t>
            </a:r>
            <a:r>
              <a:rPr lang="en-US" b="1" dirty="0" err="1"/>
              <a:t>BlazePose</a:t>
            </a:r>
            <a:endParaRPr lang="en-US" dirty="0"/>
          </a:p>
          <a:p>
            <a:r>
              <a:rPr lang="en-US" b="1" dirty="0"/>
              <a:t>Purpose</a:t>
            </a:r>
          </a:p>
          <a:p>
            <a:pPr lvl="1"/>
            <a:r>
              <a:rPr lang="en-US" dirty="0"/>
              <a:t>Extract of 2D skeletal </a:t>
            </a:r>
            <a:r>
              <a:rPr lang="en-US" dirty="0" err="1"/>
              <a:t>keypoints</a:t>
            </a:r>
            <a:r>
              <a:rPr lang="en-US" dirty="0"/>
              <a:t> of identified raider from video frames.</a:t>
            </a:r>
          </a:p>
          <a:p>
            <a:pPr lvl="1"/>
            <a:r>
              <a:rPr lang="en-US" dirty="0"/>
              <a:t>Converts </a:t>
            </a:r>
            <a:r>
              <a:rPr lang="en-US" b="1" dirty="0"/>
              <a:t>pixel-level video data</a:t>
            </a:r>
            <a:r>
              <a:rPr lang="en-US" dirty="0"/>
              <a:t> into </a:t>
            </a:r>
            <a:r>
              <a:rPr lang="en-US" b="1" dirty="0"/>
              <a:t>structured pose coordinates</a:t>
            </a:r>
            <a:r>
              <a:rPr lang="en-US" dirty="0"/>
              <a:t>.</a:t>
            </a:r>
          </a:p>
          <a:p>
            <a:pPr marL="457200" lvl="1" indent="0">
              <a:buNone/>
            </a:pPr>
            <a:r>
              <a:rPr lang="en-US" dirty="0"/>
              <a:t>Block </a:t>
            </a:r>
            <a:r>
              <a:rPr lang="en-US" dirty="0" err="1"/>
              <a:t>Digram</a:t>
            </a:r>
            <a:r>
              <a:rPr lang="en-US" dirty="0"/>
              <a:t>:</a:t>
            </a:r>
          </a:p>
          <a:p>
            <a:r>
              <a:rPr lang="en-IN" dirty="0"/>
              <a:t>Raider Bounding Box Sequence</a:t>
            </a:r>
          </a:p>
          <a:p>
            <a:r>
              <a:rPr lang="en-IN" dirty="0"/>
              <a:t>            ↓</a:t>
            </a:r>
          </a:p>
          <a:p>
            <a:r>
              <a:rPr lang="en-IN" dirty="0"/>
              <a:t>Frame-wise Raider Cropping</a:t>
            </a:r>
          </a:p>
          <a:p>
            <a:r>
              <a:rPr lang="en-IN" dirty="0"/>
              <a:t>            ↓</a:t>
            </a:r>
          </a:p>
          <a:p>
            <a:r>
              <a:rPr lang="en-IN" dirty="0" err="1"/>
              <a:t>MediaPipe</a:t>
            </a:r>
            <a:r>
              <a:rPr lang="en-IN" dirty="0"/>
              <a:t> Pose Estimation (MP33)</a:t>
            </a:r>
          </a:p>
          <a:p>
            <a:r>
              <a:rPr lang="en-IN" dirty="0"/>
              <a:t>            ↓</a:t>
            </a:r>
          </a:p>
          <a:p>
            <a:r>
              <a:rPr lang="en-IN" dirty="0"/>
              <a:t>Raw Pose </a:t>
            </a:r>
            <a:r>
              <a:rPr lang="en-IN" dirty="0" err="1"/>
              <a:t>Keypoints</a:t>
            </a:r>
            <a:r>
              <a:rPr lang="en-IN" dirty="0"/>
              <a:t> (33 joints, normalized)</a:t>
            </a:r>
          </a:p>
        </p:txBody>
      </p:sp>
    </p:spTree>
    <p:extLst>
      <p:ext uri="{BB962C8B-B14F-4D97-AF65-F5344CB8AC3E}">
        <p14:creationId xmlns:p14="http://schemas.microsoft.com/office/powerpoint/2010/main" val="257533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EFECF-D69C-ECD3-F34B-CB92BEF81DB6}"/>
              </a:ext>
            </a:extLst>
          </p:cNvPr>
          <p:cNvSpPr>
            <a:spLocks noGrp="1"/>
          </p:cNvSpPr>
          <p:nvPr>
            <p:ph type="title"/>
          </p:nvPr>
        </p:nvSpPr>
        <p:spPr>
          <a:xfrm>
            <a:off x="766638" y="103822"/>
            <a:ext cx="10515600" cy="1325563"/>
          </a:xfrm>
        </p:spPr>
        <p:txBody>
          <a:bodyPr/>
          <a:lstStyle/>
          <a:p>
            <a:r>
              <a:rPr lang="en-US" dirty="0"/>
              <a:t>7B </a:t>
            </a:r>
            <a:r>
              <a:rPr lang="en-IN" dirty="0"/>
              <a:t>Algorithm Details</a:t>
            </a:r>
          </a:p>
        </p:txBody>
      </p:sp>
      <p:sp>
        <p:nvSpPr>
          <p:cNvPr id="3" name="Content Placeholder 2">
            <a:extLst>
              <a:ext uri="{FF2B5EF4-FFF2-40B4-BE49-F238E27FC236}">
                <a16:creationId xmlns:a16="http://schemas.microsoft.com/office/drawing/2014/main" id="{9283857C-6DD6-396B-27C5-961CE39137CA}"/>
              </a:ext>
            </a:extLst>
          </p:cNvPr>
          <p:cNvSpPr>
            <a:spLocks noGrp="1"/>
          </p:cNvSpPr>
          <p:nvPr>
            <p:ph idx="1"/>
          </p:nvPr>
        </p:nvSpPr>
        <p:spPr>
          <a:xfrm>
            <a:off x="510871" y="1119285"/>
            <a:ext cx="10515600" cy="4351338"/>
          </a:xfrm>
        </p:spPr>
        <p:txBody>
          <a:bodyPr>
            <a:noAutofit/>
          </a:bodyPr>
          <a:lstStyle/>
          <a:p>
            <a:endParaRPr lang="en-IN" sz="1050" b="1" dirty="0"/>
          </a:p>
          <a:p>
            <a:pPr marL="0" indent="0">
              <a:buNone/>
            </a:pPr>
            <a:r>
              <a:rPr lang="en-IN" sz="1050" b="1" dirty="0"/>
              <a:t>Algorithm Used</a:t>
            </a:r>
          </a:p>
          <a:p>
            <a:r>
              <a:rPr lang="en-IN" sz="1050" b="1" dirty="0" err="1"/>
              <a:t>MediaPipe</a:t>
            </a:r>
            <a:r>
              <a:rPr lang="en-IN" sz="1050" b="1" dirty="0"/>
              <a:t> </a:t>
            </a:r>
            <a:r>
              <a:rPr lang="en-IN" sz="1050" b="1" dirty="0" err="1"/>
              <a:t>BlazePose</a:t>
            </a:r>
            <a:r>
              <a:rPr lang="en-IN" sz="1050" b="1" dirty="0"/>
              <a:t> (33-Keypoint Model)</a:t>
            </a:r>
            <a:br>
              <a:rPr lang="en-IN" sz="1050" dirty="0"/>
            </a:br>
            <a:endParaRPr lang="en-IN" sz="1050" dirty="0"/>
          </a:p>
          <a:p>
            <a:r>
              <a:rPr lang="en-IN" sz="1050" b="1" dirty="0"/>
              <a:t>Step 1: Raider-Locked Frame Cropping</a:t>
            </a:r>
          </a:p>
          <a:p>
            <a:pPr lvl="1"/>
            <a:r>
              <a:rPr lang="en-IN" sz="1050" dirty="0"/>
              <a:t>Input: Frame + Raider Bounding Box</a:t>
            </a:r>
          </a:p>
          <a:p>
            <a:pPr lvl="1"/>
            <a:r>
              <a:rPr lang="en-IN" sz="1050" dirty="0"/>
              <a:t>Padding: ±40 pixels</a:t>
            </a:r>
          </a:p>
          <a:p>
            <a:pPr lvl="1"/>
            <a:r>
              <a:rPr lang="en-IN" sz="1050" dirty="0"/>
              <a:t>Clipping: Stay within frame bounds</a:t>
            </a:r>
          </a:p>
          <a:p>
            <a:pPr lvl="1"/>
            <a:r>
              <a:rPr lang="en-IN" sz="1050" b="1" dirty="0"/>
              <a:t>Result: </a:t>
            </a:r>
            <a:r>
              <a:rPr lang="en-IN" sz="1050" dirty="0"/>
              <a:t>Tight region of interest (ROI) containing only the raider</a:t>
            </a:r>
            <a:br>
              <a:rPr lang="en-IN" sz="1050" dirty="0"/>
            </a:br>
            <a:endParaRPr lang="en-IN" sz="1050" dirty="0"/>
          </a:p>
          <a:p>
            <a:r>
              <a:rPr lang="en-IN" sz="1050" b="1" dirty="0"/>
              <a:t>Step 2: </a:t>
            </a:r>
            <a:r>
              <a:rPr lang="en-IN" sz="1050" b="1" dirty="0" err="1"/>
              <a:t>MediaPipe</a:t>
            </a:r>
            <a:r>
              <a:rPr lang="en-IN" sz="1050" b="1" dirty="0"/>
              <a:t> Pose Estimation </a:t>
            </a:r>
          </a:p>
          <a:p>
            <a:pPr lvl="1"/>
            <a:r>
              <a:rPr lang="en-IN" sz="1050" dirty="0"/>
              <a:t>CNN-based pose estimation model</a:t>
            </a:r>
          </a:p>
          <a:p>
            <a:pPr lvl="1"/>
            <a:r>
              <a:rPr lang="en-IN" sz="1050" dirty="0"/>
              <a:t>Trained for full-body human pose</a:t>
            </a:r>
          </a:p>
          <a:p>
            <a:pPr lvl="1"/>
            <a:r>
              <a:rPr lang="en-IN" sz="1050" b="1" dirty="0"/>
              <a:t>Configuration Used</a:t>
            </a:r>
            <a:endParaRPr lang="en-IN" sz="1050" dirty="0"/>
          </a:p>
          <a:p>
            <a:pPr lvl="2"/>
            <a:r>
              <a:rPr lang="en-IN" sz="1050" dirty="0"/>
              <a:t>Videos (not static image)</a:t>
            </a:r>
          </a:p>
          <a:p>
            <a:pPr lvl="2"/>
            <a:r>
              <a:rPr lang="en-IN" sz="1050" dirty="0"/>
              <a:t>Temporal landmark smoothing enabled</a:t>
            </a:r>
          </a:p>
          <a:p>
            <a:pPr lvl="2"/>
            <a:r>
              <a:rPr lang="en-IN" sz="1050" dirty="0"/>
              <a:t>Confidence thresholds applied internally</a:t>
            </a:r>
            <a:br>
              <a:rPr lang="en-IN" sz="1050" dirty="0"/>
            </a:br>
            <a:endParaRPr lang="en-IN" sz="1050" dirty="0"/>
          </a:p>
          <a:p>
            <a:r>
              <a:rPr lang="en-IN" sz="1050" b="1" dirty="0"/>
              <a:t>Pose Representation</a:t>
            </a:r>
          </a:p>
          <a:p>
            <a:pPr marL="457200" lvl="1" indent="0">
              <a:buNone/>
            </a:pPr>
            <a:r>
              <a:rPr lang="en-IN" sz="1050" dirty="0"/>
              <a:t>For each frame:</a:t>
            </a:r>
          </a:p>
          <a:p>
            <a:pPr marL="457200" lvl="1" indent="0">
              <a:buNone/>
            </a:pPr>
            <a:r>
              <a:rPr lang="en-IN" sz="1050" dirty="0" err="1"/>
              <a:t>Pose_t</a:t>
            </a:r>
            <a:r>
              <a:rPr lang="en-IN" sz="1050" dirty="0"/>
              <a:t> = {</a:t>
            </a:r>
          </a:p>
          <a:p>
            <a:pPr marL="457200" lvl="1" indent="0">
              <a:buNone/>
            </a:pPr>
            <a:r>
              <a:rPr lang="en-IN" sz="1050" dirty="0"/>
              <a:t>	joint_0: (x, y),</a:t>
            </a:r>
          </a:p>
          <a:p>
            <a:pPr marL="457200" lvl="1" indent="0">
              <a:buNone/>
            </a:pPr>
            <a:r>
              <a:rPr lang="en-IN" sz="1050" dirty="0"/>
              <a:t>	joint_1: (x, y),</a:t>
            </a:r>
          </a:p>
          <a:p>
            <a:pPr marL="457200" lvl="1" indent="0">
              <a:buNone/>
            </a:pPr>
            <a:r>
              <a:rPr lang="en-IN" sz="1050" dirty="0"/>
              <a:t>	...</a:t>
            </a:r>
          </a:p>
          <a:p>
            <a:pPr marL="457200" lvl="1" indent="0">
              <a:buNone/>
            </a:pPr>
            <a:r>
              <a:rPr lang="en-IN" sz="1050" dirty="0"/>
              <a:t>	joint_32: (x, y)</a:t>
            </a:r>
          </a:p>
          <a:p>
            <a:pPr marL="457200" lvl="1" indent="0">
              <a:buNone/>
            </a:pPr>
            <a:r>
              <a:rPr lang="en-IN" sz="1050" dirty="0"/>
              <a:t>}</a:t>
            </a:r>
          </a:p>
          <a:p>
            <a:endParaRPr lang="en-IN" sz="1050" dirty="0"/>
          </a:p>
        </p:txBody>
      </p:sp>
    </p:spTree>
    <p:extLst>
      <p:ext uri="{BB962C8B-B14F-4D97-AF65-F5344CB8AC3E}">
        <p14:creationId xmlns:p14="http://schemas.microsoft.com/office/powerpoint/2010/main" val="1194807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DACD-A699-B0CB-5507-335B830A933F}"/>
              </a:ext>
            </a:extLst>
          </p:cNvPr>
          <p:cNvSpPr>
            <a:spLocks noGrp="1"/>
          </p:cNvSpPr>
          <p:nvPr>
            <p:ph type="title"/>
          </p:nvPr>
        </p:nvSpPr>
        <p:spPr/>
        <p:txBody>
          <a:bodyPr/>
          <a:lstStyle/>
          <a:p>
            <a:r>
              <a:rPr lang="en-US" dirty="0"/>
              <a:t>7B </a:t>
            </a:r>
            <a:r>
              <a:rPr lang="en-IN" dirty="0"/>
              <a:t>Algorithm Details (</a:t>
            </a:r>
            <a:r>
              <a:rPr lang="en-IN" dirty="0" err="1"/>
              <a:t>cont</a:t>
            </a:r>
            <a:r>
              <a:rPr lang="en-IN" dirty="0"/>
              <a:t>)</a:t>
            </a:r>
          </a:p>
        </p:txBody>
      </p:sp>
      <p:sp>
        <p:nvSpPr>
          <p:cNvPr id="3" name="Content Placeholder 2">
            <a:extLst>
              <a:ext uri="{FF2B5EF4-FFF2-40B4-BE49-F238E27FC236}">
                <a16:creationId xmlns:a16="http://schemas.microsoft.com/office/drawing/2014/main" id="{2045A5BB-49A5-7E5B-6EF3-081DC7FF1013}"/>
              </a:ext>
            </a:extLst>
          </p:cNvPr>
          <p:cNvSpPr>
            <a:spLocks noGrp="1"/>
          </p:cNvSpPr>
          <p:nvPr>
            <p:ph idx="1"/>
          </p:nvPr>
        </p:nvSpPr>
        <p:spPr/>
        <p:txBody>
          <a:bodyPr>
            <a:normAutofit fontScale="62500" lnSpcReduction="20000"/>
          </a:bodyPr>
          <a:lstStyle/>
          <a:p>
            <a:r>
              <a:rPr lang="en-US" b="1" dirty="0"/>
              <a:t>Sample Input &amp; Output</a:t>
            </a:r>
          </a:p>
          <a:p>
            <a:pPr lvl="1"/>
            <a:r>
              <a:rPr lang="en-US" b="1" dirty="0"/>
              <a:t>Sample Input</a:t>
            </a:r>
          </a:p>
          <a:p>
            <a:pPr lvl="2"/>
            <a:r>
              <a:rPr lang="en-US" dirty="0"/>
              <a:t>Frame 120</a:t>
            </a:r>
          </a:p>
          <a:p>
            <a:pPr lvl="2"/>
            <a:r>
              <a:rPr lang="en-US" dirty="0"/>
              <a:t>Raider Bounding Box = (420, 180, 610, 520)</a:t>
            </a:r>
          </a:p>
          <a:p>
            <a:r>
              <a:rPr lang="en-US" b="1" dirty="0"/>
              <a:t>Sample Output</a:t>
            </a:r>
          </a:p>
          <a:p>
            <a:pPr marL="0" indent="0">
              <a:buNone/>
            </a:pPr>
            <a:r>
              <a:rPr lang="en-US" dirty="0"/>
              <a:t>Pose[120] =</a:t>
            </a:r>
          </a:p>
          <a:p>
            <a:pPr marL="0" indent="0">
              <a:buNone/>
            </a:pPr>
            <a:r>
              <a:rPr lang="en-US" dirty="0"/>
              <a:t>	[</a:t>
            </a:r>
          </a:p>
          <a:p>
            <a:pPr marL="0" indent="0">
              <a:buNone/>
            </a:pPr>
            <a:r>
              <a:rPr lang="en-US" dirty="0"/>
              <a:t>  		(0.48, 0.12),   # nose</a:t>
            </a:r>
          </a:p>
          <a:p>
            <a:pPr marL="0" indent="0">
              <a:buNone/>
            </a:pPr>
            <a:r>
              <a:rPr lang="en-US" dirty="0"/>
              <a:t>  		(0.46, 0.10),   # left eye</a:t>
            </a:r>
          </a:p>
          <a:p>
            <a:pPr marL="0" indent="0">
              <a:buNone/>
            </a:pPr>
            <a:r>
              <a:rPr lang="en-US" dirty="0"/>
              <a:t>  		...</a:t>
            </a:r>
          </a:p>
          <a:p>
            <a:pPr marL="0" indent="0">
              <a:buNone/>
            </a:pPr>
            <a:r>
              <a:rPr lang="en-US" dirty="0"/>
              <a:t>  		(0.52, 0.91)    # right foot</a:t>
            </a:r>
          </a:p>
          <a:p>
            <a:pPr marL="0" indent="0">
              <a:buNone/>
            </a:pPr>
            <a:r>
              <a:rPr lang="en-US" dirty="0"/>
              <a:t>	]</a:t>
            </a:r>
          </a:p>
          <a:p>
            <a:pPr marL="0" indent="0">
              <a:buNone/>
            </a:pPr>
            <a:r>
              <a:rPr lang="en-US" dirty="0"/>
              <a:t>Shape:</a:t>
            </a:r>
          </a:p>
          <a:p>
            <a:pPr marL="0" indent="0">
              <a:buNone/>
            </a:pPr>
            <a:r>
              <a:rPr lang="en-US" dirty="0"/>
              <a:t>(33 joints × 2 coordinates)</a:t>
            </a:r>
          </a:p>
          <a:p>
            <a:endParaRPr lang="en-IN" dirty="0"/>
          </a:p>
        </p:txBody>
      </p:sp>
    </p:spTree>
    <p:extLst>
      <p:ext uri="{BB962C8B-B14F-4D97-AF65-F5344CB8AC3E}">
        <p14:creationId xmlns:p14="http://schemas.microsoft.com/office/powerpoint/2010/main" val="634446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BFC9-45AE-7789-4032-D7B7C0C78819}"/>
              </a:ext>
            </a:extLst>
          </p:cNvPr>
          <p:cNvSpPr>
            <a:spLocks noGrp="1"/>
          </p:cNvSpPr>
          <p:nvPr>
            <p:ph type="title"/>
          </p:nvPr>
        </p:nvSpPr>
        <p:spPr/>
        <p:txBody>
          <a:bodyPr/>
          <a:lstStyle/>
          <a:p>
            <a:r>
              <a:rPr lang="en-IN" dirty="0"/>
              <a:t>8A Module Overview &amp; Block Diagram</a:t>
            </a:r>
          </a:p>
        </p:txBody>
      </p:sp>
      <p:sp>
        <p:nvSpPr>
          <p:cNvPr id="3" name="Content Placeholder 2">
            <a:extLst>
              <a:ext uri="{FF2B5EF4-FFF2-40B4-BE49-F238E27FC236}">
                <a16:creationId xmlns:a16="http://schemas.microsoft.com/office/drawing/2014/main" id="{EFCEA7AD-04E3-9832-19C1-4CB032F3994B}"/>
              </a:ext>
            </a:extLst>
          </p:cNvPr>
          <p:cNvSpPr>
            <a:spLocks noGrp="1"/>
          </p:cNvSpPr>
          <p:nvPr>
            <p:ph idx="1"/>
          </p:nvPr>
        </p:nvSpPr>
        <p:spPr/>
        <p:txBody>
          <a:bodyPr>
            <a:normAutofit fontScale="55000" lnSpcReduction="20000"/>
          </a:bodyPr>
          <a:lstStyle/>
          <a:p>
            <a:r>
              <a:rPr lang="en-US" b="1" dirty="0"/>
              <a:t>Module Name</a:t>
            </a:r>
          </a:p>
          <a:p>
            <a:pPr lvl="1"/>
            <a:r>
              <a:rPr lang="en-US" b="1" dirty="0"/>
              <a:t>Pose Format Conversion: MediaPipe-33 to COCO-17</a:t>
            </a:r>
            <a:endParaRPr lang="en-US" dirty="0"/>
          </a:p>
          <a:p>
            <a:r>
              <a:rPr lang="en-US" b="1" dirty="0"/>
              <a:t>Purpose</a:t>
            </a:r>
          </a:p>
          <a:p>
            <a:pPr lvl="1"/>
            <a:r>
              <a:rPr lang="en-US" dirty="0"/>
              <a:t>Convert MP33-keypoint pose representation into standard COCO-17 skeleton format for downstream analysis and compatibility with AR </a:t>
            </a:r>
            <a:r>
              <a:rPr lang="en-US" dirty="0" err="1"/>
              <a:t>redndering</a:t>
            </a:r>
            <a:r>
              <a:rPr lang="en-US" dirty="0"/>
              <a:t>.</a:t>
            </a:r>
          </a:p>
          <a:p>
            <a:pPr lvl="1"/>
            <a:r>
              <a:rPr lang="en-US" dirty="0"/>
              <a:t>Reduction of </a:t>
            </a:r>
            <a:r>
              <a:rPr lang="en-US" b="1" dirty="0"/>
              <a:t>redundant joints</a:t>
            </a:r>
            <a:r>
              <a:rPr lang="en-US" dirty="0"/>
              <a:t> and use </a:t>
            </a:r>
            <a:r>
              <a:rPr lang="en-US" b="1" dirty="0"/>
              <a:t>widely accepted pose standard (COCO17)</a:t>
            </a:r>
            <a:r>
              <a:rPr lang="en-US" dirty="0"/>
              <a:t>.</a:t>
            </a:r>
          </a:p>
          <a:p>
            <a:pPr lvl="1"/>
            <a:endParaRPr lang="en-US" dirty="0"/>
          </a:p>
          <a:p>
            <a:pPr lvl="1"/>
            <a:endParaRPr lang="en-US" dirty="0"/>
          </a:p>
          <a:p>
            <a:r>
              <a:rPr lang="en-IN" dirty="0"/>
              <a:t>Block diagram:</a:t>
            </a:r>
          </a:p>
          <a:p>
            <a:r>
              <a:rPr lang="en-IN" dirty="0"/>
              <a:t>Raw MP33 Pose Data (Normalized)</a:t>
            </a:r>
          </a:p>
          <a:p>
            <a:r>
              <a:rPr lang="en-IN" dirty="0"/>
              <a:t>            ↓</a:t>
            </a:r>
          </a:p>
          <a:p>
            <a:r>
              <a:rPr lang="en-IN" dirty="0"/>
              <a:t>Joint Index Mapping</a:t>
            </a:r>
          </a:p>
          <a:p>
            <a:r>
              <a:rPr lang="en-IN" dirty="0"/>
              <a:t>            ↓</a:t>
            </a:r>
          </a:p>
          <a:p>
            <a:r>
              <a:rPr lang="en-IN" dirty="0"/>
              <a:t>Coordinate Transformation</a:t>
            </a:r>
          </a:p>
          <a:p>
            <a:r>
              <a:rPr lang="en-IN" dirty="0"/>
              <a:t>            ↓</a:t>
            </a:r>
          </a:p>
          <a:p>
            <a:r>
              <a:rPr lang="en-IN" dirty="0"/>
              <a:t>COCO-17 Pose Data (Pixel Space)</a:t>
            </a:r>
          </a:p>
        </p:txBody>
      </p:sp>
    </p:spTree>
    <p:extLst>
      <p:ext uri="{BB962C8B-B14F-4D97-AF65-F5344CB8AC3E}">
        <p14:creationId xmlns:p14="http://schemas.microsoft.com/office/powerpoint/2010/main" val="216543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EAE14-C08A-6895-DBA6-41D6B2D1D872}"/>
              </a:ext>
            </a:extLst>
          </p:cNvPr>
          <p:cNvSpPr>
            <a:spLocks noGrp="1"/>
          </p:cNvSpPr>
          <p:nvPr>
            <p:ph type="title"/>
          </p:nvPr>
        </p:nvSpPr>
        <p:spPr/>
        <p:txBody>
          <a:bodyPr/>
          <a:lstStyle/>
          <a:p>
            <a:r>
              <a:rPr lang="en-IN" dirty="0"/>
              <a:t>8B Algorithm Details</a:t>
            </a:r>
          </a:p>
        </p:txBody>
      </p:sp>
      <p:sp>
        <p:nvSpPr>
          <p:cNvPr id="3" name="Content Placeholder 2">
            <a:extLst>
              <a:ext uri="{FF2B5EF4-FFF2-40B4-BE49-F238E27FC236}">
                <a16:creationId xmlns:a16="http://schemas.microsoft.com/office/drawing/2014/main" id="{7CB479E0-741B-A3BC-867E-12B900EA1C44}"/>
              </a:ext>
            </a:extLst>
          </p:cNvPr>
          <p:cNvSpPr>
            <a:spLocks noGrp="1"/>
          </p:cNvSpPr>
          <p:nvPr>
            <p:ph idx="1"/>
          </p:nvPr>
        </p:nvSpPr>
        <p:spPr/>
        <p:txBody>
          <a:bodyPr>
            <a:normAutofit/>
          </a:bodyPr>
          <a:lstStyle/>
          <a:p>
            <a:r>
              <a:rPr lang="en-US" sz="1800" b="1" dirty="0"/>
              <a:t>Algorithm Type</a:t>
            </a:r>
          </a:p>
          <a:p>
            <a:pPr lvl="1"/>
            <a:r>
              <a:rPr lang="en-US" sz="1800" b="1" dirty="0"/>
              <a:t>Deterministic Joint Index Mapping + Coordinate Transformation</a:t>
            </a:r>
            <a:endParaRPr lang="en-US" sz="1800" dirty="0"/>
          </a:p>
          <a:p>
            <a:pPr lvl="1"/>
            <a:r>
              <a:rPr lang="en-US" sz="1800" dirty="0"/>
              <a:t>(No learning, no estimation)</a:t>
            </a:r>
          </a:p>
          <a:p>
            <a:r>
              <a:rPr lang="en-US" sz="1800" b="1" dirty="0"/>
              <a:t>Step 1: Joint Index Mapping</a:t>
            </a:r>
          </a:p>
          <a:p>
            <a:pPr lvl="1"/>
            <a:r>
              <a:rPr lang="en-US" sz="1800" dirty="0"/>
              <a:t>Each COCO-17 joint is mapped to a specific </a:t>
            </a:r>
            <a:r>
              <a:rPr lang="en-US" sz="1800" dirty="0" err="1"/>
              <a:t>MediaPipe</a:t>
            </a:r>
            <a:r>
              <a:rPr lang="en-US" sz="1800" dirty="0"/>
              <a:t> landmark index. </a:t>
            </a:r>
          </a:p>
          <a:p>
            <a:pPr lvl="1"/>
            <a:r>
              <a:rPr lang="en-US" sz="2000" b="1" dirty="0"/>
              <a:t>Mapping Table (Fixed)</a:t>
            </a:r>
            <a:endParaRPr lang="en-US" sz="2000" dirty="0"/>
          </a:p>
          <a:p>
            <a:pPr lvl="1"/>
            <a:endParaRPr lang="en-IN" dirty="0"/>
          </a:p>
        </p:txBody>
      </p:sp>
      <p:pic>
        <p:nvPicPr>
          <p:cNvPr id="5" name="Picture 4">
            <a:extLst>
              <a:ext uri="{FF2B5EF4-FFF2-40B4-BE49-F238E27FC236}">
                <a16:creationId xmlns:a16="http://schemas.microsoft.com/office/drawing/2014/main" id="{50DA91D0-9CF5-95A0-83C8-9472D1562BC6}"/>
              </a:ext>
            </a:extLst>
          </p:cNvPr>
          <p:cNvPicPr>
            <a:picLocks noChangeAspect="1"/>
          </p:cNvPicPr>
          <p:nvPr/>
        </p:nvPicPr>
        <p:blipFill>
          <a:blip r:embed="rId2"/>
          <a:stretch>
            <a:fillRect/>
          </a:stretch>
        </p:blipFill>
        <p:spPr>
          <a:xfrm>
            <a:off x="2528513" y="3866129"/>
            <a:ext cx="2353587" cy="2936180"/>
          </a:xfrm>
          <a:prstGeom prst="rect">
            <a:avLst/>
          </a:prstGeom>
        </p:spPr>
      </p:pic>
    </p:spTree>
    <p:extLst>
      <p:ext uri="{BB962C8B-B14F-4D97-AF65-F5344CB8AC3E}">
        <p14:creationId xmlns:p14="http://schemas.microsoft.com/office/powerpoint/2010/main" val="408718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8CD9-0608-1405-1E04-16235A228432}"/>
              </a:ext>
            </a:extLst>
          </p:cNvPr>
          <p:cNvSpPr>
            <a:spLocks noGrp="1"/>
          </p:cNvSpPr>
          <p:nvPr>
            <p:ph type="title"/>
          </p:nvPr>
        </p:nvSpPr>
        <p:spPr/>
        <p:txBody>
          <a:bodyPr/>
          <a:lstStyle/>
          <a:p>
            <a:r>
              <a:rPr lang="en-IN" dirty="0"/>
              <a:t>8B Algorithm Details (</a:t>
            </a:r>
            <a:r>
              <a:rPr lang="en-IN" dirty="0" err="1"/>
              <a:t>cont</a:t>
            </a:r>
            <a:r>
              <a:rPr lang="en-IN" dirty="0"/>
              <a:t>)</a:t>
            </a:r>
          </a:p>
        </p:txBody>
      </p:sp>
      <p:sp>
        <p:nvSpPr>
          <p:cNvPr id="3" name="Content Placeholder 2">
            <a:extLst>
              <a:ext uri="{FF2B5EF4-FFF2-40B4-BE49-F238E27FC236}">
                <a16:creationId xmlns:a16="http://schemas.microsoft.com/office/drawing/2014/main" id="{93316AD2-6CBA-F4E7-F110-63043A905667}"/>
              </a:ext>
            </a:extLst>
          </p:cNvPr>
          <p:cNvSpPr>
            <a:spLocks noGrp="1"/>
          </p:cNvSpPr>
          <p:nvPr>
            <p:ph idx="1"/>
          </p:nvPr>
        </p:nvSpPr>
        <p:spPr/>
        <p:txBody>
          <a:bodyPr/>
          <a:lstStyle/>
          <a:p>
            <a:r>
              <a:rPr lang="en-IN" dirty="0"/>
              <a:t>Step 2: Coordinate Transformation</a:t>
            </a:r>
          </a:p>
          <a:p>
            <a:pPr lvl="1"/>
            <a:r>
              <a:rPr lang="en-IN" b="1" dirty="0"/>
              <a:t>Transformation Formula</a:t>
            </a:r>
          </a:p>
          <a:p>
            <a:pPr marL="457200" lvl="1" indent="0">
              <a:buNone/>
            </a:pPr>
            <a:r>
              <a:rPr lang="en-IN" dirty="0"/>
              <a:t>	For each joint:</a:t>
            </a:r>
          </a:p>
          <a:p>
            <a:pPr marL="914400" lvl="2" indent="0">
              <a:buNone/>
            </a:pPr>
            <a:r>
              <a:rPr lang="en-IN" dirty="0"/>
              <a:t>	</a:t>
            </a:r>
            <a:r>
              <a:rPr lang="en-IN" dirty="0" err="1"/>
              <a:t>x_pixel</a:t>
            </a:r>
            <a:r>
              <a:rPr lang="en-IN" dirty="0"/>
              <a:t> = bbox_x1 + </a:t>
            </a:r>
            <a:r>
              <a:rPr lang="en-IN" dirty="0" err="1"/>
              <a:t>lm.x</a:t>
            </a:r>
            <a:r>
              <a:rPr lang="en-IN" dirty="0"/>
              <a:t> × </a:t>
            </a:r>
            <a:r>
              <a:rPr lang="en-IN" dirty="0" err="1"/>
              <a:t>bbox_width</a:t>
            </a:r>
            <a:endParaRPr lang="en-IN" dirty="0"/>
          </a:p>
          <a:p>
            <a:pPr marL="1828800" lvl="4" indent="0">
              <a:buNone/>
            </a:pPr>
            <a:r>
              <a:rPr lang="en-IN" dirty="0" err="1"/>
              <a:t>y_pixel</a:t>
            </a:r>
            <a:r>
              <a:rPr lang="en-IN" dirty="0"/>
              <a:t> = bbox_y1 + </a:t>
            </a:r>
            <a:r>
              <a:rPr lang="en-IN" dirty="0" err="1"/>
              <a:t>lm.y</a:t>
            </a:r>
            <a:r>
              <a:rPr lang="en-IN" dirty="0"/>
              <a:t> × </a:t>
            </a:r>
            <a:r>
              <a:rPr lang="en-IN" dirty="0" err="1"/>
              <a:t>bbox_height</a:t>
            </a:r>
            <a:endParaRPr lang="en-IN" dirty="0"/>
          </a:p>
          <a:p>
            <a:pPr lvl="1"/>
            <a:r>
              <a:rPr lang="en-IN" b="1" dirty="0"/>
              <a:t>Visibility Rule</a:t>
            </a:r>
            <a:endParaRPr lang="en-IN" dirty="0"/>
          </a:p>
          <a:p>
            <a:pPr lvl="2"/>
            <a:r>
              <a:rPr lang="en-IN" dirty="0"/>
              <a:t>If landmark visibility &lt; 0.5:</a:t>
            </a:r>
          </a:p>
          <a:p>
            <a:pPr lvl="2"/>
            <a:r>
              <a:rPr lang="en-IN" dirty="0"/>
              <a:t>(x, y) = </a:t>
            </a:r>
            <a:r>
              <a:rPr lang="en-IN" dirty="0" err="1"/>
              <a:t>NaN</a:t>
            </a:r>
            <a:endParaRPr lang="en-IN" dirty="0"/>
          </a:p>
          <a:p>
            <a:pPr lvl="1"/>
            <a:endParaRPr lang="en-IN" dirty="0"/>
          </a:p>
        </p:txBody>
      </p:sp>
    </p:spTree>
    <p:extLst>
      <p:ext uri="{BB962C8B-B14F-4D97-AF65-F5344CB8AC3E}">
        <p14:creationId xmlns:p14="http://schemas.microsoft.com/office/powerpoint/2010/main" val="1911472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1864-C18D-CD94-313C-05D081B85311}"/>
              </a:ext>
            </a:extLst>
          </p:cNvPr>
          <p:cNvSpPr>
            <a:spLocks noGrp="1"/>
          </p:cNvSpPr>
          <p:nvPr>
            <p:ph type="title"/>
          </p:nvPr>
        </p:nvSpPr>
        <p:spPr/>
        <p:txBody>
          <a:bodyPr/>
          <a:lstStyle/>
          <a:p>
            <a:r>
              <a:rPr lang="en-IN" dirty="0"/>
              <a:t>8B Algorithm Details (</a:t>
            </a:r>
            <a:r>
              <a:rPr lang="en-IN" dirty="0" err="1"/>
              <a:t>cont</a:t>
            </a:r>
            <a:r>
              <a:rPr lang="en-IN" dirty="0"/>
              <a:t>)</a:t>
            </a:r>
          </a:p>
        </p:txBody>
      </p:sp>
      <p:sp>
        <p:nvSpPr>
          <p:cNvPr id="3" name="Content Placeholder 2">
            <a:extLst>
              <a:ext uri="{FF2B5EF4-FFF2-40B4-BE49-F238E27FC236}">
                <a16:creationId xmlns:a16="http://schemas.microsoft.com/office/drawing/2014/main" id="{3DCB1468-7660-6CB1-9483-2CBA12ED1231}"/>
              </a:ext>
            </a:extLst>
          </p:cNvPr>
          <p:cNvSpPr>
            <a:spLocks noGrp="1"/>
          </p:cNvSpPr>
          <p:nvPr>
            <p:ph idx="1"/>
          </p:nvPr>
        </p:nvSpPr>
        <p:spPr/>
        <p:txBody>
          <a:bodyPr>
            <a:normAutofit/>
          </a:bodyPr>
          <a:lstStyle/>
          <a:p>
            <a:r>
              <a:rPr lang="en-US" b="1" dirty="0"/>
              <a:t>Sample Input &amp; Output</a:t>
            </a:r>
          </a:p>
          <a:p>
            <a:pPr marL="457200" lvl="1" indent="0">
              <a:buNone/>
            </a:pPr>
            <a:r>
              <a:rPr lang="en-US" b="1" dirty="0"/>
              <a:t>Sample Input:</a:t>
            </a:r>
          </a:p>
          <a:p>
            <a:pPr marL="457200" lvl="1" indent="0">
              <a:buNone/>
            </a:pPr>
            <a:r>
              <a:rPr lang="en-US" dirty="0"/>
              <a:t>	</a:t>
            </a:r>
          </a:p>
          <a:p>
            <a:pPr marL="457200" lvl="1" indent="0">
              <a:buNone/>
            </a:pPr>
            <a:endParaRPr lang="en-US" dirty="0"/>
          </a:p>
          <a:p>
            <a:pPr marL="457200" lvl="1" indent="0">
              <a:buNone/>
            </a:pPr>
            <a:endParaRPr lang="en-US" dirty="0"/>
          </a:p>
          <a:p>
            <a:pPr marL="457200" lvl="1" indent="0">
              <a:buNone/>
            </a:pPr>
            <a:endParaRPr lang="en-US" b="1" dirty="0"/>
          </a:p>
          <a:p>
            <a:pPr marL="457200" lvl="1" indent="0">
              <a:buNone/>
            </a:pPr>
            <a:r>
              <a:rPr lang="en-US" b="1" dirty="0"/>
              <a:t>Sample Output:</a:t>
            </a:r>
          </a:p>
        </p:txBody>
      </p:sp>
      <p:pic>
        <p:nvPicPr>
          <p:cNvPr id="5" name="Picture 4">
            <a:extLst>
              <a:ext uri="{FF2B5EF4-FFF2-40B4-BE49-F238E27FC236}">
                <a16:creationId xmlns:a16="http://schemas.microsoft.com/office/drawing/2014/main" id="{0123AC6F-1C92-F5C9-4DD1-2C6E6C1FD56E}"/>
              </a:ext>
            </a:extLst>
          </p:cNvPr>
          <p:cNvPicPr>
            <a:picLocks noChangeAspect="1"/>
          </p:cNvPicPr>
          <p:nvPr/>
        </p:nvPicPr>
        <p:blipFill>
          <a:blip r:embed="rId2"/>
          <a:stretch>
            <a:fillRect/>
          </a:stretch>
        </p:blipFill>
        <p:spPr>
          <a:xfrm>
            <a:off x="2015253" y="2714813"/>
            <a:ext cx="2516989" cy="1428373"/>
          </a:xfrm>
          <a:prstGeom prst="rect">
            <a:avLst/>
          </a:prstGeom>
        </p:spPr>
      </p:pic>
      <p:pic>
        <p:nvPicPr>
          <p:cNvPr id="7" name="Picture 6">
            <a:extLst>
              <a:ext uri="{FF2B5EF4-FFF2-40B4-BE49-F238E27FC236}">
                <a16:creationId xmlns:a16="http://schemas.microsoft.com/office/drawing/2014/main" id="{DFE4D8CD-05D6-E016-76B4-A670D8EAF936}"/>
              </a:ext>
            </a:extLst>
          </p:cNvPr>
          <p:cNvPicPr>
            <a:picLocks noChangeAspect="1"/>
          </p:cNvPicPr>
          <p:nvPr/>
        </p:nvPicPr>
        <p:blipFill>
          <a:blip r:embed="rId3"/>
          <a:stretch>
            <a:fillRect/>
          </a:stretch>
        </p:blipFill>
        <p:spPr>
          <a:xfrm>
            <a:off x="1951642" y="4818114"/>
            <a:ext cx="2945967" cy="1193071"/>
          </a:xfrm>
          <a:prstGeom prst="rect">
            <a:avLst/>
          </a:prstGeom>
        </p:spPr>
      </p:pic>
    </p:spTree>
    <p:extLst>
      <p:ext uri="{BB962C8B-B14F-4D97-AF65-F5344CB8AC3E}">
        <p14:creationId xmlns:p14="http://schemas.microsoft.com/office/powerpoint/2010/main" val="401994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D3F19-F63D-C5DE-8464-C3C61F9D7500}"/>
              </a:ext>
            </a:extLst>
          </p:cNvPr>
          <p:cNvSpPr>
            <a:spLocks noGrp="1"/>
          </p:cNvSpPr>
          <p:nvPr>
            <p:ph type="title"/>
          </p:nvPr>
        </p:nvSpPr>
        <p:spPr/>
        <p:txBody>
          <a:bodyPr/>
          <a:lstStyle/>
          <a:p>
            <a:r>
              <a:rPr lang="en-IN" dirty="0"/>
              <a:t>9A Module Overview &amp; Block Diagram</a:t>
            </a:r>
          </a:p>
        </p:txBody>
      </p:sp>
      <p:sp>
        <p:nvSpPr>
          <p:cNvPr id="3" name="Content Placeholder 2">
            <a:extLst>
              <a:ext uri="{FF2B5EF4-FFF2-40B4-BE49-F238E27FC236}">
                <a16:creationId xmlns:a16="http://schemas.microsoft.com/office/drawing/2014/main" id="{74F9224E-2F1E-106F-5A0F-4D357858E919}"/>
              </a:ext>
            </a:extLst>
          </p:cNvPr>
          <p:cNvSpPr>
            <a:spLocks noGrp="1"/>
          </p:cNvSpPr>
          <p:nvPr>
            <p:ph idx="1"/>
          </p:nvPr>
        </p:nvSpPr>
        <p:spPr/>
        <p:txBody>
          <a:bodyPr>
            <a:normAutofit fontScale="40000" lnSpcReduction="20000"/>
          </a:bodyPr>
          <a:lstStyle/>
          <a:p>
            <a:r>
              <a:rPr lang="en-US" b="1" dirty="0"/>
              <a:t>Module Name</a:t>
            </a:r>
          </a:p>
          <a:p>
            <a:pPr marL="457200" lvl="1" indent="0">
              <a:buNone/>
            </a:pPr>
            <a:r>
              <a:rPr lang="en-US" b="1" dirty="0"/>
              <a:t>COCO-17 Pose Canonicalization and Temporal Cleaning</a:t>
            </a:r>
            <a:endParaRPr lang="en-US" dirty="0"/>
          </a:p>
          <a:p>
            <a:r>
              <a:rPr lang="en-US" b="1" dirty="0"/>
              <a:t>Purpose</a:t>
            </a:r>
          </a:p>
          <a:p>
            <a:pPr lvl="1"/>
            <a:r>
              <a:rPr lang="en-US" dirty="0"/>
              <a:t>Convert raw COCO-17 pose to </a:t>
            </a:r>
            <a:r>
              <a:rPr lang="en-US" b="1" dirty="0"/>
              <a:t>stable, normalized, and noise-free pose sequence</a:t>
            </a:r>
            <a:r>
              <a:rPr lang="en-US" dirty="0"/>
              <a:t> for temporal alignment and error analysis.</a:t>
            </a:r>
          </a:p>
          <a:p>
            <a:pPr marL="0" indent="0">
              <a:buNone/>
            </a:pPr>
            <a:endParaRPr lang="en-IN" sz="2300" dirty="0"/>
          </a:p>
          <a:p>
            <a:pPr marL="0" indent="0">
              <a:buNone/>
            </a:pPr>
            <a:r>
              <a:rPr lang="en-IN" sz="2300" dirty="0"/>
              <a:t>Block diagram:</a:t>
            </a:r>
          </a:p>
          <a:p>
            <a:r>
              <a:rPr lang="en-IN" sz="2300" dirty="0"/>
              <a:t>Raw COCO-17 Pose Sequence</a:t>
            </a:r>
          </a:p>
          <a:p>
            <a:r>
              <a:rPr lang="en-IN" sz="2300" dirty="0"/>
              <a:t>            ↓</a:t>
            </a:r>
          </a:p>
          <a:p>
            <a:r>
              <a:rPr lang="en-IN" sz="2300" dirty="0"/>
              <a:t>Temporal Interpolation</a:t>
            </a:r>
          </a:p>
          <a:p>
            <a:r>
              <a:rPr lang="en-IN" sz="2300" dirty="0"/>
              <a:t>            ↓</a:t>
            </a:r>
          </a:p>
          <a:p>
            <a:r>
              <a:rPr lang="en-IN" sz="2300" dirty="0"/>
              <a:t>Pelvis </a:t>
            </a:r>
            <a:r>
              <a:rPr lang="en-IN" sz="2300" dirty="0" err="1"/>
              <a:t>Centering</a:t>
            </a:r>
            <a:endParaRPr lang="en-IN" sz="2300" dirty="0"/>
          </a:p>
          <a:p>
            <a:r>
              <a:rPr lang="en-IN" sz="2300" dirty="0"/>
              <a:t>            ↓</a:t>
            </a:r>
          </a:p>
          <a:p>
            <a:r>
              <a:rPr lang="en-IN" sz="2300" dirty="0"/>
              <a:t>Scale Normalization</a:t>
            </a:r>
          </a:p>
          <a:p>
            <a:r>
              <a:rPr lang="en-IN" sz="2300" dirty="0"/>
              <a:t>            ↓</a:t>
            </a:r>
          </a:p>
          <a:p>
            <a:r>
              <a:rPr lang="en-IN" sz="2300" dirty="0"/>
              <a:t>Outlier Suppression</a:t>
            </a:r>
          </a:p>
          <a:p>
            <a:r>
              <a:rPr lang="en-IN" sz="2300" dirty="0"/>
              <a:t>            ↓</a:t>
            </a:r>
          </a:p>
          <a:p>
            <a:r>
              <a:rPr lang="en-IN" sz="2300" dirty="0"/>
              <a:t>EMA Smoothing</a:t>
            </a:r>
          </a:p>
          <a:p>
            <a:r>
              <a:rPr lang="en-IN" sz="2300" dirty="0"/>
              <a:t>            ↓</a:t>
            </a:r>
          </a:p>
          <a:p>
            <a:r>
              <a:rPr lang="en-IN" sz="2300" dirty="0"/>
              <a:t>Cleaned &amp; Normalized COCO-17 Pose</a:t>
            </a:r>
          </a:p>
        </p:txBody>
      </p:sp>
    </p:spTree>
    <p:extLst>
      <p:ext uri="{BB962C8B-B14F-4D97-AF65-F5344CB8AC3E}">
        <p14:creationId xmlns:p14="http://schemas.microsoft.com/office/powerpoint/2010/main" val="1894504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D9A4-C43A-53C4-27D8-6420D5CAE3E9}"/>
              </a:ext>
            </a:extLst>
          </p:cNvPr>
          <p:cNvSpPr>
            <a:spLocks noGrp="1"/>
          </p:cNvSpPr>
          <p:nvPr>
            <p:ph type="title"/>
          </p:nvPr>
        </p:nvSpPr>
        <p:spPr/>
        <p:txBody>
          <a:bodyPr/>
          <a:lstStyle/>
          <a:p>
            <a:r>
              <a:rPr lang="en-IN" dirty="0"/>
              <a:t>9B Algorithms Used</a:t>
            </a:r>
          </a:p>
        </p:txBody>
      </p:sp>
      <p:sp>
        <p:nvSpPr>
          <p:cNvPr id="3" name="Content Placeholder 2">
            <a:extLst>
              <a:ext uri="{FF2B5EF4-FFF2-40B4-BE49-F238E27FC236}">
                <a16:creationId xmlns:a16="http://schemas.microsoft.com/office/drawing/2014/main" id="{2828A667-7F08-49F6-8617-764E0183E9D4}"/>
              </a:ext>
            </a:extLst>
          </p:cNvPr>
          <p:cNvSpPr>
            <a:spLocks noGrp="1"/>
          </p:cNvSpPr>
          <p:nvPr>
            <p:ph idx="1"/>
          </p:nvPr>
        </p:nvSpPr>
        <p:spPr/>
        <p:txBody>
          <a:bodyPr/>
          <a:lstStyle/>
          <a:p>
            <a:pPr marL="0" indent="0">
              <a:buNone/>
            </a:pPr>
            <a:r>
              <a:rPr lang="en-IN" dirty="0"/>
              <a:t>Type:</a:t>
            </a:r>
          </a:p>
          <a:p>
            <a:pPr marL="0" indent="0">
              <a:buNone/>
            </a:pPr>
            <a:r>
              <a:rPr lang="en-IN" dirty="0"/>
              <a:t>	Deterministic Signal-Processing Pipeline (5 Steps)</a:t>
            </a:r>
          </a:p>
        </p:txBody>
      </p:sp>
    </p:spTree>
    <p:extLst>
      <p:ext uri="{BB962C8B-B14F-4D97-AF65-F5344CB8AC3E}">
        <p14:creationId xmlns:p14="http://schemas.microsoft.com/office/powerpoint/2010/main" val="3608503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TotalTime>
  <Words>2084</Words>
  <Application>Microsoft Office PowerPoint</Application>
  <PresentationFormat>Widescreen</PresentationFormat>
  <Paragraphs>284</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An AR-Based Coaching System for Kabaddi Using Pose Estimation and LLM Feedback</vt:lpstr>
      <vt:lpstr>1. Introduction</vt:lpstr>
      <vt:lpstr>2. Introduction (Kabaddi skills)</vt:lpstr>
      <vt:lpstr>2. Problem Statement</vt:lpstr>
      <vt:lpstr>4. Literature Survey</vt:lpstr>
      <vt:lpstr>4. Literature Survey cont.</vt:lpstr>
      <vt:lpstr>5. Overall System Architecture (High Level)</vt:lpstr>
      <vt:lpstr>6. Modules </vt:lpstr>
      <vt:lpstr>6. Modules (POSE EXTRACTION &amp; CLEANING)</vt:lpstr>
      <vt:lpstr>6A – Module Overview &amp; Block Diagram</vt:lpstr>
      <vt:lpstr>6B – Algorithm Details</vt:lpstr>
      <vt:lpstr>6A – Algorithm Details cont.</vt:lpstr>
      <vt:lpstr>7A – Module Overview &amp; Block Diagram</vt:lpstr>
      <vt:lpstr>7B Algorithm Details</vt:lpstr>
      <vt:lpstr>7B Algorithm Details (cont)</vt:lpstr>
      <vt:lpstr>8A Module Overview &amp; Block Diagram</vt:lpstr>
      <vt:lpstr>8B Algorithm Details</vt:lpstr>
      <vt:lpstr>8B Algorithm Details (cont)</vt:lpstr>
      <vt:lpstr>8B Algorithm Details (cont)</vt:lpstr>
      <vt:lpstr>9A Module Overview &amp; Block Diagram</vt:lpstr>
      <vt:lpstr>9B Algorithms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Ibrahim.MS</dc:creator>
  <cp:lastModifiedBy>Mohamed Ibrahim.MS</cp:lastModifiedBy>
  <cp:revision>4</cp:revision>
  <dcterms:created xsi:type="dcterms:W3CDTF">2026-01-13T01:00:03Z</dcterms:created>
  <dcterms:modified xsi:type="dcterms:W3CDTF">2026-01-24T02:51:34Z</dcterms:modified>
</cp:coreProperties>
</file>