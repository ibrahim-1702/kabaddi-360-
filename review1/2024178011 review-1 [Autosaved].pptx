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270" r:id="rId3"/>
    <p:sldId id="276" r:id="rId4"/>
    <p:sldId id="271" r:id="rId5"/>
    <p:sldId id="272" r:id="rId6"/>
    <p:sldId id="273" r:id="rId7"/>
    <p:sldId id="258" r:id="rId8"/>
    <p:sldId id="288" r:id="rId9"/>
    <p:sldId id="274" r:id="rId10"/>
    <p:sldId id="275" r:id="rId11"/>
    <p:sldId id="277" r:id="rId12"/>
    <p:sldId id="278" r:id="rId13"/>
    <p:sldId id="279" r:id="rId14"/>
    <p:sldId id="280" r:id="rId15"/>
    <p:sldId id="281" r:id="rId16"/>
    <p:sldId id="282" r:id="rId17"/>
    <p:sldId id="283" r:id="rId18"/>
    <p:sldId id="284" r:id="rId19"/>
    <p:sldId id="285" r:id="rId20"/>
    <p:sldId id="286" r:id="rId21"/>
    <p:sldId id="287" r:id="rId22"/>
    <p:sldId id="289" r:id="rId23"/>
    <p:sldId id="290" r:id="rId24"/>
    <p:sldId id="292" r:id="rId25"/>
    <p:sldId id="291" r:id="rId26"/>
    <p:sldId id="293" r:id="rId27"/>
    <p:sldId id="295" r:id="rId28"/>
    <p:sldId id="296" r:id="rId29"/>
    <p:sldId id="297" r:id="rId30"/>
    <p:sldId id="298" r:id="rId31"/>
    <p:sldId id="299" r:id="rId32"/>
    <p:sldId id="300" r:id="rId33"/>
    <p:sldId id="302" r:id="rId34"/>
    <p:sldId id="303" r:id="rId35"/>
    <p:sldId id="304" r:id="rId36"/>
    <p:sldId id="305" r:id="rId37"/>
    <p:sldId id="307" r:id="rId38"/>
    <p:sldId id="306" r:id="rId39"/>
    <p:sldId id="308" r:id="rId40"/>
    <p:sldId id="309" r:id="rId41"/>
    <p:sldId id="311" r:id="rId42"/>
    <p:sldId id="312" r:id="rId43"/>
    <p:sldId id="310" r:id="rId44"/>
    <p:sldId id="313" r:id="rId45"/>
    <p:sldId id="314" r:id="rId46"/>
    <p:sldId id="315" r:id="rId47"/>
    <p:sldId id="316" r:id="rId48"/>
    <p:sldId id="317" r:id="rId49"/>
    <p:sldId id="31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975" autoAdjust="0"/>
  </p:normalViewPr>
  <p:slideViewPr>
    <p:cSldViewPr snapToGrid="0">
      <p:cViewPr varScale="1">
        <p:scale>
          <a:sx n="102" d="100"/>
          <a:sy n="102" d="100"/>
        </p:scale>
        <p:origin x="1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322E9-8FCB-4E36-92B9-AAA94F993B43}"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ACFA9A-76B6-4342-89DF-DC137DC2088D}" type="slidenum">
              <a:rPr lang="en-IN" smtClean="0"/>
              <a:t>‹#›</a:t>
            </a:fld>
            <a:endParaRPr lang="en-IN"/>
          </a:p>
        </p:txBody>
      </p:sp>
    </p:spTree>
    <p:extLst>
      <p:ext uri="{BB962C8B-B14F-4D97-AF65-F5344CB8AC3E}">
        <p14:creationId xmlns:p14="http://schemas.microsoft.com/office/powerpoint/2010/main" val="380585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AR Playback of Reference Moves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Automated Movement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Error Identification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LLM-Generated Coaching Feedback</a:t>
            </a:r>
          </a:p>
          <a:p>
            <a:endParaRPr lang="en-IN" dirty="0"/>
          </a:p>
        </p:txBody>
      </p:sp>
      <p:sp>
        <p:nvSpPr>
          <p:cNvPr id="4" name="Slide Number Placeholder 3"/>
          <p:cNvSpPr>
            <a:spLocks noGrp="1"/>
          </p:cNvSpPr>
          <p:nvPr>
            <p:ph type="sldNum" sz="quarter" idx="5"/>
          </p:nvPr>
        </p:nvSpPr>
        <p:spPr/>
        <p:txBody>
          <a:bodyPr/>
          <a:lstStyle/>
          <a:p>
            <a:fld id="{E3F0E897-8437-4E9C-8342-A80BE0E1B52C}" type="slidenum">
              <a:rPr lang="en-IN" smtClean="0"/>
              <a:t>4</a:t>
            </a:fld>
            <a:endParaRPr lang="en-IN"/>
          </a:p>
        </p:txBody>
      </p:sp>
    </p:spTree>
    <p:extLst>
      <p:ext uri="{BB962C8B-B14F-4D97-AF65-F5344CB8AC3E}">
        <p14:creationId xmlns:p14="http://schemas.microsoft.com/office/powerpoint/2010/main" val="1370669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works related to pose estimation, motion analysis, and skeleton-based learning.</a:t>
            </a:r>
          </a:p>
          <a:p>
            <a:endParaRPr lang="en-US" dirty="0"/>
          </a:p>
          <a:p>
            <a:r>
              <a:rPr lang="en-US" dirty="0"/>
              <a:t>The first paper by </a:t>
            </a:r>
            <a:r>
              <a:rPr lang="en-US" b="1" dirty="0"/>
              <a:t>Aleksić (2024)</a:t>
            </a:r>
            <a:r>
              <a:rPr lang="en-US" dirty="0"/>
              <a:t> </a:t>
            </a:r>
            <a:r>
              <a:rPr lang="en-US" b="1" dirty="0"/>
              <a:t>validates </a:t>
            </a:r>
            <a:r>
              <a:rPr lang="en-US" b="1" dirty="0" err="1"/>
              <a:t>markerless</a:t>
            </a:r>
            <a:r>
              <a:rPr lang="en-US" b="1" dirty="0"/>
              <a:t> pose estimation </a:t>
            </a:r>
            <a:r>
              <a:rPr lang="en-US" dirty="0"/>
              <a:t>by comparing it 3D motion capture systems. This work shows that </a:t>
            </a:r>
            <a:r>
              <a:rPr lang="en-US" dirty="0" err="1"/>
              <a:t>markerless</a:t>
            </a:r>
            <a:r>
              <a:rPr lang="en-US" dirty="0"/>
              <a:t> approaches can achieve high accuracy, making them suitable for real-world sports applications without expensive hardware.</a:t>
            </a:r>
          </a:p>
          <a:p>
            <a:r>
              <a:rPr lang="en-US" dirty="0"/>
              <a:t>The second paper by </a:t>
            </a:r>
            <a:r>
              <a:rPr lang="en-US" b="1" dirty="0"/>
              <a:t>Lin et al. (2020)</a:t>
            </a:r>
            <a:r>
              <a:rPr lang="en-US" dirty="0"/>
              <a:t> demonstrates a complete pose-based pipeline using </a:t>
            </a:r>
            <a:r>
              <a:rPr lang="en-US" b="1" dirty="0" err="1"/>
              <a:t>OpenPose</a:t>
            </a:r>
            <a:r>
              <a:rPr lang="en-US" dirty="0"/>
              <a:t> and machine learning classifiers. Although it is not sports-specific, it clearly establishes that pose-based features are reliable for movement analysis in real environments.</a:t>
            </a:r>
          </a:p>
          <a:p>
            <a:r>
              <a:rPr lang="en-US" dirty="0"/>
              <a:t>The third work by </a:t>
            </a:r>
            <a:r>
              <a:rPr lang="en-US" b="1" dirty="0" err="1"/>
              <a:t>Devzel</a:t>
            </a:r>
            <a:r>
              <a:rPr lang="en-US" b="1" dirty="0"/>
              <a:t> et al. (2023)</a:t>
            </a:r>
            <a:r>
              <a:rPr lang="en-US" dirty="0"/>
              <a:t> focuses on skeleton-based action recognition using few-shot learning. This paper is important because it shows that skeleton representations are effective for learning and comparing movements, which directly motivates the similarity engine in my project.</a:t>
            </a:r>
          </a:p>
          <a:p>
            <a:endParaRPr lang="en-IN" dirty="0"/>
          </a:p>
        </p:txBody>
      </p:sp>
      <p:sp>
        <p:nvSpPr>
          <p:cNvPr id="4" name="Slide Number Placeholder 3"/>
          <p:cNvSpPr>
            <a:spLocks noGrp="1"/>
          </p:cNvSpPr>
          <p:nvPr>
            <p:ph type="sldNum" sz="quarter" idx="5"/>
          </p:nvPr>
        </p:nvSpPr>
        <p:spPr/>
        <p:txBody>
          <a:bodyPr/>
          <a:lstStyle/>
          <a:p>
            <a:fld id="{E3F0E897-8437-4E9C-8342-A80BE0E1B52C}" type="slidenum">
              <a:rPr lang="en-IN" smtClean="0"/>
              <a:t>5</a:t>
            </a:fld>
            <a:endParaRPr lang="en-IN"/>
          </a:p>
        </p:txBody>
      </p:sp>
    </p:spTree>
    <p:extLst>
      <p:ext uri="{BB962C8B-B14F-4D97-AF65-F5344CB8AC3E}">
        <p14:creationId xmlns:p14="http://schemas.microsoft.com/office/powerpoint/2010/main" val="145905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Continuing the literature survey, this slide focuses on real-time tracking and AR/MR-based avatar systems.</a:t>
            </a:r>
          </a:p>
          <a:p>
            <a:r>
              <a:rPr lang="en-US" b="1" dirty="0"/>
              <a:t>Long Liu et al. (2024)</a:t>
            </a:r>
            <a:r>
              <a:rPr lang="en-US" dirty="0"/>
              <a:t> propose a real-time pose estimation and tracking framework using </a:t>
            </a:r>
            <a:r>
              <a:rPr lang="en-US" dirty="0" err="1"/>
              <a:t>OpenPose</a:t>
            </a:r>
            <a:r>
              <a:rPr lang="en-US" dirty="0"/>
              <a:t> and </a:t>
            </a:r>
            <a:r>
              <a:rPr lang="en-US" dirty="0" err="1"/>
              <a:t>DeepSORT</a:t>
            </a:r>
            <a:r>
              <a:rPr lang="en-US" dirty="0"/>
              <a:t>. Their work highlights how pose tracking can be used effectively in sports environments, even with occlusions and multiple players.</a:t>
            </a:r>
          </a:p>
          <a:p>
            <a:r>
              <a:rPr lang="en-US" b="1" dirty="0"/>
              <a:t>Ihara et al. (2024)</a:t>
            </a:r>
            <a:r>
              <a:rPr lang="en-US" dirty="0"/>
              <a:t> present a system that converts 2D instructional videos into mixed-reality 3D avatars. This paper is particularly relevant to my project because it demonstrates how motion extracted from videos can be transformed into interactive 3D avatars, which aligns closely with the idea of ghost trainers.</a:t>
            </a:r>
          </a:p>
          <a:p>
            <a:r>
              <a:rPr lang="en-US" dirty="0"/>
              <a:t>However, this system lacks an automated feedback loop, which my project aims to address.</a:t>
            </a:r>
          </a:p>
        </p:txBody>
      </p:sp>
      <p:sp>
        <p:nvSpPr>
          <p:cNvPr id="4" name="Slide Number Placeholder 3"/>
          <p:cNvSpPr>
            <a:spLocks noGrp="1"/>
          </p:cNvSpPr>
          <p:nvPr>
            <p:ph type="sldNum" sz="quarter" idx="5"/>
          </p:nvPr>
        </p:nvSpPr>
        <p:spPr/>
        <p:txBody>
          <a:bodyPr/>
          <a:lstStyle/>
          <a:p>
            <a:fld id="{E3F0E897-8437-4E9C-8342-A80BE0E1B52C}" type="slidenum">
              <a:rPr lang="en-IN" smtClean="0"/>
              <a:t>6</a:t>
            </a:fld>
            <a:endParaRPr lang="en-IN"/>
          </a:p>
        </p:txBody>
      </p:sp>
    </p:spTree>
    <p:extLst>
      <p:ext uri="{BB962C8B-B14F-4D97-AF65-F5344CB8AC3E}">
        <p14:creationId xmlns:p14="http://schemas.microsoft.com/office/powerpoint/2010/main" val="742366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2203-445D-1FF2-0825-5FC28BFBCB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8A120FE-2A5E-DB92-FB28-7D737AD7BC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AE3117-86BE-8928-2D61-8C749B199929}"/>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39514433-51A2-CD0A-EF35-6E5D38668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C1818-582B-6BB8-E800-DCA5A35D667F}"/>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093822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C0F5-D0D1-1CE1-AAE0-7F7E38733D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B4248-109C-9C2F-8B1E-59D611F70E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210B7B-54E7-43E2-52F9-E6576D7FD45D}"/>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2C19A518-30EA-3BDE-5AA6-0A5EC3EE85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1586D2-D791-29DB-1BF0-B86D7F95FB89}"/>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633380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7930-2075-8FE9-140D-C1A0E1FD0B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188A16-F2CC-79EA-E1E5-9869A1A9D1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B3D8B5-A2D6-D47B-01B8-71A8E0345033}"/>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CCAAB06F-0F62-8FAC-E9B4-502CF73C8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9DD5D-248B-1FBF-1816-8B730CC2FFCA}"/>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614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8441B-D84E-9DA8-5D94-41735235C7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84229-7DF6-256F-B6EA-302E035214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342A60-EB95-01EA-4FB0-4CE60ED19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A04F76-18FC-3329-ECF9-6B95E28A9AE0}"/>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6" name="Footer Placeholder 5">
            <a:extLst>
              <a:ext uri="{FF2B5EF4-FFF2-40B4-BE49-F238E27FC236}">
                <a16:creationId xmlns:a16="http://schemas.microsoft.com/office/drawing/2014/main" id="{5D2666FF-57AC-0FC0-B419-800BF04852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3843BE-E479-4474-3DB7-635404D5DE16}"/>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58812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1561-58EA-98A9-4148-E323E8C2D5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059EAA-3A28-2F0D-2E28-D17835EFBF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E953F-8791-4C7C-6350-214148ECA5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D9E305-31D6-7BAA-49AA-9BF3122AEE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FF8D1-C839-1A14-40F0-D22751C1A0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C065CA-D153-657F-C731-D7C75CB3576B}"/>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8" name="Footer Placeholder 7">
            <a:extLst>
              <a:ext uri="{FF2B5EF4-FFF2-40B4-BE49-F238E27FC236}">
                <a16:creationId xmlns:a16="http://schemas.microsoft.com/office/drawing/2014/main" id="{5E611BB0-35D3-3A81-17E5-C89D725EB2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5BDF9B-75B7-77C3-3BD4-CBEAD88A8735}"/>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1214582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6E00-F571-4178-92F3-A67B81ADC5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A232B1-F245-25F4-F575-55547BA52F8A}"/>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4" name="Footer Placeholder 3">
            <a:extLst>
              <a:ext uri="{FF2B5EF4-FFF2-40B4-BE49-F238E27FC236}">
                <a16:creationId xmlns:a16="http://schemas.microsoft.com/office/drawing/2014/main" id="{296BA4E9-A64A-3726-89C1-578141EAC9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A94DFE-BC38-33FB-1CC8-EBA428380E10}"/>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2065880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2B3545-F168-D5E6-646E-082C0C97B4FE}"/>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3" name="Footer Placeholder 2">
            <a:extLst>
              <a:ext uri="{FF2B5EF4-FFF2-40B4-BE49-F238E27FC236}">
                <a16:creationId xmlns:a16="http://schemas.microsoft.com/office/drawing/2014/main" id="{258871FF-BB51-DB1F-D5CE-00B6642D37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CD43A5-36C2-F692-8759-DA355ADEB047}"/>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31382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3F41-954F-5BCD-519F-24694DEF4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BAE94E-F951-F0FF-E9E8-641DE7160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0724F0-4DAC-34C2-E31B-5E49368DB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F8E29D-F405-41B5-E301-C0CBA2C8C024}"/>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6" name="Footer Placeholder 5">
            <a:extLst>
              <a:ext uri="{FF2B5EF4-FFF2-40B4-BE49-F238E27FC236}">
                <a16:creationId xmlns:a16="http://schemas.microsoft.com/office/drawing/2014/main" id="{2B1E47ED-77DF-7FF9-EEFF-11BD80051F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45E997-5E3E-A11F-58C8-D9E8A783994A}"/>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26695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A075F-D3A0-246A-9C0B-27CCCABEBF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68CEA4-CAE7-F286-BDC2-F1929AF51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ACB7A0-1DE1-945B-6490-4A2BB410A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D19EFE-D2CD-4F50-92EA-3D0D6241348B}"/>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6" name="Footer Placeholder 5">
            <a:extLst>
              <a:ext uri="{FF2B5EF4-FFF2-40B4-BE49-F238E27FC236}">
                <a16:creationId xmlns:a16="http://schemas.microsoft.com/office/drawing/2014/main" id="{B83C805D-2E8C-C5D0-A9D6-5E66420C0B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E2720F-AED6-37EC-745A-7A9DC30626AD}"/>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760260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B00D-28E2-8DBE-9068-BDCE3FE16A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A141BC-7F3D-EFA6-353C-9C49DAA1B8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3C9F4-A35E-7543-E5C6-ACCDC1467A58}"/>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FDA1C37F-CF5C-67CB-D805-57740D3383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DC895-2F44-5218-9F98-FEE602E5B669}"/>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927047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F549F7-3E2C-C8EA-BF2E-B49B98F93A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1471AA-82EB-E02E-9255-44EB7204A5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644751-ED20-0131-C95A-0AAB04FF2AEC}"/>
              </a:ext>
            </a:extLst>
          </p:cNvPr>
          <p:cNvSpPr>
            <a:spLocks noGrp="1"/>
          </p:cNvSpPr>
          <p:nvPr>
            <p:ph type="dt" sz="half" idx="10"/>
          </p:nvPr>
        </p:nvSpPr>
        <p:spPr/>
        <p:txBody>
          <a:body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2AEF5490-33B7-4039-607E-385940A60A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A4C0E-8AC4-1DD7-D5FD-38E068EDA993}"/>
              </a:ext>
            </a:extLst>
          </p:cNvPr>
          <p:cNvSpPr>
            <a:spLocks noGrp="1"/>
          </p:cNvSpPr>
          <p:nvPr>
            <p:ph type="sldNum" sz="quarter" idx="12"/>
          </p:nvPr>
        </p:nvSpPr>
        <p:spPr/>
        <p:txBody>
          <a:bodyPr/>
          <a:lstStyle/>
          <a:p>
            <a:fld id="{622E7A9C-C7C3-426D-89FC-B8A08B2A8F9B}" type="slidenum">
              <a:rPr lang="en-IN" smtClean="0"/>
              <a:t>‹#›</a:t>
            </a:fld>
            <a:endParaRPr lang="en-IN"/>
          </a:p>
        </p:txBody>
      </p:sp>
    </p:spTree>
    <p:extLst>
      <p:ext uri="{BB962C8B-B14F-4D97-AF65-F5344CB8AC3E}">
        <p14:creationId xmlns:p14="http://schemas.microsoft.com/office/powerpoint/2010/main" val="32387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AA5B60-C512-E10C-687A-F9C1B8D88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1EF491-A607-960A-E6C7-34112FCB38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F77DCE-66D9-F82C-1E58-ACAAB6C712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C48ACE-AE27-47B1-B7D4-7EF694A9D53C}" type="datetimeFigureOut">
              <a:rPr lang="en-IN" smtClean="0"/>
              <a:t>27-01-2026</a:t>
            </a:fld>
            <a:endParaRPr lang="en-IN"/>
          </a:p>
        </p:txBody>
      </p:sp>
      <p:sp>
        <p:nvSpPr>
          <p:cNvPr id="5" name="Footer Placeholder 4">
            <a:extLst>
              <a:ext uri="{FF2B5EF4-FFF2-40B4-BE49-F238E27FC236}">
                <a16:creationId xmlns:a16="http://schemas.microsoft.com/office/drawing/2014/main" id="{95BB7BA5-6928-2166-0D60-D721FEC806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B0997-EBB1-84F8-E639-B6CABE4000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2E7A9C-C7C3-426D-89FC-B8A08B2A8F9B}" type="slidenum">
              <a:rPr lang="en-IN" smtClean="0"/>
              <a:t>‹#›</a:t>
            </a:fld>
            <a:endParaRPr lang="en-IN"/>
          </a:p>
        </p:txBody>
      </p:sp>
    </p:spTree>
    <p:extLst>
      <p:ext uri="{BB962C8B-B14F-4D97-AF65-F5344CB8AC3E}">
        <p14:creationId xmlns:p14="http://schemas.microsoft.com/office/powerpoint/2010/main" val="92703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openaccess.thecvf.com/content/CVPR2023W/CVSports/papers/Deyzel_One-Shot_Skeleton-Based_Action_Recognition_on_Strength_and_Conditioning_Exercises_CVPRW_2023_paper.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ublication/379958550_Real-time_pose_estimation_and_motion_tracking_for_motion_performance_using_deep_learning_model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arxiv.org/abs/2405.18565"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researchgate.net/figure/Illustration-of-human-body-estimation-COCO17-keypoints_fig4_397837979"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57F2C-96EE-81E3-E3D3-CEA0276A220B}"/>
              </a:ext>
            </a:extLst>
          </p:cNvPr>
          <p:cNvSpPr>
            <a:spLocks noGrp="1"/>
          </p:cNvSpPr>
          <p:nvPr>
            <p:ph type="ctrTitle"/>
          </p:nvPr>
        </p:nvSpPr>
        <p:spPr>
          <a:xfrm>
            <a:off x="1295400" y="868362"/>
            <a:ext cx="9601200" cy="2387600"/>
          </a:xfrm>
        </p:spPr>
        <p:txBody>
          <a:bodyPr>
            <a:normAutofit fontScale="90000"/>
          </a:bodyPr>
          <a:lstStyle/>
          <a:p>
            <a:r>
              <a:rPr lang="en-US" dirty="0"/>
              <a:t>An AR-Based Coaching System for Kabaddi Using Pose Estimation and LLM Feedback</a:t>
            </a:r>
            <a:endParaRPr lang="en-IN" dirty="0"/>
          </a:p>
        </p:txBody>
      </p:sp>
      <p:sp>
        <p:nvSpPr>
          <p:cNvPr id="6" name="Subtitle 2">
            <a:extLst>
              <a:ext uri="{FF2B5EF4-FFF2-40B4-BE49-F238E27FC236}">
                <a16:creationId xmlns:a16="http://schemas.microsoft.com/office/drawing/2014/main" id="{33E9484C-A76D-28D9-0D4D-689D97D6C98E}"/>
              </a:ext>
            </a:extLst>
          </p:cNvPr>
          <p:cNvSpPr txBox="1">
            <a:spLocks/>
          </p:cNvSpPr>
          <p:nvPr/>
        </p:nvSpPr>
        <p:spPr>
          <a:xfrm>
            <a:off x="1524000" y="422871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Arial" panose="020B0604020202020204" pitchFamily="34" charset="0"/>
                <a:cs typeface="Arial" panose="020B0604020202020204" pitchFamily="34" charset="0"/>
              </a:rPr>
              <a:t>Dr. T. </a:t>
            </a:r>
            <a:r>
              <a:rPr lang="en-US" i="1" dirty="0">
                <a:latin typeface="Arial" panose="020B0604020202020204" pitchFamily="34" charset="0"/>
                <a:cs typeface="Arial" panose="020B0604020202020204" pitchFamily="34" charset="0"/>
              </a:rPr>
              <a:t>Mala</a:t>
            </a:r>
            <a:r>
              <a:rPr lang="en-IN" dirty="0">
                <a:latin typeface="Arial" panose="020B0604020202020204" pitchFamily="34" charset="0"/>
                <a:cs typeface="Arial" panose="020B0604020202020204" pitchFamily="34" charset="0"/>
              </a:rPr>
              <a:t>,					    Mohamed Ibrahim MS,</a:t>
            </a:r>
          </a:p>
          <a:p>
            <a:pPr algn="l"/>
            <a:r>
              <a:rPr lang="en-IN" dirty="0">
                <a:latin typeface="Arial" panose="020B0604020202020204" pitchFamily="34" charset="0"/>
                <a:cs typeface="Arial" panose="020B0604020202020204" pitchFamily="34" charset="0"/>
              </a:rPr>
              <a:t>Professor,						          2024178011</a:t>
            </a:r>
          </a:p>
        </p:txBody>
      </p:sp>
    </p:spTree>
    <p:extLst>
      <p:ext uri="{BB962C8B-B14F-4D97-AF65-F5344CB8AC3E}">
        <p14:creationId xmlns:p14="http://schemas.microsoft.com/office/powerpoint/2010/main" val="223134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C055-8BC1-A003-6B4D-8C519D940F1E}"/>
              </a:ext>
            </a:extLst>
          </p:cNvPr>
          <p:cNvSpPr>
            <a:spLocks noGrp="1"/>
          </p:cNvSpPr>
          <p:nvPr>
            <p:ph type="title"/>
          </p:nvPr>
        </p:nvSpPr>
        <p:spPr>
          <a:xfrm>
            <a:off x="838199" y="68792"/>
            <a:ext cx="10515600" cy="1325563"/>
          </a:xfrm>
        </p:spPr>
        <p:txBody>
          <a:bodyPr/>
          <a:lstStyle/>
          <a:p>
            <a:r>
              <a:rPr lang="en-IN" b="1" dirty="0"/>
              <a:t>1. Introduction</a:t>
            </a:r>
          </a:p>
        </p:txBody>
      </p:sp>
      <p:sp>
        <p:nvSpPr>
          <p:cNvPr id="5" name="Rectangle 2">
            <a:extLst>
              <a:ext uri="{FF2B5EF4-FFF2-40B4-BE49-F238E27FC236}">
                <a16:creationId xmlns:a16="http://schemas.microsoft.com/office/drawing/2014/main" id="{779BE586-6C07-37E3-4399-B708E5FF27C2}"/>
              </a:ext>
            </a:extLst>
          </p:cNvPr>
          <p:cNvSpPr>
            <a:spLocks noGrp="1" noChangeArrowheads="1"/>
          </p:cNvSpPr>
          <p:nvPr>
            <p:ph idx="1"/>
          </p:nvPr>
        </p:nvSpPr>
        <p:spPr bwMode="auto">
          <a:xfrm>
            <a:off x="838199" y="1753116"/>
            <a:ext cx="110913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Kabaddi is a high-intensity contact sport that requires explosive movements such as </a:t>
            </a:r>
            <a:r>
              <a:rPr kumimoji="0" lang="en-US" altLang="en-US" sz="2000" b="1" i="0" u="none" strike="noStrike" cap="none" normalizeH="0" baseline="0" dirty="0">
                <a:ln>
                  <a:noFill/>
                </a:ln>
                <a:solidFill>
                  <a:schemeClr val="tx1"/>
                </a:solidFill>
                <a:effectLst/>
                <a:latin typeface="Arial" panose="020B0604020202020204" pitchFamily="34" charset="0"/>
              </a:rPr>
              <a:t>toe-touch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scorpion kick</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hand touch</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dubki</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bonus step</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jump raid</a:t>
            </a:r>
            <a:r>
              <a:rPr kumimoji="0" lang="en-US" altLang="en-US" sz="2000" b="0" i="0" u="none" strike="noStrike" cap="none" normalizeH="0" baseline="0" dirty="0">
                <a:ln>
                  <a:noFill/>
                </a:ln>
                <a:solidFill>
                  <a:schemeClr val="tx1"/>
                </a:solidFill>
                <a:effectLst/>
                <a:latin typeface="Arial" panose="020B0604020202020204" pitchFamily="34" charset="0"/>
              </a:rPr>
              <a:t>. Mastery of these skills demands precise timing, balance, and body coordination.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Players—especially beginners—often struggle to correctly learn these techniques because </a:t>
            </a:r>
            <a:r>
              <a:rPr kumimoji="0" lang="en-US" altLang="en-US" sz="2000" b="1" i="0" u="none" strike="noStrike" cap="none" normalizeH="0" baseline="0" dirty="0">
                <a:ln>
                  <a:noFill/>
                </a:ln>
                <a:solidFill>
                  <a:schemeClr val="tx1"/>
                </a:solidFill>
                <a:effectLst/>
                <a:latin typeface="Arial" panose="020B0604020202020204" pitchFamily="34" charset="0"/>
              </a:rPr>
              <a:t>visual demonstrations are brief</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coaches may not always be available</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players cannot see their own mistakes in real time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This project introduces an </a:t>
            </a:r>
            <a:r>
              <a:rPr kumimoji="0" lang="en-US" altLang="en-US" sz="2000" b="1" i="0" u="none" strike="noStrike" cap="none" normalizeH="0" baseline="0" dirty="0">
                <a:ln>
                  <a:noFill/>
                </a:ln>
                <a:solidFill>
                  <a:schemeClr val="tx1"/>
                </a:solidFill>
                <a:effectLst/>
                <a:latin typeface="Arial" panose="020B0604020202020204" pitchFamily="34" charset="0"/>
              </a:rPr>
              <a:t>AR-based Kabaddi Ghost Trainer</a:t>
            </a:r>
            <a:r>
              <a:rPr kumimoji="0" lang="en-US" altLang="en-US" sz="2000" b="0" i="0" u="none" strike="noStrike" cap="none" normalizeH="0" baseline="0" dirty="0">
                <a:ln>
                  <a:noFill/>
                </a:ln>
                <a:solidFill>
                  <a:schemeClr val="tx1"/>
                </a:solidFill>
                <a:effectLst/>
                <a:latin typeface="Arial" panose="020B0604020202020204" pitchFamily="34" charset="0"/>
              </a:rPr>
              <a:t>, where a virtual avatar demonstrates reference moves and the system evaluates how closely the player replicates them using </a:t>
            </a:r>
            <a:r>
              <a:rPr kumimoji="0" lang="en-US" altLang="en-US" sz="2000" b="1" i="0" u="none" strike="noStrike" cap="none" normalizeH="0" baseline="0" dirty="0">
                <a:ln>
                  <a:noFill/>
                </a:ln>
                <a:solidFill>
                  <a:schemeClr val="tx1"/>
                </a:solidFill>
                <a:effectLst/>
                <a:latin typeface="Arial" panose="020B0604020202020204" pitchFamily="34" charset="0"/>
              </a:rPr>
              <a:t>pose estimation, sequence comparison, and feedback generation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Arial" panose="020B0604020202020204" pitchFamily="34" charset="0"/>
              </a:rPr>
              <a:t>The goal is to help Kabaddi learners practice independently, receive </a:t>
            </a:r>
            <a:r>
              <a:rPr kumimoji="0" lang="en-US" altLang="en-US" sz="2000" b="1" i="0" u="none" strike="noStrike" cap="none" normalizeH="0" baseline="0" dirty="0">
                <a:ln>
                  <a:noFill/>
                </a:ln>
                <a:solidFill>
                  <a:schemeClr val="tx1"/>
                </a:solidFill>
                <a:effectLst/>
                <a:latin typeface="Arial" panose="020B0604020202020204" pitchFamily="34" charset="0"/>
              </a:rPr>
              <a:t>real-time correction cues</a:t>
            </a:r>
            <a:r>
              <a:rPr kumimoji="0" lang="en-US" altLang="en-US" sz="2000" b="0" i="0" u="none" strike="noStrike" cap="none" normalizeH="0" baseline="0" dirty="0">
                <a:ln>
                  <a:noFill/>
                </a:ln>
                <a:solidFill>
                  <a:schemeClr val="tx1"/>
                </a:solidFill>
                <a:effectLst/>
                <a:latin typeface="Arial" panose="020B0604020202020204" pitchFamily="34" charset="0"/>
              </a:rPr>
              <a:t>, and improve movements with clear visual and data-driven guidance.</a:t>
            </a:r>
          </a:p>
        </p:txBody>
      </p:sp>
    </p:spTree>
    <p:extLst>
      <p:ext uri="{BB962C8B-B14F-4D97-AF65-F5344CB8AC3E}">
        <p14:creationId xmlns:p14="http://schemas.microsoft.com/office/powerpoint/2010/main" val="919927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80AF3-0C72-D0CF-0EF0-4B6CC22FBBBD}"/>
              </a:ext>
            </a:extLst>
          </p:cNvPr>
          <p:cNvSpPr>
            <a:spLocks noGrp="1"/>
          </p:cNvSpPr>
          <p:nvPr>
            <p:ph type="title"/>
          </p:nvPr>
        </p:nvSpPr>
        <p:spPr>
          <a:xfrm>
            <a:off x="692852" y="180058"/>
            <a:ext cx="10515600" cy="949429"/>
          </a:xfrm>
        </p:spPr>
        <p:txBody>
          <a:bodyPr/>
          <a:lstStyle/>
          <a:p>
            <a:r>
              <a:rPr lang="en-IN" b="1" dirty="0"/>
              <a:t>2. Introduction (Kabaddi skills)</a:t>
            </a:r>
          </a:p>
        </p:txBody>
      </p:sp>
      <p:sp>
        <p:nvSpPr>
          <p:cNvPr id="4" name="Rectangle 1">
            <a:extLst>
              <a:ext uri="{FF2B5EF4-FFF2-40B4-BE49-F238E27FC236}">
                <a16:creationId xmlns:a16="http://schemas.microsoft.com/office/drawing/2014/main" id="{3BA1B766-358F-EA49-FF03-2F37ACBB6C73}"/>
              </a:ext>
            </a:extLst>
          </p:cNvPr>
          <p:cNvSpPr>
            <a:spLocks noGrp="1" noChangeArrowheads="1"/>
          </p:cNvSpPr>
          <p:nvPr>
            <p:ph idx="1"/>
          </p:nvPr>
        </p:nvSpPr>
        <p:spPr bwMode="auto">
          <a:xfrm>
            <a:off x="692849" y="1273155"/>
            <a:ext cx="455253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400" b="1" dirty="0">
                <a:latin typeface="Arial" panose="020B0604020202020204" pitchFamily="34" charset="0"/>
              </a:rPr>
              <a:t>T</a:t>
            </a:r>
            <a:r>
              <a:rPr kumimoji="0" lang="en-US" altLang="en-US" sz="1400" b="1" i="0" u="none" strike="noStrike" cap="none" normalizeH="0" baseline="0" dirty="0">
                <a:ln>
                  <a:noFill/>
                </a:ln>
                <a:solidFill>
                  <a:schemeClr val="tx1"/>
                </a:solidFill>
                <a:effectLst/>
                <a:latin typeface="Arial" panose="020B0604020202020204" pitchFamily="34" charset="0"/>
              </a:rPr>
              <a:t>oe Touch</a:t>
            </a:r>
            <a:endParaRPr lang="en-US" altLang="en-US" sz="1400" dirty="0">
              <a:latin typeface="Arial" panose="020B0604020202020204" pitchFamily="34" charset="0"/>
            </a:endParaRPr>
          </a:p>
          <a:p>
            <a:pPr lvl="1"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quick forward extension of the leg to tap the defender while maintaining balance.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09EA67F-8570-0D8F-11C4-7B1103D0CFE0}"/>
              </a:ext>
            </a:extLst>
          </p:cNvPr>
          <p:cNvSpPr txBox="1"/>
          <p:nvPr/>
        </p:nvSpPr>
        <p:spPr>
          <a:xfrm>
            <a:off x="6096000" y="5320883"/>
            <a:ext cx="4552533" cy="1384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Scorpion Kick</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backward high kick performed when facing away from the defender.</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A575C5E-4C14-9FB2-8428-E5C74FF57FE0}"/>
              </a:ext>
            </a:extLst>
          </p:cNvPr>
          <p:cNvSpPr txBox="1"/>
          <p:nvPr/>
        </p:nvSpPr>
        <p:spPr>
          <a:xfrm>
            <a:off x="692849" y="5343131"/>
            <a:ext cx="4552533" cy="1384995"/>
          </a:xfrm>
          <a:prstGeom prst="rect">
            <a:avLst/>
          </a:prstGeom>
          <a:noFill/>
        </p:spPr>
        <p:txBody>
          <a:bodyPr wrap="square">
            <a:spAutoFit/>
          </a:bodyPr>
          <a:lstStyle/>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Arial" panose="020B0604020202020204" pitchFamily="34" charset="0"/>
              </a:rPr>
              <a:t>Jump Raid</a:t>
            </a:r>
            <a:r>
              <a:rPr lang="en-US" altLang="en-US" sz="1400" b="1" dirty="0">
                <a:latin typeface="Arial" panose="020B0604020202020204" pitchFamily="34" charset="0"/>
              </a:rPr>
              <a:t> (Dive Escape)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leap over defenders to avoid blocks while maintaining raid rhythm.</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lvl="8" eaLnBrk="0" fontAlgn="base" hangingPunct="0">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EFA58B45-F2D7-09E1-018C-C5425F5DCD2D}"/>
              </a:ext>
            </a:extLst>
          </p:cNvPr>
          <p:cNvSpPr txBox="1"/>
          <p:nvPr/>
        </p:nvSpPr>
        <p:spPr>
          <a:xfrm>
            <a:off x="692849" y="4389024"/>
            <a:ext cx="4552533" cy="9541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Hand Touch / Running Hand Touch</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Fast hand extension during forward motion to tag defenders.</a:t>
            </a:r>
          </a:p>
          <a:p>
            <a:pPr marL="457200" lvl="1" indent="0" eaLnBrk="0" fontAlgn="base" hangingPunct="0">
              <a:lnSpc>
                <a:spcPct val="100000"/>
              </a:lnSpc>
              <a:spcBef>
                <a:spcPct val="0"/>
              </a:spcBef>
              <a:spcAft>
                <a:spcPct val="0"/>
              </a:spcAft>
              <a:buFontTx/>
              <a:buChar char="•"/>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B7B0A4ED-1434-D6F6-4960-E2D21DC3BC71}"/>
              </a:ext>
            </a:extLst>
          </p:cNvPr>
          <p:cNvSpPr txBox="1"/>
          <p:nvPr/>
        </p:nvSpPr>
        <p:spPr>
          <a:xfrm>
            <a:off x="692849" y="3220482"/>
            <a:ext cx="4552533" cy="738664"/>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Dubki</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low-body dive used to slip under a defender’s block.</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3F31ABE9-4067-517E-1762-63077D6C0C63}"/>
              </a:ext>
            </a:extLst>
          </p:cNvPr>
          <p:cNvSpPr txBox="1"/>
          <p:nvPr/>
        </p:nvSpPr>
        <p:spPr>
          <a:xfrm>
            <a:off x="692849" y="2265365"/>
            <a:ext cx="4552533"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Bonus Step</a:t>
            </a:r>
            <a:endParaRPr lang="en-US" altLang="en-US" sz="1400" dirty="0">
              <a:latin typeface="Arial" panose="020B0604020202020204" pitchFamily="34" charset="0"/>
            </a:endParaRPr>
          </a:p>
          <a:p>
            <a:pPr marL="742950" lvl="1" indent="-285750" eaLnBrk="0" fontAlgn="base" hangingPunct="0">
              <a:lnSpc>
                <a:spcPct val="100000"/>
              </a:lnSpc>
              <a:spcBef>
                <a:spcPct val="0"/>
              </a:spcBef>
              <a:spcAft>
                <a:spcPct val="0"/>
              </a:spcAft>
              <a:buFont typeface="Wingdings" panose="05000000000000000000" pitchFamily="2" charset="2"/>
              <a:buChar char="Ø"/>
            </a:pPr>
            <a:r>
              <a:rPr kumimoji="0" lang="en-US" altLang="en-US" sz="1400" b="0" i="1" u="none" strike="noStrike" cap="none" normalizeH="0" baseline="0" dirty="0">
                <a:ln>
                  <a:noFill/>
                </a:ln>
                <a:solidFill>
                  <a:schemeClr val="tx1"/>
                </a:solidFill>
                <a:effectLst/>
                <a:latin typeface="Arial" panose="020B0604020202020204" pitchFamily="34" charset="0"/>
              </a:rPr>
              <a:t>A long stride into the bonus line using body stretch and hip flexibility.</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E3BA881-13A0-93D3-49F2-74A86D764D15}"/>
              </a:ext>
            </a:extLst>
          </p:cNvPr>
          <p:cNvSpPr txBox="1"/>
          <p:nvPr/>
        </p:nvSpPr>
        <p:spPr>
          <a:xfrm>
            <a:off x="6096000" y="1273155"/>
            <a:ext cx="6094674" cy="523220"/>
          </a:xfrm>
          <a:prstGeom prst="rect">
            <a:avLst/>
          </a:prstGeom>
          <a:noFill/>
        </p:spPr>
        <p:txBody>
          <a:bodyPr wrap="square">
            <a:spAutoFit/>
          </a:bodyPr>
          <a:lstStyle/>
          <a:p>
            <a:pPr eaLnBrk="0" fontAlgn="base" hangingPunct="0">
              <a:spcBef>
                <a:spcPct val="0"/>
              </a:spcBef>
              <a:spcAft>
                <a:spcPct val="0"/>
              </a:spcAft>
            </a:pPr>
            <a:r>
              <a:rPr lang="en-IN" sz="1400" b="1" dirty="0">
                <a:latin typeface="Arial" panose="020B0604020202020204" pitchFamily="34" charset="0"/>
              </a:rPr>
              <a:t>Ankle Hold Pose</a:t>
            </a:r>
          </a:p>
          <a:p>
            <a:pPr marL="742950" lvl="1" indent="-285750">
              <a:buFont typeface="Wingdings" panose="05000000000000000000" pitchFamily="2" charset="2"/>
              <a:buChar char="Ø"/>
            </a:pPr>
            <a:r>
              <a:rPr lang="en-IN" sz="1400" i="1" dirty="0">
                <a:latin typeface="Arial" panose="020B0604020202020204" pitchFamily="34" charset="0"/>
              </a:rPr>
              <a:t>Forward lunge targeting ankle</a:t>
            </a:r>
          </a:p>
        </p:txBody>
      </p:sp>
      <p:sp>
        <p:nvSpPr>
          <p:cNvPr id="9" name="TextBox 8">
            <a:extLst>
              <a:ext uri="{FF2B5EF4-FFF2-40B4-BE49-F238E27FC236}">
                <a16:creationId xmlns:a16="http://schemas.microsoft.com/office/drawing/2014/main" id="{D21F2957-7C1D-0C9C-313D-5A263E11D609}"/>
              </a:ext>
            </a:extLst>
          </p:cNvPr>
          <p:cNvSpPr txBox="1"/>
          <p:nvPr/>
        </p:nvSpPr>
        <p:spPr>
          <a:xfrm>
            <a:off x="6096000" y="2271077"/>
            <a:ext cx="6094674" cy="523220"/>
          </a:xfrm>
          <a:prstGeom prst="rect">
            <a:avLst/>
          </a:prstGeom>
          <a:noFill/>
        </p:spPr>
        <p:txBody>
          <a:bodyPr wrap="square">
            <a:spAutoFit/>
          </a:bodyPr>
          <a:lstStyle/>
          <a:p>
            <a:pPr eaLnBrk="0" fontAlgn="base" hangingPunct="0">
              <a:spcBef>
                <a:spcPct val="0"/>
              </a:spcBef>
              <a:spcAft>
                <a:spcPct val="0"/>
              </a:spcAft>
            </a:pPr>
            <a:r>
              <a:rPr lang="en-US" sz="1400" b="1" dirty="0">
                <a:latin typeface="Arial" panose="020B0604020202020204" pitchFamily="34" charset="0"/>
              </a:rPr>
              <a:t>Thigh Hold Pose</a:t>
            </a:r>
          </a:p>
          <a:p>
            <a:pPr marL="742950" lvl="1" indent="-285750">
              <a:buFont typeface="Wingdings" panose="05000000000000000000" pitchFamily="2" charset="2"/>
              <a:buChar char="Ø"/>
            </a:pPr>
            <a:r>
              <a:rPr lang="en-US" sz="1400" i="1" dirty="0">
                <a:latin typeface="Arial" panose="020B0604020202020204" pitchFamily="34" charset="0"/>
              </a:rPr>
              <a:t>Side-entry tackle posture</a:t>
            </a:r>
          </a:p>
        </p:txBody>
      </p:sp>
      <p:sp>
        <p:nvSpPr>
          <p:cNvPr id="13" name="TextBox 12">
            <a:extLst>
              <a:ext uri="{FF2B5EF4-FFF2-40B4-BE49-F238E27FC236}">
                <a16:creationId xmlns:a16="http://schemas.microsoft.com/office/drawing/2014/main" id="{CCB71F2A-D866-CCE7-5C3C-9313D0EEA0DA}"/>
              </a:ext>
            </a:extLst>
          </p:cNvPr>
          <p:cNvSpPr txBox="1"/>
          <p:nvPr/>
        </p:nvSpPr>
        <p:spPr>
          <a:xfrm>
            <a:off x="6096000" y="3220482"/>
            <a:ext cx="5112452" cy="738664"/>
          </a:xfrm>
          <a:prstGeom prst="rect">
            <a:avLst/>
          </a:prstGeom>
          <a:noFill/>
        </p:spPr>
        <p:txBody>
          <a:bodyPr wrap="square">
            <a:spAutoFit/>
          </a:bodyPr>
          <a:lstStyle/>
          <a:p>
            <a:pPr eaLnBrk="0" fontAlgn="base" hangingPunct="0">
              <a:spcBef>
                <a:spcPct val="0"/>
              </a:spcBef>
              <a:spcAft>
                <a:spcPct val="0"/>
              </a:spcAft>
            </a:pPr>
            <a:r>
              <a:rPr lang="en-US" sz="1400" b="1" dirty="0">
                <a:latin typeface="Arial" panose="020B0604020202020204" pitchFamily="34" charset="0"/>
              </a:rPr>
              <a:t>Chain Tackle Formation Pose</a:t>
            </a:r>
          </a:p>
          <a:p>
            <a:pPr marL="742950" lvl="1" indent="-285750">
              <a:buFont typeface="Wingdings" panose="05000000000000000000" pitchFamily="2" charset="2"/>
              <a:buChar char="Ø"/>
            </a:pPr>
            <a:r>
              <a:rPr lang="en-US" sz="1400" i="1" dirty="0">
                <a:latin typeface="Arial" panose="020B0604020202020204" pitchFamily="34" charset="0"/>
              </a:rPr>
              <a:t>Coordinated multi-player defensive posture to tackle a rider</a:t>
            </a:r>
          </a:p>
        </p:txBody>
      </p:sp>
      <p:sp>
        <p:nvSpPr>
          <p:cNvPr id="16" name="TextBox 15">
            <a:extLst>
              <a:ext uri="{FF2B5EF4-FFF2-40B4-BE49-F238E27FC236}">
                <a16:creationId xmlns:a16="http://schemas.microsoft.com/office/drawing/2014/main" id="{27DB579F-C8E7-7977-4E0D-3AD12B621452}"/>
              </a:ext>
            </a:extLst>
          </p:cNvPr>
          <p:cNvSpPr txBox="1"/>
          <p:nvPr/>
        </p:nvSpPr>
        <p:spPr>
          <a:xfrm>
            <a:off x="6096000" y="4366776"/>
            <a:ext cx="5433391" cy="738664"/>
          </a:xfrm>
          <a:prstGeom prst="rect">
            <a:avLst/>
          </a:prstGeom>
          <a:noFill/>
        </p:spPr>
        <p:txBody>
          <a:bodyPr wrap="square">
            <a:spAutoFit/>
          </a:bodyPr>
          <a:lstStyle/>
          <a:p>
            <a:pPr eaLnBrk="0" fontAlgn="base" hangingPunct="0">
              <a:spcBef>
                <a:spcPct val="0"/>
              </a:spcBef>
              <a:spcAft>
                <a:spcPct val="0"/>
              </a:spcAft>
            </a:pPr>
            <a:r>
              <a:rPr lang="en-US" sz="1400" b="1" dirty="0">
                <a:latin typeface="Arial" panose="020B0604020202020204" pitchFamily="34" charset="0"/>
              </a:rPr>
              <a:t>Running Raid Pose</a:t>
            </a:r>
          </a:p>
          <a:p>
            <a:pPr marL="742950" lvl="1" indent="-285750">
              <a:buFont typeface="Wingdings" panose="05000000000000000000" pitchFamily="2" charset="2"/>
              <a:buChar char="Ø"/>
            </a:pPr>
            <a:r>
              <a:rPr lang="en-US" sz="1400" i="1" dirty="0">
                <a:latin typeface="Arial" panose="020B0604020202020204" pitchFamily="34" charset="0"/>
              </a:rPr>
              <a:t>Continuous forward locomotion Used before hand touch or toe touch</a:t>
            </a:r>
          </a:p>
        </p:txBody>
      </p:sp>
    </p:spTree>
    <p:extLst>
      <p:ext uri="{BB962C8B-B14F-4D97-AF65-F5344CB8AC3E}">
        <p14:creationId xmlns:p14="http://schemas.microsoft.com/office/powerpoint/2010/main" val="261538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62BF-4D66-0FBD-2209-6DC6EB81DFFC}"/>
              </a:ext>
            </a:extLst>
          </p:cNvPr>
          <p:cNvSpPr>
            <a:spLocks noGrp="1"/>
          </p:cNvSpPr>
          <p:nvPr>
            <p:ph type="title"/>
          </p:nvPr>
        </p:nvSpPr>
        <p:spPr/>
        <p:txBody>
          <a:bodyPr>
            <a:normAutofit/>
          </a:bodyPr>
          <a:lstStyle/>
          <a:p>
            <a:r>
              <a:rPr lang="en-IN" b="1" dirty="0"/>
              <a:t>2. Problem Statement</a:t>
            </a:r>
          </a:p>
        </p:txBody>
      </p:sp>
      <p:sp>
        <p:nvSpPr>
          <p:cNvPr id="3" name="Content Placeholder 2">
            <a:extLst>
              <a:ext uri="{FF2B5EF4-FFF2-40B4-BE49-F238E27FC236}">
                <a16:creationId xmlns:a16="http://schemas.microsoft.com/office/drawing/2014/main" id="{A14E347D-8933-510D-B4A5-0ACDD08B3161}"/>
              </a:ext>
            </a:extLst>
          </p:cNvPr>
          <p:cNvSpPr>
            <a:spLocks noGrp="1"/>
          </p:cNvSpPr>
          <p:nvPr>
            <p:ph idx="1"/>
          </p:nvPr>
        </p:nvSpPr>
        <p:spPr/>
        <p:txBody>
          <a:bodyPr>
            <a:normAutofit fontScale="77500" lnSpcReduction="20000"/>
          </a:bodyPr>
          <a:lstStyle/>
          <a:p>
            <a:pPr marL="0" indent="0">
              <a:buNone/>
            </a:pPr>
            <a:r>
              <a:rPr lang="en-US" b="1" dirty="0"/>
              <a:t>Problem:</a:t>
            </a:r>
          </a:p>
          <a:p>
            <a:pPr lvl="1">
              <a:buFont typeface="Wingdings" panose="05000000000000000000" pitchFamily="2" charset="2"/>
              <a:buChar char="Ø"/>
            </a:pPr>
            <a:r>
              <a:rPr lang="en-US" sz="2600" dirty="0"/>
              <a:t>Kabaddi learners lack continuous visual guidance, real-time correction, and objective scoring, making it difficult to accurately replicate advanced movements.</a:t>
            </a:r>
          </a:p>
          <a:p>
            <a:pPr marL="457200" lvl="1" indent="0">
              <a:buNone/>
            </a:pPr>
            <a:endParaRPr lang="en-US" dirty="0"/>
          </a:p>
          <a:p>
            <a:pPr marL="0" indent="0">
              <a:buNone/>
            </a:pPr>
            <a:r>
              <a:rPr lang="en-US" b="1" dirty="0"/>
              <a:t>Solutions Provided By the Proposed System:</a:t>
            </a:r>
            <a:endParaRPr lang="en-US" dirty="0"/>
          </a:p>
          <a:p>
            <a:pPr lvl="1">
              <a:buFont typeface="Wingdings" panose="05000000000000000000" pitchFamily="2" charset="2"/>
              <a:buChar char="Ø"/>
            </a:pPr>
            <a:r>
              <a:rPr lang="en-US" b="1" dirty="0"/>
              <a:t>AR Playback of Reference Moves</a:t>
            </a:r>
          </a:p>
          <a:p>
            <a:pPr lvl="2"/>
            <a:r>
              <a:rPr lang="en-US" sz="2300" dirty="0"/>
              <a:t>Players can view a 3D/AR “ghost” demonstrating the correct technique, allowing them to mimic the move with proper angle and timing.</a:t>
            </a:r>
          </a:p>
          <a:p>
            <a:pPr lvl="1">
              <a:buFont typeface="Wingdings" panose="05000000000000000000" pitchFamily="2" charset="2"/>
              <a:buChar char="Ø"/>
            </a:pPr>
            <a:r>
              <a:rPr lang="en-US" b="1" dirty="0"/>
              <a:t>Automated Movement Analysis</a:t>
            </a:r>
          </a:p>
          <a:p>
            <a:pPr lvl="2"/>
            <a:r>
              <a:rPr lang="en-US" sz="2300" dirty="0"/>
              <a:t>The user's captured movement is processed using pose estimation and compared with expert reference sequences.</a:t>
            </a:r>
          </a:p>
          <a:p>
            <a:pPr lvl="1">
              <a:buFont typeface="Wingdings" panose="05000000000000000000" pitchFamily="2" charset="2"/>
              <a:buChar char="Ø"/>
            </a:pPr>
            <a:r>
              <a:rPr lang="en-US" b="1" dirty="0"/>
              <a:t>Error Identification</a:t>
            </a:r>
          </a:p>
          <a:p>
            <a:pPr lvl="2"/>
            <a:r>
              <a:rPr lang="en-US" sz="2300" dirty="0"/>
              <a:t>Joint-wise mistakes, timing mismatches, and posture deviations are detected using similarity metrics and threshold-based classifiers.</a:t>
            </a:r>
          </a:p>
          <a:p>
            <a:pPr lvl="1">
              <a:buFont typeface="Wingdings" panose="05000000000000000000" pitchFamily="2" charset="2"/>
              <a:buChar char="Ø"/>
            </a:pPr>
            <a:r>
              <a:rPr lang="en-US" b="1" dirty="0"/>
              <a:t>LLM-Generated Coaching Feedback</a:t>
            </a:r>
          </a:p>
          <a:p>
            <a:pPr lvl="2"/>
            <a:r>
              <a:rPr lang="en-US" sz="2300" dirty="0"/>
              <a:t>The system produces simple, actionable instructions (“Raise your right elbow higher”, “Lean less forward”, etc.) to guide improvement.</a:t>
            </a:r>
          </a:p>
          <a:p>
            <a:pPr marL="0" indent="0">
              <a:buNone/>
            </a:pPr>
            <a:endParaRPr lang="en-IN" dirty="0"/>
          </a:p>
        </p:txBody>
      </p:sp>
    </p:spTree>
    <p:extLst>
      <p:ext uri="{BB962C8B-B14F-4D97-AF65-F5344CB8AC3E}">
        <p14:creationId xmlns:p14="http://schemas.microsoft.com/office/powerpoint/2010/main" val="45999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7ADAB-7DD9-CBDC-3A37-A5B049A34D14}"/>
              </a:ext>
            </a:extLst>
          </p:cNvPr>
          <p:cNvSpPr>
            <a:spLocks noGrp="1"/>
          </p:cNvSpPr>
          <p:nvPr>
            <p:ph type="title"/>
          </p:nvPr>
        </p:nvSpPr>
        <p:spPr>
          <a:xfrm>
            <a:off x="838199" y="-245532"/>
            <a:ext cx="10515600" cy="1571096"/>
          </a:xfrm>
        </p:spPr>
        <p:txBody>
          <a:bodyPr>
            <a:normAutofit/>
          </a:bodyPr>
          <a:lstStyle/>
          <a:p>
            <a:r>
              <a:rPr lang="en-IN" b="1" dirty="0"/>
              <a:t>4. Literature Survey</a:t>
            </a:r>
          </a:p>
        </p:txBody>
      </p:sp>
      <p:graphicFrame>
        <p:nvGraphicFramePr>
          <p:cNvPr id="4" name="Content Placeholder 3">
            <a:extLst>
              <a:ext uri="{FF2B5EF4-FFF2-40B4-BE49-F238E27FC236}">
                <a16:creationId xmlns:a16="http://schemas.microsoft.com/office/drawing/2014/main" id="{9DCE27C0-FB53-F712-1E88-6591B840BE04}"/>
              </a:ext>
            </a:extLst>
          </p:cNvPr>
          <p:cNvGraphicFramePr>
            <a:graphicFrameLocks noGrp="1"/>
          </p:cNvGraphicFramePr>
          <p:nvPr>
            <p:ph idx="1"/>
            <p:extLst>
              <p:ext uri="{D42A27DB-BD31-4B8C-83A1-F6EECF244321}">
                <p14:modId xmlns:p14="http://schemas.microsoft.com/office/powerpoint/2010/main" val="2930886025"/>
              </p:ext>
            </p:extLst>
          </p:nvPr>
        </p:nvGraphicFramePr>
        <p:xfrm>
          <a:off x="411819" y="1063098"/>
          <a:ext cx="11336865" cy="5506536"/>
        </p:xfrm>
        <a:graphic>
          <a:graphicData uri="http://schemas.openxmlformats.org/drawingml/2006/table">
            <a:tbl>
              <a:tblPr/>
              <a:tblGrid>
                <a:gridCol w="2267373">
                  <a:extLst>
                    <a:ext uri="{9D8B030D-6E8A-4147-A177-3AD203B41FA5}">
                      <a16:colId xmlns:a16="http://schemas.microsoft.com/office/drawing/2014/main" val="1390895459"/>
                    </a:ext>
                  </a:extLst>
                </a:gridCol>
                <a:gridCol w="2267373">
                  <a:extLst>
                    <a:ext uri="{9D8B030D-6E8A-4147-A177-3AD203B41FA5}">
                      <a16:colId xmlns:a16="http://schemas.microsoft.com/office/drawing/2014/main" val="132336232"/>
                    </a:ext>
                  </a:extLst>
                </a:gridCol>
                <a:gridCol w="2255520">
                  <a:extLst>
                    <a:ext uri="{9D8B030D-6E8A-4147-A177-3AD203B41FA5}">
                      <a16:colId xmlns:a16="http://schemas.microsoft.com/office/drawing/2014/main" val="1881627907"/>
                    </a:ext>
                  </a:extLst>
                </a:gridCol>
                <a:gridCol w="2279226">
                  <a:extLst>
                    <a:ext uri="{9D8B030D-6E8A-4147-A177-3AD203B41FA5}">
                      <a16:colId xmlns:a16="http://schemas.microsoft.com/office/drawing/2014/main" val="268974318"/>
                    </a:ext>
                  </a:extLst>
                </a:gridCol>
                <a:gridCol w="2267373">
                  <a:extLst>
                    <a:ext uri="{9D8B030D-6E8A-4147-A177-3AD203B41FA5}">
                      <a16:colId xmlns:a16="http://schemas.microsoft.com/office/drawing/2014/main" val="489148535"/>
                    </a:ext>
                  </a:extLst>
                </a:gridCol>
              </a:tblGrid>
              <a:tr h="245354">
                <a:tc>
                  <a:txBody>
                    <a:bodyPr/>
                    <a:lstStyle/>
                    <a:p>
                      <a:pPr>
                        <a:buNone/>
                      </a:pPr>
                      <a:r>
                        <a:rPr lang="en-IN" sz="1600" b="1" dirty="0"/>
                        <a:t>Paper Title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Problem addressed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Positives / What they implemented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Negatives / Limitations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Result / metric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324124"/>
                  </a:ext>
                </a:extLst>
              </a:tr>
              <a:tr h="986396">
                <a:tc>
                  <a:txBody>
                    <a:bodyPr/>
                    <a:lstStyle/>
                    <a:p>
                      <a:pPr>
                        <a:buNone/>
                      </a:pPr>
                      <a:r>
                        <a:rPr lang="en-US" sz="1600" dirty="0"/>
                        <a:t>Aleksić, J., 2024. </a:t>
                      </a:r>
                      <a:r>
                        <a:rPr lang="en-US" sz="1600" i="1" dirty="0" err="1"/>
                        <a:t>Markerless</a:t>
                      </a:r>
                      <a:r>
                        <a:rPr lang="en-US" sz="1600" i="1" dirty="0"/>
                        <a:t> Pose Estimation vs. 3D Marker-Based Motion Capture: Application to Countermovement Jump (CMJ)</a:t>
                      </a:r>
                      <a:r>
                        <a:rPr lang="en-US" sz="1600" dirty="0"/>
                        <a:t>. Sensors.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Validates </a:t>
                      </a:r>
                      <a:r>
                        <a:rPr lang="en-US" sz="1600" dirty="0" err="1"/>
                        <a:t>markerless</a:t>
                      </a:r>
                      <a:r>
                        <a:rPr lang="en-US" sz="1600" dirty="0"/>
                        <a:t> pose estimation (</a:t>
                      </a:r>
                      <a:r>
                        <a:rPr lang="en-US" sz="1600" dirty="0" err="1"/>
                        <a:t>MMPose</a:t>
                      </a:r>
                      <a:r>
                        <a:rPr lang="en-US" sz="1600" dirty="0"/>
                        <a:t>) for biomechanical temporal analysis by comparing to gold-standard 3D </a:t>
                      </a:r>
                      <a:r>
                        <a:rPr lang="en-US" sz="1600" dirty="0" err="1"/>
                        <a:t>MoCap</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Uses multi-camera </a:t>
                      </a:r>
                      <a:r>
                        <a:rPr lang="en-US" sz="1600" dirty="0" err="1"/>
                        <a:t>markerless</a:t>
                      </a:r>
                      <a:r>
                        <a:rPr lang="en-US" sz="1600" dirty="0"/>
                        <a:t> to estimate 3D joint angles; significant real-world validation.</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Focused on jump task only; </a:t>
                      </a:r>
                    </a:p>
                    <a:p>
                      <a:pPr marL="171450" indent="-171450">
                        <a:buFont typeface="Arial" panose="020B0604020202020204" pitchFamily="34" charset="0"/>
                        <a:buChar char="•"/>
                      </a:pPr>
                      <a:r>
                        <a:rPr lang="en-US" sz="1600" dirty="0"/>
                        <a:t>limited to specific motions; </a:t>
                      </a:r>
                    </a:p>
                    <a:p>
                      <a:pPr marL="171450" indent="-171450">
                        <a:buFont typeface="Arial" panose="020B0604020202020204" pitchFamily="34" charset="0"/>
                        <a:buChar char="•"/>
                      </a:pPr>
                      <a:r>
                        <a:rPr lang="en-US" sz="1600" dirty="0"/>
                        <a:t>requires multi-view.</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800" b="0" i="0" kern="1200" dirty="0">
                          <a:solidFill>
                            <a:schemeClr val="tx1"/>
                          </a:solidFill>
                          <a:effectLst/>
                          <a:latin typeface="+mn-lt"/>
                          <a:ea typeface="+mn-ea"/>
                          <a:cs typeface="+mn-cs"/>
                        </a:rPr>
                        <a:t>RMSE = 0.035 m</a:t>
                      </a:r>
                    </a:p>
                    <a:p>
                      <a:pPr marL="171450" indent="-171450" algn="l">
                        <a:buFont typeface="Arial" panose="020B0604020202020204" pitchFamily="34" charset="0"/>
                        <a:buChar char="•"/>
                      </a:pPr>
                      <a:r>
                        <a:rPr lang="en-US" sz="1800" b="0" i="0" kern="1200" dirty="0">
                          <a:solidFill>
                            <a:schemeClr val="tx1"/>
                          </a:solidFill>
                          <a:effectLst/>
                          <a:latin typeface="+mn-lt"/>
                          <a:ea typeface="+mn-ea"/>
                          <a:cs typeface="+mn-cs"/>
                        </a:rPr>
                        <a:t>correlation coefficient (r) of 0.992 and 0.993</a:t>
                      </a: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624244"/>
                  </a:ext>
                </a:extLst>
              </a:tr>
              <a:tr h="796085">
                <a:tc>
                  <a:txBody>
                    <a:bodyPr/>
                    <a:lstStyle/>
                    <a:p>
                      <a:pPr>
                        <a:buNone/>
                      </a:pPr>
                      <a:r>
                        <a:rPr lang="en-US" sz="1600" dirty="0"/>
                        <a:t>Meinard Müller. Dynamic time warping. In Information Retrieval for Music and Motion Springer, 2007. </a:t>
                      </a:r>
                    </a:p>
                    <a:p>
                      <a:pPr>
                        <a:buNone/>
                      </a:pPr>
                      <a:r>
                        <a:rPr lang="en-US" sz="1600" dirty="0"/>
                        <a:t>ISBN 978-3-540-74047-9.</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600" dirty="0"/>
                        <a:t>Implementation of pose-estimation (</a:t>
                      </a:r>
                      <a:r>
                        <a:rPr lang="en-US" sz="1600" dirty="0" err="1"/>
                        <a:t>OpenPose</a:t>
                      </a:r>
                      <a:r>
                        <a:rPr lang="en-US" sz="1600" dirty="0"/>
                        <a:t>) + ML classifier for fall detection from video.</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Concrete pipeline.</a:t>
                      </a:r>
                    </a:p>
                    <a:p>
                      <a:pPr marL="171450" indent="-171450">
                        <a:buFont typeface="Arial" panose="020B0604020202020204" pitchFamily="34" charset="0"/>
                        <a:buChar char="•"/>
                      </a:pPr>
                      <a:r>
                        <a:rPr lang="en-US" sz="1600" dirty="0"/>
                        <a:t>Working of pose-based features in real scenes.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not sport-specific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defTabSz="914400" rtl="0" eaLnBrk="1" latinLnBrk="0" hangingPunct="1">
                        <a:buFont typeface="Arial" panose="020B0604020202020204" pitchFamily="34" charset="0"/>
                        <a:buChar char="•"/>
                      </a:pPr>
                      <a:r>
                        <a:rPr lang="en-US" sz="1800" b="0" i="0" kern="1200" dirty="0">
                          <a:solidFill>
                            <a:schemeClr val="tx1"/>
                          </a:solidFill>
                          <a:effectLst/>
                          <a:latin typeface="+mn-lt"/>
                          <a:ea typeface="+mn-ea"/>
                          <a:cs typeface="+mn-cs"/>
                        </a:rPr>
                        <a:t> </a:t>
                      </a:r>
                      <a:r>
                        <a:rPr lang="en-US" sz="1600" kern="1200" dirty="0">
                          <a:solidFill>
                            <a:schemeClr val="tx1"/>
                          </a:solidFill>
                          <a:latin typeface="+mn-lt"/>
                          <a:ea typeface="+mn-ea"/>
                          <a:cs typeface="+mn-cs"/>
                        </a:rPr>
                        <a:t>RNN has the highest accuracy of 89% with LR=0.1</a:t>
                      </a:r>
                    </a:p>
                    <a:p>
                      <a:pPr marL="171450" indent="-171450" algn="l" defTabSz="914400" rtl="0" eaLnBrk="1" latinLnBrk="0" hangingPunct="1">
                        <a:buFont typeface="Arial" panose="020B0604020202020204" pitchFamily="34" charset="0"/>
                        <a:buChar char="•"/>
                      </a:pPr>
                      <a:r>
                        <a:rPr lang="en-IN" sz="1600" kern="1200" dirty="0">
                          <a:solidFill>
                            <a:schemeClr val="tx1"/>
                          </a:solidFill>
                          <a:latin typeface="+mn-lt"/>
                          <a:ea typeface="+mn-ea"/>
                          <a:cs typeface="+mn-cs"/>
                        </a:rPr>
                        <a:t>LSTM &amp; GRU model accuracy of 98.3% with LR = 0.01</a:t>
                      </a:r>
                      <a:endParaRPr lang="en-US" sz="1600" kern="1200" dirty="0">
                        <a:solidFill>
                          <a:schemeClr val="tx1"/>
                        </a:solidFill>
                        <a:latin typeface="+mn-lt"/>
                        <a:ea typeface="+mn-ea"/>
                        <a:cs typeface="+mn-cs"/>
                      </a:endParaRP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098763"/>
                  </a:ext>
                </a:extLst>
              </a:tr>
              <a:tr h="1191728">
                <a:tc>
                  <a:txBody>
                    <a:bodyPr/>
                    <a:lstStyle/>
                    <a:p>
                      <a:pPr>
                        <a:buNone/>
                      </a:pPr>
                      <a:r>
                        <a:rPr lang="en-IN" sz="1600" dirty="0" err="1"/>
                        <a:t>Deyzel</a:t>
                      </a:r>
                      <a:r>
                        <a:rPr lang="en-IN" sz="1600" dirty="0"/>
                        <a:t> et al. (2023), </a:t>
                      </a:r>
                      <a:r>
                        <a:rPr lang="en-IN" sz="1600" i="1" dirty="0"/>
                        <a:t>CVPR Workshops (</a:t>
                      </a:r>
                      <a:r>
                        <a:rPr lang="en-IN" sz="1600" i="1" dirty="0" err="1"/>
                        <a:t>CVSports</a:t>
                      </a:r>
                      <a:r>
                        <a:rPr lang="en-IN" sz="1600" i="1" dirty="0"/>
                        <a:t>)</a:t>
                      </a:r>
                      <a:r>
                        <a:rPr lang="en-IN" sz="1600" dirty="0"/>
                        <a:t> — </a:t>
                      </a:r>
                      <a:r>
                        <a:rPr lang="en-IN" sz="1600" i="1" dirty="0"/>
                        <a:t>One-shot skeleton-based action recognition on strength and conditioning exercises</a:t>
                      </a:r>
                      <a:r>
                        <a:rPr lang="en-IN" sz="1600" dirty="0"/>
                        <a:t> (CVPRW 2023). (</a:t>
                      </a:r>
                      <a:r>
                        <a:rPr lang="en-IN" sz="1600" dirty="0">
                          <a:hlinkClick r:id="rId3" tooltip="One-shot skeleton-based action recognition on strength and ..."/>
                        </a:rPr>
                        <a:t>CVF Open Access</a:t>
                      </a:r>
                      <a:r>
                        <a:rPr lang="en-IN"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Practical skeleton-based recognition for exercise coaching with few-shot examples.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Implementation-focused: dataset of skeleton motion</a:t>
                      </a:r>
                    </a:p>
                    <a:p>
                      <a:pPr marL="171450" indent="-171450">
                        <a:buFont typeface="Arial" panose="020B0604020202020204" pitchFamily="34" charset="0"/>
                        <a:buChar char="•"/>
                      </a:pPr>
                      <a:r>
                        <a:rPr lang="en-US" sz="1600" dirty="0"/>
                        <a:t>one-shot classification</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Dataset covers conditioning exercises (not Kabaddi).</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IN" sz="1600" dirty="0"/>
                        <a:t>GCN metric = 46.2</a:t>
                      </a:r>
                    </a:p>
                    <a:p>
                      <a:pPr marL="171450" indent="-171450" algn="l">
                        <a:buFont typeface="Arial" panose="020B0604020202020204" pitchFamily="34" charset="0"/>
                        <a:buChar char="•"/>
                      </a:pPr>
                      <a:r>
                        <a:rPr lang="en-IN" sz="1600" dirty="0"/>
                        <a:t>Accuracy of 87.4%</a:t>
                      </a: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6904164"/>
                  </a:ext>
                </a:extLst>
              </a:tr>
            </a:tbl>
          </a:graphicData>
        </a:graphic>
      </p:graphicFrame>
    </p:spTree>
    <p:extLst>
      <p:ext uri="{BB962C8B-B14F-4D97-AF65-F5344CB8AC3E}">
        <p14:creationId xmlns:p14="http://schemas.microsoft.com/office/powerpoint/2010/main" val="3746191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966E2B-40CB-C477-E418-D1E82C2650BB}"/>
              </a:ext>
            </a:extLst>
          </p:cNvPr>
          <p:cNvSpPr>
            <a:spLocks noGrp="1"/>
          </p:cNvSpPr>
          <p:nvPr>
            <p:ph type="title"/>
          </p:nvPr>
        </p:nvSpPr>
        <p:spPr>
          <a:xfrm>
            <a:off x="838199" y="20638"/>
            <a:ext cx="10515600" cy="1325563"/>
          </a:xfrm>
        </p:spPr>
        <p:txBody>
          <a:bodyPr>
            <a:normAutofit/>
          </a:bodyPr>
          <a:lstStyle/>
          <a:p>
            <a:r>
              <a:rPr lang="en-IN" b="1" dirty="0"/>
              <a:t>4. Literature Survey cont.</a:t>
            </a:r>
          </a:p>
        </p:txBody>
      </p:sp>
      <p:graphicFrame>
        <p:nvGraphicFramePr>
          <p:cNvPr id="8" name="Table 7">
            <a:extLst>
              <a:ext uri="{FF2B5EF4-FFF2-40B4-BE49-F238E27FC236}">
                <a16:creationId xmlns:a16="http://schemas.microsoft.com/office/drawing/2014/main" id="{D8B11C05-F164-814E-6999-ACA9F9870507}"/>
              </a:ext>
            </a:extLst>
          </p:cNvPr>
          <p:cNvGraphicFramePr>
            <a:graphicFrameLocks noGrp="1"/>
          </p:cNvGraphicFramePr>
          <p:nvPr/>
        </p:nvGraphicFramePr>
        <p:xfrm>
          <a:off x="237066" y="1526677"/>
          <a:ext cx="11751732" cy="4716642"/>
        </p:xfrm>
        <a:graphic>
          <a:graphicData uri="http://schemas.openxmlformats.org/drawingml/2006/table">
            <a:tbl>
              <a:tblPr/>
              <a:tblGrid>
                <a:gridCol w="2350346">
                  <a:extLst>
                    <a:ext uri="{9D8B030D-6E8A-4147-A177-3AD203B41FA5}">
                      <a16:colId xmlns:a16="http://schemas.microsoft.com/office/drawing/2014/main" val="4071787630"/>
                    </a:ext>
                  </a:extLst>
                </a:gridCol>
                <a:gridCol w="2226598">
                  <a:extLst>
                    <a:ext uri="{9D8B030D-6E8A-4147-A177-3AD203B41FA5}">
                      <a16:colId xmlns:a16="http://schemas.microsoft.com/office/drawing/2014/main" val="871988062"/>
                    </a:ext>
                  </a:extLst>
                </a:gridCol>
                <a:gridCol w="2887469">
                  <a:extLst>
                    <a:ext uri="{9D8B030D-6E8A-4147-A177-3AD203B41FA5}">
                      <a16:colId xmlns:a16="http://schemas.microsoft.com/office/drawing/2014/main" val="2695272587"/>
                    </a:ext>
                  </a:extLst>
                </a:gridCol>
                <a:gridCol w="2062477">
                  <a:extLst>
                    <a:ext uri="{9D8B030D-6E8A-4147-A177-3AD203B41FA5}">
                      <a16:colId xmlns:a16="http://schemas.microsoft.com/office/drawing/2014/main" val="3619803610"/>
                    </a:ext>
                  </a:extLst>
                </a:gridCol>
                <a:gridCol w="2224842">
                  <a:extLst>
                    <a:ext uri="{9D8B030D-6E8A-4147-A177-3AD203B41FA5}">
                      <a16:colId xmlns:a16="http://schemas.microsoft.com/office/drawing/2014/main" val="1457833660"/>
                    </a:ext>
                  </a:extLst>
                </a:gridCol>
              </a:tblGrid>
              <a:tr h="245354">
                <a:tc>
                  <a:txBody>
                    <a:bodyPr/>
                    <a:lstStyle/>
                    <a:p>
                      <a:pPr>
                        <a:buNone/>
                      </a:pPr>
                      <a:r>
                        <a:rPr lang="en-IN" sz="1600" b="1" dirty="0"/>
                        <a:t>Paper Title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Problem addressed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Positives / What they implemented</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Negatives / Limitations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600" b="1" dirty="0"/>
                        <a:t>Result / metric</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690318"/>
                  </a:ext>
                </a:extLst>
              </a:tr>
              <a:tr h="986396">
                <a:tc>
                  <a:txBody>
                    <a:bodyPr/>
                    <a:lstStyle/>
                    <a:p>
                      <a:pPr>
                        <a:buNone/>
                      </a:pPr>
                      <a:r>
                        <a:rPr lang="en-US" sz="1600" dirty="0"/>
                        <a:t>Long Liu et al. (2024), </a:t>
                      </a:r>
                      <a:r>
                        <a:rPr lang="en-US" sz="1600" i="1" dirty="0"/>
                        <a:t>Journal of Intelligent &amp; Systems / JISYS</a:t>
                      </a:r>
                      <a:r>
                        <a:rPr lang="en-US" sz="1600" dirty="0"/>
                        <a:t> — </a:t>
                      </a:r>
                      <a:r>
                        <a:rPr lang="en-US" sz="1600" i="1" dirty="0"/>
                        <a:t>Real-time pose estimation and motion tracking for sports performance (volleyball example)</a:t>
                      </a:r>
                      <a:r>
                        <a:rPr lang="en-US" sz="1600" dirty="0"/>
                        <a:t>. (</a:t>
                      </a:r>
                      <a:r>
                        <a:rPr lang="en-US" sz="1600" dirty="0">
                          <a:hlinkClick r:id="rId3" tooltip="(PDF) Real-time pose estimation and motion tracking for ..."/>
                        </a:rPr>
                        <a:t>ResearchGate</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t>Implementation of real-time pose estimation (</a:t>
                      </a:r>
                      <a:r>
                        <a:rPr lang="en-US" sz="1600" dirty="0" err="1"/>
                        <a:t>OpenPose</a:t>
                      </a:r>
                      <a:r>
                        <a:rPr lang="en-US" sz="1600" dirty="0"/>
                        <a:t> + tracking) and motion analytics in a sport scenario.</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Integration of </a:t>
                      </a:r>
                      <a:r>
                        <a:rPr lang="en-US" sz="1600" dirty="0" err="1"/>
                        <a:t>OpenPose</a:t>
                      </a:r>
                      <a:r>
                        <a:rPr lang="en-US" sz="1600" dirty="0"/>
                        <a:t> + </a:t>
                      </a:r>
                      <a:r>
                        <a:rPr lang="en-US" sz="1600" dirty="0" err="1"/>
                        <a:t>DeepSORT</a:t>
                      </a:r>
                      <a:r>
                        <a:rPr lang="en-US" sz="1600" dirty="0"/>
                        <a:t> for multi-person tracking.</a:t>
                      </a:r>
                    </a:p>
                    <a:p>
                      <a:pPr marL="171450" indent="-171450">
                        <a:buFont typeface="Arial" panose="020B0604020202020204" pitchFamily="34" charset="0"/>
                        <a:buChar char="•"/>
                      </a:pPr>
                      <a:r>
                        <a:rPr lang="en-US" sz="1600" dirty="0"/>
                        <a:t>handles occlusion &amp; multi-player scenes.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Focused only on volleyball </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600" dirty="0"/>
                        <a:t>Accuracy of 97.25% at</a:t>
                      </a:r>
                      <a:br>
                        <a:rPr lang="en-US" sz="1600" dirty="0"/>
                      </a:br>
                      <a:r>
                        <a:rPr lang="en-US" sz="1600" dirty="0"/>
                        <a:t>13.9 fps.</a:t>
                      </a:r>
                    </a:p>
                    <a:p>
                      <a:pPr marL="171450" indent="-171450" algn="l">
                        <a:buFont typeface="Arial" panose="020B0604020202020204" pitchFamily="34" charset="0"/>
                        <a:buChar char="•"/>
                      </a:pPr>
                      <a:r>
                        <a:rPr lang="en-US" sz="1600" dirty="0"/>
                        <a:t>Accuracy of 97.38% at 13.4 fps.</a:t>
                      </a:r>
                    </a:p>
                    <a:p>
                      <a:pPr marL="171450" indent="-171450" algn="l">
                        <a:buFont typeface="Arial" panose="020B0604020202020204" pitchFamily="34" charset="0"/>
                        <a:buChar char="•"/>
                      </a:pPr>
                      <a:r>
                        <a:rPr lang="en-US" sz="1600" dirty="0"/>
                        <a:t>Accuracy of 96.47% at 12.5 fps.</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479881"/>
                  </a:ext>
                </a:extLst>
              </a:tr>
              <a:tr h="796085">
                <a:tc>
                  <a:txBody>
                    <a:bodyPr/>
                    <a:lstStyle/>
                    <a:p>
                      <a:pPr>
                        <a:buNone/>
                      </a:pPr>
                      <a:r>
                        <a:rPr lang="en-US" sz="1600" dirty="0"/>
                        <a:t>Ihara et al. (2024), arXiv / Mixed Reality Systems — Video2MR: Automatically generating mixed reality 3D instructional avatars by augmenting motion extracted from 2D videos. (</a:t>
                      </a:r>
                      <a:r>
                        <a:rPr lang="en-US" sz="1600" dirty="0">
                          <a:hlinkClick r:id="rId4"/>
                        </a:rPr>
                        <a:t>arXiv</a:t>
                      </a:r>
                      <a:r>
                        <a:rPr lang="en-US" sz="1600" dirty="0"/>
                        <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600" dirty="0"/>
                        <a:t>Transforming 2D instructional </a:t>
                      </a:r>
                    </a:p>
                    <a:p>
                      <a:pPr algn="l">
                        <a:buNone/>
                      </a:pPr>
                      <a:r>
                        <a:rPr lang="en-US" sz="1600" dirty="0"/>
                        <a:t>video recordings into interactive 3D mixed reality motion instructions to assist physical training.</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automatically extracts motion from 2D video and generates 3D MR avatars; </a:t>
                      </a:r>
                    </a:p>
                    <a:p>
                      <a:pPr marL="171450" indent="-171450">
                        <a:buFont typeface="Arial" panose="020B0604020202020204" pitchFamily="34" charset="0"/>
                        <a:buChar char="•"/>
                      </a:pPr>
                      <a:r>
                        <a:rPr lang="en-US" sz="1600" dirty="0"/>
                        <a:t>highlights trajectory differences; </a:t>
                      </a:r>
                    </a:p>
                    <a:p>
                      <a:pPr marL="171450" indent="-171450">
                        <a:buFont typeface="Arial" panose="020B0604020202020204" pitchFamily="34" charset="0"/>
                        <a:buChar char="•"/>
                      </a:pPr>
                      <a:r>
                        <a:rPr lang="en-US" sz="1600" dirty="0"/>
                        <a:t>supports time and spatial manipulation. </a:t>
                      </a:r>
                    </a:p>
                    <a:p>
                      <a:pPr marL="171450" indent="-171450">
                        <a:buFont typeface="Arial" panose="020B0604020202020204" pitchFamily="34" charset="0"/>
                        <a:buChar char="•"/>
                      </a:pPr>
                      <a:r>
                        <a:rPr lang="en-US" sz="1600" dirty="0"/>
                        <a:t>augment existing instructional content into a 3D mixed reality format.</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600" dirty="0"/>
                        <a:t>Requires specific hardware (HoloLens 2 + Azure Kinect);</a:t>
                      </a:r>
                    </a:p>
                    <a:p>
                      <a:pPr marL="171450" indent="-171450">
                        <a:buFont typeface="Arial" panose="020B0604020202020204" pitchFamily="34" charset="0"/>
                        <a:buChar char="•"/>
                      </a:pPr>
                      <a:r>
                        <a:rPr lang="en-US" sz="1600" dirty="0"/>
                        <a:t>Focused on MR-only no full AR/AI training feedback loop; </a:t>
                      </a:r>
                    </a:p>
                    <a:p>
                      <a:pPr marL="171450" indent="-171450">
                        <a:buFont typeface="Arial" panose="020B0604020202020204" pitchFamily="34" charset="0"/>
                        <a:buChar char="•"/>
                      </a:pPr>
                      <a:r>
                        <a:rPr lang="en-US" sz="1600" dirty="0"/>
                        <a:t>No personalized corrective feedback.</a:t>
                      </a:r>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lang="en-US" sz="1600" dirty="0"/>
                        <a:t>Baseball </a:t>
                      </a:r>
                      <a:r>
                        <a:rPr lang="en-US" sz="1600" dirty="0" err="1"/>
                        <a:t>No.of</a:t>
                      </a:r>
                      <a:r>
                        <a:rPr lang="en-US" sz="1600" dirty="0"/>
                        <a:t> Errors: 7 Accuracy of 93%</a:t>
                      </a:r>
                    </a:p>
                    <a:p>
                      <a:pPr marL="171450" indent="-171450" algn="l">
                        <a:buFont typeface="Arial" panose="020B0604020202020204" pitchFamily="34" charset="0"/>
                        <a:buChar char="•"/>
                      </a:pPr>
                      <a:r>
                        <a:rPr lang="en-US" sz="1600" dirty="0"/>
                        <a:t>Yoga No of Errors: 8 Accuracy of 89%</a:t>
                      </a:r>
                    </a:p>
                    <a:p>
                      <a:pPr marL="171450" indent="-171450" algn="l">
                        <a:buFont typeface="Arial" panose="020B0604020202020204" pitchFamily="34" charset="0"/>
                        <a:buChar char="•"/>
                      </a:pPr>
                      <a:r>
                        <a:rPr lang="en-US" sz="1600" dirty="0"/>
                        <a:t>Martial Arts No of Errors: 11 Accuracy of 86%</a:t>
                      </a:r>
                    </a:p>
                    <a:p>
                      <a:pPr marL="171450" indent="-171450" algn="l">
                        <a:buFont typeface="Arial" panose="020B0604020202020204" pitchFamily="34" charset="0"/>
                        <a:buChar char="•"/>
                      </a:pPr>
                      <a:endParaRPr lang="en-US" sz="1600" dirty="0"/>
                    </a:p>
                  </a:txBody>
                  <a:tcPr marL="27893" marR="27893" marT="13947" marB="139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8205298"/>
                  </a:ext>
                </a:extLst>
              </a:tr>
            </a:tbl>
          </a:graphicData>
        </a:graphic>
      </p:graphicFrame>
    </p:spTree>
    <p:extLst>
      <p:ext uri="{BB962C8B-B14F-4D97-AF65-F5344CB8AC3E}">
        <p14:creationId xmlns:p14="http://schemas.microsoft.com/office/powerpoint/2010/main" val="2694787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47B3-C17D-4A35-3A33-B83464D58145}"/>
              </a:ext>
            </a:extLst>
          </p:cNvPr>
          <p:cNvSpPr>
            <a:spLocks noGrp="1"/>
          </p:cNvSpPr>
          <p:nvPr>
            <p:ph type="title"/>
          </p:nvPr>
        </p:nvSpPr>
        <p:spPr>
          <a:xfrm>
            <a:off x="838200" y="31908"/>
            <a:ext cx="10515600" cy="1325563"/>
          </a:xfrm>
        </p:spPr>
        <p:txBody>
          <a:bodyPr/>
          <a:lstStyle/>
          <a:p>
            <a:r>
              <a:rPr lang="en-IN" dirty="0"/>
              <a:t>5. Overall System Architecture (High Level)</a:t>
            </a:r>
          </a:p>
        </p:txBody>
      </p:sp>
      <p:sp>
        <p:nvSpPr>
          <p:cNvPr id="7" name="Rectangle 6">
            <a:extLst>
              <a:ext uri="{FF2B5EF4-FFF2-40B4-BE49-F238E27FC236}">
                <a16:creationId xmlns:a16="http://schemas.microsoft.com/office/drawing/2014/main" id="{BDAF9011-FE0D-7A07-3911-46A78E522A3A}"/>
              </a:ext>
            </a:extLst>
          </p:cNvPr>
          <p:cNvSpPr/>
          <p:nvPr/>
        </p:nvSpPr>
        <p:spPr>
          <a:xfrm>
            <a:off x="1269203" y="1089328"/>
            <a:ext cx="9003879" cy="55545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Content Placeholder 21">
            <a:extLst>
              <a:ext uri="{FF2B5EF4-FFF2-40B4-BE49-F238E27FC236}">
                <a16:creationId xmlns:a16="http://schemas.microsoft.com/office/drawing/2014/main" id="{E539CDE8-58AF-F78E-AF99-B57C61DE25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204" y="1089328"/>
            <a:ext cx="9003878" cy="5554571"/>
          </a:xfrm>
        </p:spPr>
      </p:pic>
    </p:spTree>
    <p:extLst>
      <p:ext uri="{BB962C8B-B14F-4D97-AF65-F5344CB8AC3E}">
        <p14:creationId xmlns:p14="http://schemas.microsoft.com/office/powerpoint/2010/main" val="72405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042A-0666-B2B4-C723-1DD86C1D61F5}"/>
              </a:ext>
            </a:extLst>
          </p:cNvPr>
          <p:cNvSpPr>
            <a:spLocks noGrp="1"/>
          </p:cNvSpPr>
          <p:nvPr>
            <p:ph type="title"/>
          </p:nvPr>
        </p:nvSpPr>
        <p:spPr>
          <a:xfrm>
            <a:off x="838199" y="79043"/>
            <a:ext cx="10515600" cy="1325563"/>
          </a:xfrm>
        </p:spPr>
        <p:txBody>
          <a:bodyPr/>
          <a:lstStyle/>
          <a:p>
            <a:r>
              <a:rPr lang="en-US" dirty="0"/>
              <a:t>6. </a:t>
            </a:r>
            <a:r>
              <a:rPr lang="en-IN" dirty="0"/>
              <a:t>Modules</a:t>
            </a:r>
            <a:r>
              <a:rPr lang="en-US" dirty="0"/>
              <a:t> </a:t>
            </a:r>
            <a:endParaRPr lang="en-IN" dirty="0"/>
          </a:p>
        </p:txBody>
      </p:sp>
      <p:sp>
        <p:nvSpPr>
          <p:cNvPr id="3" name="Content Placeholder 2">
            <a:extLst>
              <a:ext uri="{FF2B5EF4-FFF2-40B4-BE49-F238E27FC236}">
                <a16:creationId xmlns:a16="http://schemas.microsoft.com/office/drawing/2014/main" id="{02B2DEE0-08D8-3661-6B64-B1A95E77C2A5}"/>
              </a:ext>
            </a:extLst>
          </p:cNvPr>
          <p:cNvSpPr>
            <a:spLocks noGrp="1"/>
          </p:cNvSpPr>
          <p:nvPr>
            <p:ph idx="1"/>
          </p:nvPr>
        </p:nvSpPr>
        <p:spPr>
          <a:xfrm>
            <a:off x="838199" y="1325563"/>
            <a:ext cx="11091407" cy="5453394"/>
          </a:xfrm>
        </p:spPr>
        <p:txBody>
          <a:bodyPr>
            <a:normAutofit lnSpcReduction="10000"/>
          </a:bodyPr>
          <a:lstStyle/>
          <a:p>
            <a:pPr marL="457200" indent="-457200">
              <a:buFont typeface="+mj-lt"/>
              <a:buAutoNum type="alphaUcPeriod"/>
            </a:pPr>
            <a:r>
              <a:rPr lang="en-US" sz="2000" dirty="0"/>
              <a:t> Pose Extraction &amp; Cleaning</a:t>
            </a:r>
          </a:p>
          <a:p>
            <a:pPr marL="971550" lvl="1" indent="-514350">
              <a:buFont typeface="+mj-lt"/>
              <a:buAutoNum type="romanLcPeriod"/>
            </a:pPr>
            <a:r>
              <a:rPr lang="en-US" sz="1600" dirty="0"/>
              <a:t>YOLO PERSON DETECTION (RAIDER)</a:t>
            </a:r>
          </a:p>
          <a:p>
            <a:pPr marL="971550" lvl="1" indent="-514350">
              <a:buFont typeface="+mj-lt"/>
              <a:buAutoNum type="romanLcPeriod"/>
            </a:pPr>
            <a:r>
              <a:rPr lang="en-US" sz="1600" dirty="0"/>
              <a:t>POSE ESTIMATION</a:t>
            </a:r>
          </a:p>
          <a:p>
            <a:pPr marL="971550" lvl="1" indent="-514350">
              <a:buFont typeface="+mj-lt"/>
              <a:buAutoNum type="romanLcPeriod"/>
            </a:pPr>
            <a:r>
              <a:rPr lang="en-US" sz="1600" dirty="0"/>
              <a:t>FORMAT CONVERTION</a:t>
            </a:r>
          </a:p>
          <a:p>
            <a:pPr marL="971550" lvl="1" indent="-514350">
              <a:buFont typeface="+mj-lt"/>
              <a:buAutoNum type="romanLcPeriod"/>
            </a:pPr>
            <a:r>
              <a:rPr lang="en-US" sz="1600" dirty="0"/>
              <a:t>DATA CANONICALIZATION</a:t>
            </a:r>
          </a:p>
          <a:p>
            <a:pPr marL="457200" indent="-457200">
              <a:buFont typeface="+mj-lt"/>
              <a:buAutoNum type="alphaUcPeriod"/>
            </a:pPr>
            <a:endParaRPr lang="en-US" sz="2000" dirty="0"/>
          </a:p>
          <a:p>
            <a:pPr marL="457200" indent="-457200">
              <a:buFont typeface="+mj-lt"/>
              <a:buAutoNum type="alphaUcPeriod"/>
            </a:pPr>
            <a:r>
              <a:rPr lang="en-US" sz="2000" dirty="0"/>
              <a:t>TEMPORAL ALIGNMENT</a:t>
            </a:r>
          </a:p>
          <a:p>
            <a:pPr marL="971550" lvl="1" indent="-514350">
              <a:buFont typeface="+mj-lt"/>
              <a:buAutoNum type="romanLcPeriod"/>
            </a:pPr>
            <a:r>
              <a:rPr lang="en-US" sz="1600" dirty="0"/>
              <a:t>PELVIS TRAJECTORY EXTRACTION</a:t>
            </a:r>
          </a:p>
          <a:p>
            <a:pPr marL="971550" lvl="1" indent="-514350">
              <a:buFont typeface="+mj-lt"/>
              <a:buAutoNum type="romanLcPeriod"/>
            </a:pPr>
            <a:r>
              <a:rPr lang="en-US" sz="1600" dirty="0"/>
              <a:t>DYNAMIC TIME WARPING</a:t>
            </a:r>
          </a:p>
          <a:p>
            <a:pPr marL="971550" lvl="1" indent="-514350">
              <a:buFont typeface="+mj-lt"/>
              <a:buAutoNum type="romanLcPeriod"/>
            </a:pPr>
            <a:r>
              <a:rPr lang="en-US" sz="1600" dirty="0"/>
              <a:t>ALIGNED SQUENCE GENERATOR</a:t>
            </a:r>
          </a:p>
          <a:p>
            <a:pPr marL="457200" indent="-457200">
              <a:buFont typeface="+mj-lt"/>
              <a:buAutoNum type="alphaUcPeriod"/>
            </a:pPr>
            <a:endParaRPr lang="en-US" sz="2000" dirty="0"/>
          </a:p>
          <a:p>
            <a:pPr marL="457200" indent="-457200">
              <a:buFont typeface="+mj-lt"/>
              <a:buAutoNum type="alphaUcPeriod"/>
            </a:pPr>
            <a:r>
              <a:rPr lang="en-US" sz="2000" dirty="0"/>
              <a:t>JOINT ERROR ANALYSIS</a:t>
            </a:r>
          </a:p>
          <a:p>
            <a:pPr marL="914400" lvl="1" indent="-457200">
              <a:buFont typeface="+mj-lt"/>
              <a:buAutoNum type="romanUcPeriod"/>
            </a:pPr>
            <a:r>
              <a:rPr lang="en-US" sz="1600" dirty="0"/>
              <a:t>ERROR COMPUTATION ENGINE</a:t>
            </a:r>
          </a:p>
          <a:p>
            <a:pPr marL="914400" lvl="1" indent="-457200">
              <a:buFont typeface="+mj-lt"/>
              <a:buAutoNum type="romanUcPeriod"/>
            </a:pPr>
            <a:r>
              <a:rPr lang="en-IN" sz="1600" dirty="0"/>
              <a:t>STATISTICAL</a:t>
            </a:r>
            <a:r>
              <a:rPr lang="en-US" sz="1600" dirty="0"/>
              <a:t> AGGREGATION MODULE</a:t>
            </a:r>
          </a:p>
          <a:p>
            <a:pPr marL="914400" lvl="1" indent="-457200">
              <a:buFont typeface="+mj-lt"/>
              <a:buAutoNum type="romanUcPeriod"/>
            </a:pPr>
            <a:r>
              <a:rPr lang="en-US" sz="1600" dirty="0"/>
              <a:t>DATA SERIALIZATION</a:t>
            </a:r>
          </a:p>
          <a:p>
            <a:pPr marL="457200" indent="-457200">
              <a:buFont typeface="+mj-lt"/>
              <a:buAutoNum type="alphaUcPeriod"/>
            </a:pPr>
            <a:endParaRPr lang="en-US" sz="2000" dirty="0"/>
          </a:p>
          <a:p>
            <a:pPr marL="457200" indent="-457200">
              <a:buFont typeface="+mj-lt"/>
              <a:buAutoNum type="alphaUcPeriod"/>
            </a:pPr>
            <a:r>
              <a:rPr lang="en-US" sz="2000" dirty="0"/>
              <a:t>SIMLARITY SCORE</a:t>
            </a:r>
            <a:endParaRPr lang="en-US" dirty="0"/>
          </a:p>
          <a:p>
            <a:pPr marL="914400" lvl="1" indent="-457200">
              <a:buFont typeface="+mj-lt"/>
              <a:buAutoNum type="romanUcPeriod"/>
            </a:pPr>
            <a:r>
              <a:rPr lang="en-US" sz="1600" dirty="0"/>
              <a:t>SIMILARITY SCORE ENGINE</a:t>
            </a:r>
          </a:p>
          <a:p>
            <a:pPr marL="914400" lvl="1" indent="-457200">
              <a:buFont typeface="+mj-lt"/>
              <a:buAutoNum type="romanUcPeriod"/>
            </a:pPr>
            <a:endParaRPr lang="en-US" sz="1600" dirty="0"/>
          </a:p>
          <a:p>
            <a:pPr lvl="1"/>
            <a:endParaRPr lang="en-IN" dirty="0"/>
          </a:p>
          <a:p>
            <a:pPr lvl="1"/>
            <a:endParaRPr lang="en-IN" dirty="0"/>
          </a:p>
        </p:txBody>
      </p:sp>
    </p:spTree>
    <p:extLst>
      <p:ext uri="{BB962C8B-B14F-4D97-AF65-F5344CB8AC3E}">
        <p14:creationId xmlns:p14="http://schemas.microsoft.com/office/powerpoint/2010/main" val="415785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7FBB-A56A-64F2-95E8-B5CC009B7CEB}"/>
              </a:ext>
            </a:extLst>
          </p:cNvPr>
          <p:cNvSpPr>
            <a:spLocks noGrp="1"/>
          </p:cNvSpPr>
          <p:nvPr>
            <p:ph type="title"/>
          </p:nvPr>
        </p:nvSpPr>
        <p:spPr/>
        <p:txBody>
          <a:bodyPr/>
          <a:lstStyle/>
          <a:p>
            <a:r>
              <a:rPr lang="en-IN" dirty="0"/>
              <a:t>6 A. Modules (POSE EXTRACTION &amp; CLEANING)</a:t>
            </a:r>
          </a:p>
        </p:txBody>
      </p:sp>
      <p:sp>
        <p:nvSpPr>
          <p:cNvPr id="3" name="Content Placeholder 2">
            <a:extLst>
              <a:ext uri="{FF2B5EF4-FFF2-40B4-BE49-F238E27FC236}">
                <a16:creationId xmlns:a16="http://schemas.microsoft.com/office/drawing/2014/main" id="{673FC6C7-1A10-314F-B44B-D306091E0A0D}"/>
              </a:ext>
            </a:extLst>
          </p:cNvPr>
          <p:cNvSpPr>
            <a:spLocks noGrp="1"/>
          </p:cNvSpPr>
          <p:nvPr>
            <p:ph idx="1"/>
          </p:nvPr>
        </p:nvSpPr>
        <p:spPr/>
        <p:txBody>
          <a:bodyPr/>
          <a:lstStyle/>
          <a:p>
            <a:pPr marL="0" indent="0">
              <a:buNone/>
            </a:pPr>
            <a:r>
              <a:rPr lang="en-IN" sz="2400" dirty="0"/>
              <a:t>Module 1: POSE EXTRACTION &amp; CLEANING</a:t>
            </a:r>
          </a:p>
          <a:p>
            <a:pPr marL="0" indent="0">
              <a:buNone/>
            </a:pPr>
            <a:endParaRPr lang="en-IN" dirty="0"/>
          </a:p>
          <a:p>
            <a:pPr marL="0" indent="0">
              <a:buNone/>
            </a:pPr>
            <a:r>
              <a:rPr lang="en-IN" sz="2400" dirty="0"/>
              <a:t>SUB-MODULES :</a:t>
            </a:r>
          </a:p>
          <a:p>
            <a:pPr marL="971550" lvl="1" indent="-514350">
              <a:buFont typeface="+mj-lt"/>
              <a:buAutoNum type="romanLcPeriod"/>
            </a:pPr>
            <a:r>
              <a:rPr lang="en-IN" sz="2000" dirty="0"/>
              <a:t>YOLO PERSON DETECTION</a:t>
            </a:r>
          </a:p>
          <a:p>
            <a:pPr marL="971550" lvl="1" indent="-514350">
              <a:buFont typeface="+mj-lt"/>
              <a:buAutoNum type="romanLcPeriod"/>
            </a:pPr>
            <a:r>
              <a:rPr lang="en-IN" sz="2000" dirty="0"/>
              <a:t>POSE ESTIMATION</a:t>
            </a:r>
          </a:p>
          <a:p>
            <a:pPr marL="971550" lvl="1" indent="-514350">
              <a:buFont typeface="+mj-lt"/>
              <a:buAutoNum type="romanLcPeriod"/>
            </a:pPr>
            <a:r>
              <a:rPr lang="en-IN" sz="2000" dirty="0"/>
              <a:t>FORMAT CONVERTION</a:t>
            </a:r>
          </a:p>
          <a:p>
            <a:pPr marL="971550" lvl="1" indent="-514350">
              <a:buFont typeface="+mj-lt"/>
              <a:buAutoNum type="romanLcPeriod"/>
            </a:pPr>
            <a:r>
              <a:rPr lang="en-IN" sz="2000" dirty="0"/>
              <a:t>DATA CANONICALIZATION &amp; CLEANING</a:t>
            </a:r>
          </a:p>
        </p:txBody>
      </p:sp>
    </p:spTree>
    <p:extLst>
      <p:ext uri="{BB962C8B-B14F-4D97-AF65-F5344CB8AC3E}">
        <p14:creationId xmlns:p14="http://schemas.microsoft.com/office/powerpoint/2010/main" val="22539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B180-F318-6BD9-DCBE-BE44604AB8C0}"/>
              </a:ext>
            </a:extLst>
          </p:cNvPr>
          <p:cNvSpPr>
            <a:spLocks noGrp="1"/>
          </p:cNvSpPr>
          <p:nvPr>
            <p:ph type="title"/>
          </p:nvPr>
        </p:nvSpPr>
        <p:spPr>
          <a:xfrm>
            <a:off x="838200" y="-205740"/>
            <a:ext cx="10515600" cy="1325563"/>
          </a:xfrm>
        </p:spPr>
        <p:txBody>
          <a:bodyPr/>
          <a:lstStyle/>
          <a:p>
            <a:r>
              <a:rPr lang="en-US" dirty="0"/>
              <a:t>6A (</a:t>
            </a:r>
            <a:r>
              <a:rPr lang="en-US" dirty="0" err="1"/>
              <a:t>i</a:t>
            </a:r>
            <a:r>
              <a:rPr lang="en-US" dirty="0"/>
              <a:t>) – Module Overview &amp; Block Diagram</a:t>
            </a:r>
            <a:endParaRPr lang="en-IN" dirty="0"/>
          </a:p>
        </p:txBody>
      </p:sp>
      <p:sp>
        <p:nvSpPr>
          <p:cNvPr id="3" name="Content Placeholder 2">
            <a:extLst>
              <a:ext uri="{FF2B5EF4-FFF2-40B4-BE49-F238E27FC236}">
                <a16:creationId xmlns:a16="http://schemas.microsoft.com/office/drawing/2014/main" id="{933BB3F7-04E5-492E-A91D-78AE0436D5A3}"/>
              </a:ext>
            </a:extLst>
          </p:cNvPr>
          <p:cNvSpPr>
            <a:spLocks noGrp="1"/>
          </p:cNvSpPr>
          <p:nvPr>
            <p:ph idx="1"/>
          </p:nvPr>
        </p:nvSpPr>
        <p:spPr>
          <a:xfrm>
            <a:off x="838200" y="814345"/>
            <a:ext cx="10515600" cy="4351338"/>
          </a:xfrm>
        </p:spPr>
        <p:txBody>
          <a:bodyPr>
            <a:normAutofit/>
          </a:bodyPr>
          <a:lstStyle/>
          <a:p>
            <a:pPr marL="0" indent="0">
              <a:buNone/>
            </a:pPr>
            <a:r>
              <a:rPr lang="en-US" sz="2000" b="1" dirty="0"/>
              <a:t>SUB-Module:</a:t>
            </a:r>
          </a:p>
          <a:p>
            <a:pPr marL="971550" lvl="1" indent="-514350">
              <a:buFont typeface="+mj-lt"/>
              <a:buAutoNum type="romanLcPeriod"/>
            </a:pPr>
            <a:r>
              <a:rPr lang="en-US" sz="2000" dirty="0"/>
              <a:t>YOLO-Based Person Detection and Tracking</a:t>
            </a:r>
          </a:p>
          <a:p>
            <a:endParaRPr lang="en-US" sz="2000" b="1" dirty="0"/>
          </a:p>
          <a:p>
            <a:r>
              <a:rPr lang="en-US" sz="2000" b="1" dirty="0"/>
              <a:t>Block Diagram: </a:t>
            </a:r>
          </a:p>
        </p:txBody>
      </p:sp>
      <p:pic>
        <p:nvPicPr>
          <p:cNvPr id="10" name="Picture 9">
            <a:extLst>
              <a:ext uri="{FF2B5EF4-FFF2-40B4-BE49-F238E27FC236}">
                <a16:creationId xmlns:a16="http://schemas.microsoft.com/office/drawing/2014/main" id="{0BC8AC63-C186-9AEC-9CCE-7C7C3CF20957}"/>
              </a:ext>
            </a:extLst>
          </p:cNvPr>
          <p:cNvPicPr>
            <a:picLocks noChangeAspect="1"/>
          </p:cNvPicPr>
          <p:nvPr/>
        </p:nvPicPr>
        <p:blipFill>
          <a:blip r:embed="rId2"/>
          <a:stretch>
            <a:fillRect/>
          </a:stretch>
        </p:blipFill>
        <p:spPr>
          <a:xfrm>
            <a:off x="3222105" y="1455420"/>
            <a:ext cx="3941861" cy="5311140"/>
          </a:xfrm>
          <a:prstGeom prst="rect">
            <a:avLst/>
          </a:prstGeom>
        </p:spPr>
      </p:pic>
    </p:spTree>
    <p:extLst>
      <p:ext uri="{BB962C8B-B14F-4D97-AF65-F5344CB8AC3E}">
        <p14:creationId xmlns:p14="http://schemas.microsoft.com/office/powerpoint/2010/main" val="58838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F9E9-F79B-47A3-0E73-B441DC82A898}"/>
              </a:ext>
            </a:extLst>
          </p:cNvPr>
          <p:cNvSpPr>
            <a:spLocks noGrp="1"/>
          </p:cNvSpPr>
          <p:nvPr>
            <p:ph type="title"/>
          </p:nvPr>
        </p:nvSpPr>
        <p:spPr/>
        <p:txBody>
          <a:bodyPr/>
          <a:lstStyle/>
          <a:p>
            <a:r>
              <a:rPr lang="en-US" dirty="0"/>
              <a:t>6A (</a:t>
            </a:r>
            <a:r>
              <a:rPr lang="en-US" dirty="0" err="1"/>
              <a:t>i</a:t>
            </a:r>
            <a:r>
              <a:rPr lang="en-US" dirty="0"/>
              <a:t>) – Algorithm Details</a:t>
            </a:r>
            <a:endParaRPr lang="en-IN" dirty="0"/>
          </a:p>
        </p:txBody>
      </p:sp>
      <p:sp>
        <p:nvSpPr>
          <p:cNvPr id="3" name="Content Placeholder 2">
            <a:extLst>
              <a:ext uri="{FF2B5EF4-FFF2-40B4-BE49-F238E27FC236}">
                <a16:creationId xmlns:a16="http://schemas.microsoft.com/office/drawing/2014/main" id="{D157C188-BD44-6F47-D1EC-D63BA16E3A9B}"/>
              </a:ext>
            </a:extLst>
          </p:cNvPr>
          <p:cNvSpPr>
            <a:spLocks noGrp="1"/>
          </p:cNvSpPr>
          <p:nvPr>
            <p:ph idx="1"/>
          </p:nvPr>
        </p:nvSpPr>
        <p:spPr/>
        <p:txBody>
          <a:bodyPr>
            <a:normAutofit/>
          </a:bodyPr>
          <a:lstStyle/>
          <a:p>
            <a:r>
              <a:rPr lang="en-US" sz="2400" b="1" dirty="0"/>
              <a:t>Algorithms Used</a:t>
            </a:r>
          </a:p>
          <a:p>
            <a:pPr lvl="1"/>
            <a:r>
              <a:rPr lang="en-US" sz="2000" b="1" dirty="0"/>
              <a:t>YOLOv8 – Object Detection</a:t>
            </a:r>
          </a:p>
          <a:p>
            <a:pPr lvl="2"/>
            <a:r>
              <a:rPr lang="en-US" sz="1600" b="1" dirty="0"/>
              <a:t>Role: </a:t>
            </a:r>
            <a:r>
              <a:rPr lang="en-US" sz="1600" dirty="0"/>
              <a:t>Detect all human instances in each frame.</a:t>
            </a:r>
            <a:endParaRPr lang="en-US" sz="1600" b="1" dirty="0"/>
          </a:p>
          <a:p>
            <a:pPr lvl="2">
              <a:lnSpc>
                <a:spcPct val="100000"/>
              </a:lnSpc>
            </a:pPr>
            <a:r>
              <a:rPr lang="en-IN" sz="1600" b="1" dirty="0"/>
              <a:t>Result: B = </a:t>
            </a:r>
            <a:r>
              <a:rPr lang="en-IN" sz="1600" dirty="0"/>
              <a:t>{ (x1, y1, x2, y2, confidence, class=person) }</a:t>
            </a:r>
            <a:endParaRPr lang="en-US" sz="1600" dirty="0"/>
          </a:p>
          <a:p>
            <a:pPr lvl="1"/>
            <a:r>
              <a:rPr lang="en-US" sz="2000" b="1" dirty="0" err="1"/>
              <a:t>ByteTrack</a:t>
            </a:r>
            <a:r>
              <a:rPr lang="en-US" sz="2000" b="1" dirty="0"/>
              <a:t> – Multi-object Tracking</a:t>
            </a:r>
          </a:p>
          <a:p>
            <a:pPr lvl="2">
              <a:lnSpc>
                <a:spcPct val="110000"/>
              </a:lnSpc>
            </a:pPr>
            <a:r>
              <a:rPr lang="en-US" sz="1600" b="1" dirty="0"/>
              <a:t>Role: </a:t>
            </a:r>
            <a:r>
              <a:rPr lang="en-US" sz="1600" dirty="0"/>
              <a:t>Assign persistent IDs to detected persons across frames.</a:t>
            </a:r>
          </a:p>
          <a:p>
            <a:pPr lvl="2">
              <a:lnSpc>
                <a:spcPct val="120000"/>
              </a:lnSpc>
            </a:pPr>
            <a:r>
              <a:rPr lang="en-US" sz="1600" b="1" dirty="0"/>
              <a:t>Result: </a:t>
            </a:r>
            <a:r>
              <a:rPr lang="en-US" sz="1600" dirty="0"/>
              <a:t>Track ID → Sequence of bounding boxes over time</a:t>
            </a:r>
          </a:p>
          <a:p>
            <a:pPr lvl="1"/>
            <a:r>
              <a:rPr lang="en-US" sz="2000" b="1" dirty="0"/>
              <a:t>Motion-Based Raider Selection (Heuristic) “</a:t>
            </a:r>
            <a:r>
              <a:rPr lang="en-IN" sz="2000" b="1" dirty="0"/>
              <a:t>Cumulative Displacement Heuristic</a:t>
            </a:r>
            <a:r>
              <a:rPr lang="en-US" sz="2000" b="1" dirty="0"/>
              <a:t>”</a:t>
            </a:r>
          </a:p>
          <a:p>
            <a:pPr lvl="1"/>
            <a:r>
              <a:rPr lang="en-IN" sz="2000" b="1" dirty="0"/>
              <a:t>Formula: </a:t>
            </a:r>
          </a:p>
          <a:p>
            <a:pPr marL="457200" lvl="1" indent="0">
              <a:buNone/>
            </a:pPr>
            <a:r>
              <a:rPr lang="en-IN" dirty="0"/>
              <a:t>		</a:t>
            </a:r>
            <a:r>
              <a:rPr lang="en-IN" sz="1600" dirty="0" err="1"/>
              <a:t>motion_i</a:t>
            </a:r>
            <a:r>
              <a:rPr lang="en-IN" sz="1600" dirty="0"/>
              <a:t> = </a:t>
            </a:r>
            <a:r>
              <a:rPr lang="el-GR" sz="1600" dirty="0"/>
              <a:t>Σ || </a:t>
            </a:r>
            <a:r>
              <a:rPr lang="en-IN" sz="1600" dirty="0" err="1"/>
              <a:t>position_t</a:t>
            </a:r>
            <a:r>
              <a:rPr lang="en-IN" sz="1600" dirty="0"/>
              <a:t> − position_(t−1) ||</a:t>
            </a:r>
          </a:p>
          <a:p>
            <a:pPr marL="457200" lvl="1" indent="0">
              <a:buNone/>
            </a:pPr>
            <a:r>
              <a:rPr lang="en-IN" sz="1600" dirty="0"/>
              <a:t>		raider = argmax(</a:t>
            </a:r>
            <a:r>
              <a:rPr lang="en-IN" sz="1600" dirty="0" err="1"/>
              <a:t>motion_i</a:t>
            </a:r>
            <a:r>
              <a:rPr lang="en-IN" sz="1600" dirty="0"/>
              <a:t>)</a:t>
            </a:r>
          </a:p>
          <a:p>
            <a:pPr lvl="2"/>
            <a:endParaRPr lang="en-IN" b="1" dirty="0"/>
          </a:p>
          <a:p>
            <a:pPr lvl="2"/>
            <a:endParaRPr lang="en-US" dirty="0"/>
          </a:p>
        </p:txBody>
      </p:sp>
    </p:spTree>
    <p:extLst>
      <p:ext uri="{BB962C8B-B14F-4D97-AF65-F5344CB8AC3E}">
        <p14:creationId xmlns:p14="http://schemas.microsoft.com/office/powerpoint/2010/main" val="3038518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1005-28F4-33B1-CB9C-7B6F6000B62D}"/>
              </a:ext>
            </a:extLst>
          </p:cNvPr>
          <p:cNvSpPr>
            <a:spLocks noGrp="1"/>
          </p:cNvSpPr>
          <p:nvPr>
            <p:ph type="title"/>
          </p:nvPr>
        </p:nvSpPr>
        <p:spPr/>
        <p:txBody>
          <a:bodyPr/>
          <a:lstStyle/>
          <a:p>
            <a:r>
              <a:rPr lang="en-US" dirty="0"/>
              <a:t>6A (</a:t>
            </a:r>
            <a:r>
              <a:rPr lang="en-US" dirty="0" err="1"/>
              <a:t>i</a:t>
            </a:r>
            <a:r>
              <a:rPr lang="en-US" dirty="0"/>
              <a:t>)– Algorithm Details cont.</a:t>
            </a:r>
            <a:endParaRPr lang="en-IN" dirty="0"/>
          </a:p>
        </p:txBody>
      </p:sp>
      <p:sp>
        <p:nvSpPr>
          <p:cNvPr id="3" name="Content Placeholder 2">
            <a:extLst>
              <a:ext uri="{FF2B5EF4-FFF2-40B4-BE49-F238E27FC236}">
                <a16:creationId xmlns:a16="http://schemas.microsoft.com/office/drawing/2014/main" id="{06FC5F17-52F6-DADC-542A-B0EEE9B1FC07}"/>
              </a:ext>
            </a:extLst>
          </p:cNvPr>
          <p:cNvSpPr>
            <a:spLocks noGrp="1"/>
          </p:cNvSpPr>
          <p:nvPr>
            <p:ph idx="1"/>
          </p:nvPr>
        </p:nvSpPr>
        <p:spPr/>
        <p:txBody>
          <a:bodyPr>
            <a:normAutofit fontScale="62500" lnSpcReduction="20000"/>
          </a:bodyPr>
          <a:lstStyle/>
          <a:p>
            <a:pPr marL="0" indent="0">
              <a:buNone/>
            </a:pPr>
            <a:r>
              <a:rPr lang="es-ES" sz="3200" dirty="0"/>
              <a:t>Final OUTPUT:</a:t>
            </a:r>
          </a:p>
          <a:p>
            <a:pPr marL="0" indent="0">
              <a:buNone/>
            </a:pPr>
            <a:r>
              <a:rPr lang="es-ES" sz="2600" dirty="0" err="1"/>
              <a:t>Raider_BBoxes</a:t>
            </a:r>
            <a:r>
              <a:rPr lang="es-ES" sz="2600" dirty="0"/>
              <a:t> = {</a:t>
            </a:r>
          </a:p>
          <a:p>
            <a:pPr marL="0" indent="0">
              <a:buNone/>
            </a:pPr>
            <a:r>
              <a:rPr lang="es-ES" sz="2600" dirty="0"/>
              <a:t>  frame_1: (x1, y1, x2, y2),</a:t>
            </a:r>
          </a:p>
          <a:p>
            <a:pPr marL="0" indent="0">
              <a:buNone/>
            </a:pPr>
            <a:r>
              <a:rPr lang="es-ES" sz="2600" dirty="0"/>
              <a:t>  frame_2: (x1, y1, x2, y2),</a:t>
            </a:r>
          </a:p>
          <a:p>
            <a:pPr marL="0" indent="0">
              <a:buNone/>
            </a:pPr>
            <a:r>
              <a:rPr lang="es-ES" sz="2600" dirty="0"/>
              <a:t>  ...</a:t>
            </a:r>
          </a:p>
          <a:p>
            <a:pPr marL="0" indent="0">
              <a:buNone/>
            </a:pPr>
            <a:r>
              <a:rPr lang="es-ES" sz="2600" dirty="0"/>
              <a:t>}</a:t>
            </a:r>
          </a:p>
          <a:p>
            <a:pPr marL="0" indent="0">
              <a:buNone/>
            </a:pPr>
            <a:endParaRPr lang="en-IN" dirty="0"/>
          </a:p>
          <a:p>
            <a:pPr marL="0" indent="0">
              <a:buNone/>
            </a:pPr>
            <a:r>
              <a:rPr lang="en-IN" sz="3200" dirty="0"/>
              <a:t>Sample I/P, O/P:</a:t>
            </a:r>
          </a:p>
          <a:p>
            <a:pPr marL="0" indent="0">
              <a:buNone/>
            </a:pPr>
            <a:r>
              <a:rPr lang="en-US" sz="2600" dirty="0"/>
              <a:t>	Sample Input: raw video with 5–7 players visible</a:t>
            </a:r>
          </a:p>
          <a:p>
            <a:pPr marL="0" indent="0">
              <a:buNone/>
            </a:pPr>
            <a:r>
              <a:rPr lang="en-US" sz="2600" dirty="0"/>
              <a:t>	</a:t>
            </a:r>
          </a:p>
          <a:p>
            <a:pPr marL="0" indent="0">
              <a:buNone/>
            </a:pPr>
            <a:r>
              <a:rPr lang="en-US" sz="3200" dirty="0"/>
              <a:t>Sample Output (video with annotations)</a:t>
            </a:r>
          </a:p>
          <a:p>
            <a:pPr marL="0" indent="0">
              <a:buNone/>
            </a:pPr>
            <a:r>
              <a:rPr lang="en-US" sz="2600" dirty="0"/>
              <a:t>	Frame 45:</a:t>
            </a:r>
          </a:p>
          <a:p>
            <a:pPr marL="0" indent="0">
              <a:buNone/>
            </a:pPr>
            <a:r>
              <a:rPr lang="en-US" sz="2600" dirty="0"/>
              <a:t>	Raider ID = 3</a:t>
            </a:r>
          </a:p>
          <a:p>
            <a:pPr marL="0" indent="0">
              <a:buNone/>
            </a:pPr>
            <a:r>
              <a:rPr lang="en-US" sz="2600" dirty="0"/>
              <a:t>	Bounding Box = (420, 180, 610, 520)</a:t>
            </a:r>
          </a:p>
          <a:p>
            <a:pPr marL="0" indent="0">
              <a:buNone/>
            </a:pPr>
            <a:endParaRPr lang="en-IN" dirty="0"/>
          </a:p>
        </p:txBody>
      </p:sp>
    </p:spTree>
    <p:extLst>
      <p:ext uri="{BB962C8B-B14F-4D97-AF65-F5344CB8AC3E}">
        <p14:creationId xmlns:p14="http://schemas.microsoft.com/office/powerpoint/2010/main" val="144731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FE54-CD71-B1B9-E3FA-37100C9AB3AB}"/>
              </a:ext>
            </a:extLst>
          </p:cNvPr>
          <p:cNvSpPr>
            <a:spLocks noGrp="1"/>
          </p:cNvSpPr>
          <p:nvPr>
            <p:ph type="title"/>
          </p:nvPr>
        </p:nvSpPr>
        <p:spPr/>
        <p:txBody>
          <a:bodyPr/>
          <a:lstStyle/>
          <a:p>
            <a:r>
              <a:rPr lang="en-US" dirty="0"/>
              <a:t>6A (ii) – Module Overview &amp; Block Diagram</a:t>
            </a:r>
            <a:endParaRPr lang="en-IN" dirty="0"/>
          </a:p>
        </p:txBody>
      </p:sp>
      <p:sp>
        <p:nvSpPr>
          <p:cNvPr id="3" name="Content Placeholder 2">
            <a:extLst>
              <a:ext uri="{FF2B5EF4-FFF2-40B4-BE49-F238E27FC236}">
                <a16:creationId xmlns:a16="http://schemas.microsoft.com/office/drawing/2014/main" id="{4665AFA0-3BE0-6961-BDD5-25E884B53CB6}"/>
              </a:ext>
            </a:extLst>
          </p:cNvPr>
          <p:cNvSpPr>
            <a:spLocks noGrp="1"/>
          </p:cNvSpPr>
          <p:nvPr>
            <p:ph idx="1"/>
          </p:nvPr>
        </p:nvSpPr>
        <p:spPr/>
        <p:txBody>
          <a:bodyPr>
            <a:normAutofit/>
          </a:bodyPr>
          <a:lstStyle/>
          <a:p>
            <a:pPr marL="0" indent="0">
              <a:buNone/>
            </a:pPr>
            <a:r>
              <a:rPr lang="en-US" sz="2400" b="1" dirty="0"/>
              <a:t>Module Name</a:t>
            </a:r>
          </a:p>
          <a:p>
            <a:pPr marL="457200" lvl="1" indent="0">
              <a:buNone/>
            </a:pPr>
            <a:r>
              <a:rPr lang="en-US" sz="2000" b="1" dirty="0"/>
              <a:t>Pose Estimation using </a:t>
            </a:r>
            <a:r>
              <a:rPr lang="en-US" sz="2000" b="1" dirty="0" err="1"/>
              <a:t>MediaPipe</a:t>
            </a:r>
            <a:r>
              <a:rPr lang="en-US" sz="2000" b="1" dirty="0"/>
              <a:t> </a:t>
            </a:r>
            <a:r>
              <a:rPr lang="en-US" sz="2000" b="1" dirty="0" err="1"/>
              <a:t>BlazePose</a:t>
            </a:r>
            <a:endParaRPr lang="en-US" sz="2000" b="1" dirty="0"/>
          </a:p>
          <a:p>
            <a:pPr marL="457200" lvl="1" indent="0">
              <a:buNone/>
            </a:pPr>
            <a:endParaRPr lang="en-US" dirty="0"/>
          </a:p>
          <a:p>
            <a:pPr marL="0" lvl="1" indent="0">
              <a:spcBef>
                <a:spcPts val="1000"/>
              </a:spcBef>
              <a:buNone/>
            </a:pPr>
            <a:r>
              <a:rPr lang="en-US" b="1" dirty="0"/>
              <a:t>Block </a:t>
            </a:r>
            <a:r>
              <a:rPr lang="en-US" b="1" dirty="0" err="1"/>
              <a:t>Digram</a:t>
            </a:r>
            <a:r>
              <a:rPr lang="en-US" b="1" dirty="0"/>
              <a:t>:</a:t>
            </a:r>
          </a:p>
        </p:txBody>
      </p:sp>
      <p:pic>
        <p:nvPicPr>
          <p:cNvPr id="5" name="Picture 4">
            <a:extLst>
              <a:ext uri="{FF2B5EF4-FFF2-40B4-BE49-F238E27FC236}">
                <a16:creationId xmlns:a16="http://schemas.microsoft.com/office/drawing/2014/main" id="{500DDD9F-E0DE-C0F2-BBD5-22AE5F993F54}"/>
              </a:ext>
            </a:extLst>
          </p:cNvPr>
          <p:cNvPicPr>
            <a:picLocks noChangeAspect="1"/>
          </p:cNvPicPr>
          <p:nvPr/>
        </p:nvPicPr>
        <p:blipFill>
          <a:blip r:embed="rId2">
            <a:extLst>
              <a:ext uri="{28A0092B-C50C-407E-A947-70E740481C1C}">
                <a14:useLocalDpi xmlns:a14="http://schemas.microsoft.com/office/drawing/2010/main" val="0"/>
              </a:ext>
            </a:extLst>
          </a:blip>
          <a:srcRect t="45920" r="-101" b="46392"/>
          <a:stretch>
            <a:fillRect/>
          </a:stretch>
        </p:blipFill>
        <p:spPr>
          <a:xfrm>
            <a:off x="84675" y="4386263"/>
            <a:ext cx="12022649" cy="614680"/>
          </a:xfrm>
          <a:prstGeom prst="rect">
            <a:avLst/>
          </a:prstGeom>
        </p:spPr>
      </p:pic>
    </p:spTree>
    <p:extLst>
      <p:ext uri="{BB962C8B-B14F-4D97-AF65-F5344CB8AC3E}">
        <p14:creationId xmlns:p14="http://schemas.microsoft.com/office/powerpoint/2010/main" val="257533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EFECF-D69C-ECD3-F34B-CB92BEF81DB6}"/>
              </a:ext>
            </a:extLst>
          </p:cNvPr>
          <p:cNvSpPr>
            <a:spLocks noGrp="1"/>
          </p:cNvSpPr>
          <p:nvPr>
            <p:ph type="title"/>
          </p:nvPr>
        </p:nvSpPr>
        <p:spPr>
          <a:xfrm>
            <a:off x="721747" y="-148007"/>
            <a:ext cx="10515600" cy="1325563"/>
          </a:xfrm>
        </p:spPr>
        <p:txBody>
          <a:bodyPr/>
          <a:lstStyle/>
          <a:p>
            <a:r>
              <a:rPr lang="en-US" dirty="0"/>
              <a:t>6A (ii) </a:t>
            </a:r>
            <a:r>
              <a:rPr lang="en-IN" dirty="0"/>
              <a:t>Algorithm Details</a:t>
            </a:r>
          </a:p>
        </p:txBody>
      </p:sp>
      <p:sp>
        <p:nvSpPr>
          <p:cNvPr id="3" name="Content Placeholder 2">
            <a:extLst>
              <a:ext uri="{FF2B5EF4-FFF2-40B4-BE49-F238E27FC236}">
                <a16:creationId xmlns:a16="http://schemas.microsoft.com/office/drawing/2014/main" id="{9283857C-6DD6-396B-27C5-961CE39137CA}"/>
              </a:ext>
            </a:extLst>
          </p:cNvPr>
          <p:cNvSpPr>
            <a:spLocks noGrp="1"/>
          </p:cNvSpPr>
          <p:nvPr>
            <p:ph idx="1"/>
          </p:nvPr>
        </p:nvSpPr>
        <p:spPr>
          <a:xfrm>
            <a:off x="721747" y="1104045"/>
            <a:ext cx="10515600" cy="4351338"/>
          </a:xfrm>
        </p:spPr>
        <p:txBody>
          <a:bodyPr>
            <a:noAutofit/>
          </a:bodyPr>
          <a:lstStyle/>
          <a:p>
            <a:endParaRPr lang="en-IN" sz="1050" b="1" dirty="0"/>
          </a:p>
          <a:p>
            <a:pPr marL="0" indent="0">
              <a:buNone/>
            </a:pPr>
            <a:r>
              <a:rPr lang="en-IN" sz="2400" b="1" dirty="0"/>
              <a:t>Algorithm Used</a:t>
            </a:r>
          </a:p>
          <a:p>
            <a:pPr marL="457200" lvl="1" indent="0">
              <a:buNone/>
            </a:pPr>
            <a:r>
              <a:rPr lang="en-IN" sz="2000" b="1" dirty="0" err="1"/>
              <a:t>MediaPipe</a:t>
            </a:r>
            <a:r>
              <a:rPr lang="en-IN" sz="2000" b="1" dirty="0"/>
              <a:t> </a:t>
            </a:r>
            <a:r>
              <a:rPr lang="en-IN" sz="2000" b="1" dirty="0" err="1"/>
              <a:t>BlazePose</a:t>
            </a:r>
            <a:r>
              <a:rPr lang="en-IN" sz="2000" b="1" dirty="0"/>
              <a:t> (33-Keypoint Model)</a:t>
            </a:r>
            <a:br>
              <a:rPr lang="en-IN" sz="650" dirty="0"/>
            </a:br>
            <a:endParaRPr lang="en-IN" sz="650" dirty="0"/>
          </a:p>
          <a:p>
            <a:pPr marL="0" indent="0">
              <a:buNone/>
            </a:pPr>
            <a:r>
              <a:rPr lang="en-IN" sz="2000" b="1" dirty="0"/>
              <a:t>Step 1: Raider-Locked Frame Cropping</a:t>
            </a:r>
          </a:p>
          <a:p>
            <a:pPr marL="457200" lvl="1" indent="0">
              <a:buNone/>
            </a:pPr>
            <a:r>
              <a:rPr lang="en-IN" sz="1600" dirty="0"/>
              <a:t>Input: Frame + Raider Bounding Box</a:t>
            </a:r>
          </a:p>
          <a:p>
            <a:pPr marL="457200" lvl="1" indent="0">
              <a:buNone/>
            </a:pPr>
            <a:r>
              <a:rPr lang="en-IN" sz="1600" dirty="0"/>
              <a:t>Padding: ±40 pixels</a:t>
            </a:r>
          </a:p>
          <a:p>
            <a:pPr marL="457200" lvl="1" indent="0">
              <a:buNone/>
            </a:pPr>
            <a:r>
              <a:rPr lang="en-IN" sz="1600" dirty="0"/>
              <a:t>Clipping: Stay within frame bounds</a:t>
            </a:r>
          </a:p>
          <a:p>
            <a:pPr marL="457200" lvl="1" indent="0">
              <a:buNone/>
            </a:pPr>
            <a:r>
              <a:rPr lang="en-IN" sz="1600" dirty="0"/>
              <a:t>Result: Tight region of interest (ROI) containing only the raider</a:t>
            </a:r>
            <a:br>
              <a:rPr lang="en-IN" sz="1050" dirty="0"/>
            </a:br>
            <a:endParaRPr lang="en-IN" sz="1050" dirty="0"/>
          </a:p>
          <a:p>
            <a:pPr marL="0" indent="0">
              <a:buNone/>
            </a:pPr>
            <a:r>
              <a:rPr lang="en-IN" sz="2000" b="1" dirty="0"/>
              <a:t>Step 2: </a:t>
            </a:r>
            <a:r>
              <a:rPr lang="en-IN" sz="2000" b="1" dirty="0" err="1"/>
              <a:t>MediaPipe</a:t>
            </a:r>
            <a:r>
              <a:rPr lang="en-IN" sz="2000" b="1" dirty="0"/>
              <a:t> Pose Estimation </a:t>
            </a:r>
          </a:p>
          <a:p>
            <a:pPr marL="457200" lvl="1" indent="0">
              <a:buNone/>
            </a:pPr>
            <a:r>
              <a:rPr lang="en-IN" sz="1600" dirty="0"/>
              <a:t>CNN-based pose estimation model</a:t>
            </a:r>
          </a:p>
          <a:p>
            <a:pPr marL="457200" lvl="1" indent="0">
              <a:buNone/>
            </a:pPr>
            <a:r>
              <a:rPr lang="en-IN" sz="1600" dirty="0"/>
              <a:t>Trained for full-body human pose</a:t>
            </a:r>
          </a:p>
          <a:p>
            <a:pPr marL="457200" lvl="1" indent="0">
              <a:buNone/>
            </a:pPr>
            <a:r>
              <a:rPr lang="en-IN" sz="1600" dirty="0"/>
              <a:t>Configuration Used</a:t>
            </a:r>
          </a:p>
          <a:p>
            <a:pPr marL="457200" lvl="1" indent="0">
              <a:buNone/>
            </a:pPr>
            <a:r>
              <a:rPr lang="en-IN" sz="1600" dirty="0"/>
              <a:t>	Videos (not static image)</a:t>
            </a:r>
          </a:p>
          <a:p>
            <a:pPr marL="457200" lvl="1" indent="0">
              <a:buNone/>
            </a:pPr>
            <a:r>
              <a:rPr lang="en-IN" sz="1600" dirty="0"/>
              <a:t>	Temporal landmark smoothing enabled</a:t>
            </a:r>
          </a:p>
          <a:p>
            <a:pPr marL="457200" lvl="1" indent="0">
              <a:buNone/>
            </a:pPr>
            <a:r>
              <a:rPr lang="en-IN" sz="1600" dirty="0"/>
              <a:t>	Confidence thresholds applied internally</a:t>
            </a:r>
            <a:br>
              <a:rPr lang="en-IN" sz="1600" dirty="0"/>
            </a:br>
            <a:endParaRPr lang="en-IN" sz="1600" dirty="0"/>
          </a:p>
          <a:p>
            <a:endParaRPr lang="en-IN" sz="1050" dirty="0"/>
          </a:p>
        </p:txBody>
      </p:sp>
      <p:pic>
        <p:nvPicPr>
          <p:cNvPr id="2052" name="Picture 4">
            <a:extLst>
              <a:ext uri="{FF2B5EF4-FFF2-40B4-BE49-F238E27FC236}">
                <a16:creationId xmlns:a16="http://schemas.microsoft.com/office/drawing/2014/main" id="{62DA3312-30CB-E009-5558-BCC8FEEE5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220" y="3698948"/>
            <a:ext cx="5135880" cy="2913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807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DDACD-A699-B0CB-5507-335B830A933F}"/>
              </a:ext>
            </a:extLst>
          </p:cNvPr>
          <p:cNvSpPr>
            <a:spLocks noGrp="1"/>
          </p:cNvSpPr>
          <p:nvPr>
            <p:ph type="title"/>
          </p:nvPr>
        </p:nvSpPr>
        <p:spPr>
          <a:xfrm>
            <a:off x="838200" y="0"/>
            <a:ext cx="10515600" cy="1325563"/>
          </a:xfrm>
        </p:spPr>
        <p:txBody>
          <a:bodyPr/>
          <a:lstStyle/>
          <a:p>
            <a:r>
              <a:rPr lang="en-US" dirty="0"/>
              <a:t>6A (ii) </a:t>
            </a:r>
            <a:r>
              <a:rPr lang="en-IN" dirty="0"/>
              <a:t>Algorithm Details (</a:t>
            </a:r>
            <a:r>
              <a:rPr lang="en-IN" dirty="0" err="1"/>
              <a:t>cont</a:t>
            </a:r>
            <a:r>
              <a:rPr lang="en-IN" dirty="0"/>
              <a:t>)</a:t>
            </a:r>
          </a:p>
        </p:txBody>
      </p:sp>
      <p:sp>
        <p:nvSpPr>
          <p:cNvPr id="3" name="Content Placeholder 2">
            <a:extLst>
              <a:ext uri="{FF2B5EF4-FFF2-40B4-BE49-F238E27FC236}">
                <a16:creationId xmlns:a16="http://schemas.microsoft.com/office/drawing/2014/main" id="{2045A5BB-49A5-7E5B-6EF3-081DC7FF1013}"/>
              </a:ext>
            </a:extLst>
          </p:cNvPr>
          <p:cNvSpPr>
            <a:spLocks noGrp="1"/>
          </p:cNvSpPr>
          <p:nvPr>
            <p:ph idx="1"/>
          </p:nvPr>
        </p:nvSpPr>
        <p:spPr>
          <a:xfrm>
            <a:off x="312420" y="1150304"/>
            <a:ext cx="11346180" cy="5397500"/>
          </a:xfrm>
        </p:spPr>
        <p:txBody>
          <a:bodyPr>
            <a:normAutofit fontScale="85000" lnSpcReduction="20000"/>
          </a:bodyPr>
          <a:lstStyle/>
          <a:p>
            <a:pPr marL="0" indent="0">
              <a:buNone/>
            </a:pPr>
            <a:r>
              <a:rPr lang="en-US" b="1" dirty="0"/>
              <a:t>Sample Input &amp; Output</a:t>
            </a:r>
          </a:p>
          <a:p>
            <a:pPr marL="0" indent="0">
              <a:buNone/>
            </a:pPr>
            <a:endParaRPr lang="en-US" b="1" dirty="0"/>
          </a:p>
          <a:p>
            <a:pPr marL="0" indent="0">
              <a:buNone/>
            </a:pPr>
            <a:r>
              <a:rPr lang="en-US" sz="2400" b="1" dirty="0"/>
              <a:t>Sample Input</a:t>
            </a:r>
          </a:p>
          <a:p>
            <a:pPr marL="0" lvl="2" indent="0">
              <a:spcBef>
                <a:spcPts val="1000"/>
              </a:spcBef>
              <a:buNone/>
            </a:pPr>
            <a:r>
              <a:rPr lang="en-US" sz="2100" dirty="0">
                <a:latin typeface="Courier New" panose="02070309020205020404" pitchFamily="49" charset="0"/>
              </a:rPr>
              <a:t>	</a:t>
            </a:r>
            <a:r>
              <a:rPr lang="en-US" sz="1900" dirty="0">
                <a:latin typeface="Courier New" panose="02070309020205020404" pitchFamily="49" charset="0"/>
              </a:rPr>
              <a:t>Frame 120</a:t>
            </a:r>
          </a:p>
          <a:p>
            <a:pPr marL="0" lvl="2" indent="0">
              <a:spcBef>
                <a:spcPts val="1000"/>
              </a:spcBef>
              <a:buNone/>
            </a:pPr>
            <a:r>
              <a:rPr lang="en-US" sz="1900" dirty="0">
                <a:latin typeface="Courier New" panose="02070309020205020404" pitchFamily="49" charset="0"/>
              </a:rPr>
              <a:t>	Raider Bounding Box = (420, 180, 610, 520)</a:t>
            </a:r>
          </a:p>
          <a:p>
            <a:pPr marL="0" lvl="2" indent="0">
              <a:spcBef>
                <a:spcPts val="1000"/>
              </a:spcBef>
              <a:buNone/>
            </a:pPr>
            <a:endParaRPr lang="en-US" sz="1900" dirty="0">
              <a:latin typeface="Courier New" panose="02070309020205020404" pitchFamily="49" charset="0"/>
            </a:endParaRPr>
          </a:p>
          <a:p>
            <a:pPr marL="0" indent="0">
              <a:buNone/>
            </a:pPr>
            <a:r>
              <a:rPr lang="en-US" sz="2400" b="1" dirty="0"/>
              <a:t>Sample Output</a:t>
            </a:r>
          </a:p>
          <a:p>
            <a:pPr marL="0" indent="0">
              <a:buNone/>
            </a:pPr>
            <a:r>
              <a:rPr lang="en-US" sz="2100" dirty="0">
                <a:latin typeface="Courier New" panose="02070309020205020404" pitchFamily="49" charset="0"/>
              </a:rPr>
              <a:t>	</a:t>
            </a:r>
            <a:r>
              <a:rPr lang="en-US" sz="1900" dirty="0">
                <a:latin typeface="Courier New" panose="02070309020205020404" pitchFamily="49" charset="0"/>
              </a:rPr>
              <a:t>Pose[120] =</a:t>
            </a:r>
          </a:p>
          <a:p>
            <a:pPr marL="0" indent="0">
              <a:buNone/>
            </a:pPr>
            <a:r>
              <a:rPr lang="en-US" sz="1900" dirty="0">
                <a:latin typeface="Courier New" panose="02070309020205020404" pitchFamily="49" charset="0"/>
              </a:rPr>
              <a:t>		[</a:t>
            </a:r>
          </a:p>
          <a:p>
            <a:pPr marL="0" indent="0">
              <a:buNone/>
            </a:pPr>
            <a:r>
              <a:rPr lang="en-US" sz="1900" dirty="0">
                <a:latin typeface="Courier New" panose="02070309020205020404" pitchFamily="49" charset="0"/>
              </a:rPr>
              <a:t>  			(0.48, 0.12),   # nose</a:t>
            </a:r>
          </a:p>
          <a:p>
            <a:pPr marL="0" indent="0">
              <a:buNone/>
            </a:pPr>
            <a:r>
              <a:rPr lang="en-US" sz="1900" dirty="0">
                <a:latin typeface="Courier New" panose="02070309020205020404" pitchFamily="49" charset="0"/>
              </a:rPr>
              <a:t>  			(0.46, 0.10),   # left eye</a:t>
            </a:r>
          </a:p>
          <a:p>
            <a:pPr marL="0" indent="0">
              <a:buNone/>
            </a:pPr>
            <a:r>
              <a:rPr lang="en-US" sz="1900" dirty="0">
                <a:latin typeface="Courier New" panose="02070309020205020404" pitchFamily="49" charset="0"/>
              </a:rPr>
              <a:t>  			...</a:t>
            </a:r>
          </a:p>
          <a:p>
            <a:pPr marL="0" indent="0">
              <a:buNone/>
            </a:pPr>
            <a:r>
              <a:rPr lang="en-US" sz="1900" dirty="0">
                <a:latin typeface="Courier New" panose="02070309020205020404" pitchFamily="49" charset="0"/>
              </a:rPr>
              <a:t>  			(0.52, 0.91)    # right foot</a:t>
            </a:r>
          </a:p>
          <a:p>
            <a:pPr marL="0" indent="0">
              <a:buNone/>
            </a:pPr>
            <a:r>
              <a:rPr lang="en-US" sz="1900" dirty="0">
                <a:latin typeface="Courier New" panose="02070309020205020404" pitchFamily="49" charset="0"/>
              </a:rPr>
              <a:t>		]</a:t>
            </a:r>
          </a:p>
          <a:p>
            <a:pPr marL="0" indent="0">
              <a:buNone/>
            </a:pPr>
            <a:r>
              <a:rPr lang="en-US" sz="1900" dirty="0">
                <a:latin typeface="Courier New" panose="02070309020205020404" pitchFamily="49" charset="0"/>
              </a:rPr>
              <a:t>	Shape:</a:t>
            </a:r>
          </a:p>
          <a:p>
            <a:pPr marL="0" indent="0">
              <a:buNone/>
            </a:pPr>
            <a:r>
              <a:rPr lang="en-US" sz="1900" dirty="0">
                <a:latin typeface="Courier New" panose="02070309020205020404" pitchFamily="49" charset="0"/>
              </a:rPr>
              <a:t>	(33 joints × 2 coordinates)</a:t>
            </a:r>
          </a:p>
          <a:p>
            <a:endParaRPr lang="en-IN" dirty="0"/>
          </a:p>
        </p:txBody>
      </p:sp>
    </p:spTree>
    <p:extLst>
      <p:ext uri="{BB962C8B-B14F-4D97-AF65-F5344CB8AC3E}">
        <p14:creationId xmlns:p14="http://schemas.microsoft.com/office/powerpoint/2010/main" val="634446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BFC9-45AE-7789-4032-D7B7C0C78819}"/>
              </a:ext>
            </a:extLst>
          </p:cNvPr>
          <p:cNvSpPr>
            <a:spLocks noGrp="1"/>
          </p:cNvSpPr>
          <p:nvPr>
            <p:ph type="title"/>
          </p:nvPr>
        </p:nvSpPr>
        <p:spPr/>
        <p:txBody>
          <a:bodyPr/>
          <a:lstStyle/>
          <a:p>
            <a:r>
              <a:rPr lang="en-IN" dirty="0"/>
              <a:t>6A (iii) Module Overview &amp; Block Diagram</a:t>
            </a:r>
          </a:p>
        </p:txBody>
      </p:sp>
      <p:sp>
        <p:nvSpPr>
          <p:cNvPr id="3" name="Content Placeholder 2">
            <a:extLst>
              <a:ext uri="{FF2B5EF4-FFF2-40B4-BE49-F238E27FC236}">
                <a16:creationId xmlns:a16="http://schemas.microsoft.com/office/drawing/2014/main" id="{EFCEA7AD-04E3-9832-19C1-4CB032F3994B}"/>
              </a:ext>
            </a:extLst>
          </p:cNvPr>
          <p:cNvSpPr>
            <a:spLocks noGrp="1"/>
          </p:cNvSpPr>
          <p:nvPr>
            <p:ph idx="1"/>
          </p:nvPr>
        </p:nvSpPr>
        <p:spPr/>
        <p:txBody>
          <a:bodyPr>
            <a:normAutofit/>
          </a:bodyPr>
          <a:lstStyle/>
          <a:p>
            <a:r>
              <a:rPr lang="en-US" sz="2400" b="1" dirty="0"/>
              <a:t>Module Name</a:t>
            </a:r>
          </a:p>
          <a:p>
            <a:pPr lvl="1"/>
            <a:r>
              <a:rPr lang="en-US" sz="2000" b="1" dirty="0"/>
              <a:t>Format Conversion: MediaPipe-33 to COCO-17</a:t>
            </a:r>
            <a:endParaRPr lang="en-US" sz="2000" dirty="0"/>
          </a:p>
          <a:p>
            <a:pPr marL="457200" lvl="1" indent="0">
              <a:buNone/>
            </a:pPr>
            <a:endParaRPr lang="en-US" dirty="0"/>
          </a:p>
          <a:p>
            <a:r>
              <a:rPr lang="en-IN" b="1" dirty="0"/>
              <a:t>Block diagram:</a:t>
            </a:r>
          </a:p>
        </p:txBody>
      </p:sp>
      <p:pic>
        <p:nvPicPr>
          <p:cNvPr id="5" name="Picture 4">
            <a:extLst>
              <a:ext uri="{FF2B5EF4-FFF2-40B4-BE49-F238E27FC236}">
                <a16:creationId xmlns:a16="http://schemas.microsoft.com/office/drawing/2014/main" id="{8CD90ECE-25D8-DDE5-A328-355B865B50B7}"/>
              </a:ext>
            </a:extLst>
          </p:cNvPr>
          <p:cNvPicPr>
            <a:picLocks noChangeAspect="1"/>
          </p:cNvPicPr>
          <p:nvPr/>
        </p:nvPicPr>
        <p:blipFill>
          <a:blip r:embed="rId2">
            <a:extLst>
              <a:ext uri="{28A0092B-C50C-407E-A947-70E740481C1C}">
                <a14:useLocalDpi xmlns:a14="http://schemas.microsoft.com/office/drawing/2010/main" val="0"/>
              </a:ext>
            </a:extLst>
          </a:blip>
          <a:srcRect l="297" t="46328" r="297" b="45772"/>
          <a:stretch>
            <a:fillRect/>
          </a:stretch>
        </p:blipFill>
        <p:spPr>
          <a:xfrm>
            <a:off x="190831" y="4294824"/>
            <a:ext cx="11810337" cy="624839"/>
          </a:xfrm>
          <a:prstGeom prst="rect">
            <a:avLst/>
          </a:prstGeom>
        </p:spPr>
      </p:pic>
    </p:spTree>
    <p:extLst>
      <p:ext uri="{BB962C8B-B14F-4D97-AF65-F5344CB8AC3E}">
        <p14:creationId xmlns:p14="http://schemas.microsoft.com/office/powerpoint/2010/main" val="216543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EAE14-C08A-6895-DBA6-41D6B2D1D872}"/>
              </a:ext>
            </a:extLst>
          </p:cNvPr>
          <p:cNvSpPr>
            <a:spLocks noGrp="1"/>
          </p:cNvSpPr>
          <p:nvPr>
            <p:ph type="title"/>
          </p:nvPr>
        </p:nvSpPr>
        <p:spPr>
          <a:xfrm>
            <a:off x="838200" y="-248286"/>
            <a:ext cx="10515600" cy="1325563"/>
          </a:xfrm>
        </p:spPr>
        <p:txBody>
          <a:bodyPr/>
          <a:lstStyle/>
          <a:p>
            <a:r>
              <a:rPr lang="en-IN" dirty="0"/>
              <a:t>6A (iii) Algorithm Details</a:t>
            </a:r>
          </a:p>
        </p:txBody>
      </p:sp>
      <p:sp>
        <p:nvSpPr>
          <p:cNvPr id="3" name="Content Placeholder 2">
            <a:extLst>
              <a:ext uri="{FF2B5EF4-FFF2-40B4-BE49-F238E27FC236}">
                <a16:creationId xmlns:a16="http://schemas.microsoft.com/office/drawing/2014/main" id="{7CB479E0-741B-A3BC-867E-12B900EA1C44}"/>
              </a:ext>
            </a:extLst>
          </p:cNvPr>
          <p:cNvSpPr>
            <a:spLocks noGrp="1"/>
          </p:cNvSpPr>
          <p:nvPr>
            <p:ph idx="1"/>
          </p:nvPr>
        </p:nvSpPr>
        <p:spPr>
          <a:xfrm>
            <a:off x="838200" y="932518"/>
            <a:ext cx="10515600" cy="4351338"/>
          </a:xfrm>
        </p:spPr>
        <p:txBody>
          <a:bodyPr>
            <a:normAutofit/>
          </a:bodyPr>
          <a:lstStyle/>
          <a:p>
            <a:pPr marL="0" indent="0">
              <a:buNone/>
            </a:pPr>
            <a:r>
              <a:rPr lang="en-US" sz="2000" b="1" dirty="0"/>
              <a:t>Algorithm Type</a:t>
            </a:r>
          </a:p>
          <a:p>
            <a:pPr marL="457200" lvl="1" indent="0">
              <a:buNone/>
            </a:pPr>
            <a:r>
              <a:rPr lang="en-US" sz="1800" b="1" dirty="0"/>
              <a:t>Deterministic Joint Index Mapping + Coordinate Transformation</a:t>
            </a:r>
            <a:endParaRPr lang="en-US" sz="1800" dirty="0"/>
          </a:p>
          <a:p>
            <a:pPr marL="0" indent="0">
              <a:buNone/>
            </a:pPr>
            <a:endParaRPr lang="en-US" sz="1800" b="1" dirty="0"/>
          </a:p>
          <a:p>
            <a:pPr marL="0" indent="0">
              <a:buNone/>
            </a:pPr>
            <a:r>
              <a:rPr lang="en-US" sz="1800" b="1" dirty="0"/>
              <a:t>Step 1: Joint Index Mapping</a:t>
            </a:r>
          </a:p>
          <a:p>
            <a:pPr marL="457200" lvl="1" indent="0">
              <a:buNone/>
            </a:pPr>
            <a:r>
              <a:rPr lang="en-US" sz="1800" dirty="0"/>
              <a:t>Each COCO-17 joint is mapped to a specific </a:t>
            </a:r>
            <a:r>
              <a:rPr lang="en-US" sz="1800" dirty="0" err="1"/>
              <a:t>MediaPipe</a:t>
            </a:r>
            <a:r>
              <a:rPr lang="en-US" sz="1800" dirty="0"/>
              <a:t> landmark index. </a:t>
            </a:r>
          </a:p>
          <a:p>
            <a:pPr marL="457200" lvl="1" indent="0">
              <a:buNone/>
            </a:pPr>
            <a:r>
              <a:rPr lang="en-US" sz="2000" b="1" dirty="0"/>
              <a:t>Mapping Table (Fixed)</a:t>
            </a:r>
            <a:endParaRPr lang="en-US" sz="2000" dirty="0"/>
          </a:p>
          <a:p>
            <a:pPr lvl="1"/>
            <a:endParaRPr lang="en-IN" dirty="0"/>
          </a:p>
        </p:txBody>
      </p:sp>
      <p:pic>
        <p:nvPicPr>
          <p:cNvPr id="1026" name="Picture 2" descr="Illustration of human body estimation COCO17 keypoints.">
            <a:hlinkClick r:id="rId2"/>
            <a:extLst>
              <a:ext uri="{FF2B5EF4-FFF2-40B4-BE49-F238E27FC236}">
                <a16:creationId xmlns:a16="http://schemas.microsoft.com/office/drawing/2014/main" id="{86508135-7A95-7FDC-DAB0-6C2385D80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8618" y="2714847"/>
            <a:ext cx="3723802" cy="4048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18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8CD9-0608-1405-1E04-16235A228432}"/>
              </a:ext>
            </a:extLst>
          </p:cNvPr>
          <p:cNvSpPr>
            <a:spLocks noGrp="1"/>
          </p:cNvSpPr>
          <p:nvPr>
            <p:ph type="title"/>
          </p:nvPr>
        </p:nvSpPr>
        <p:spPr/>
        <p:txBody>
          <a:bodyPr/>
          <a:lstStyle/>
          <a:p>
            <a:r>
              <a:rPr lang="en-IN" dirty="0"/>
              <a:t>6A(iii) Algorithm Details (</a:t>
            </a:r>
            <a:r>
              <a:rPr lang="en-IN" dirty="0" err="1"/>
              <a:t>cont</a:t>
            </a:r>
            <a:r>
              <a:rPr lang="en-IN" dirty="0"/>
              <a:t>)</a:t>
            </a:r>
          </a:p>
        </p:txBody>
      </p:sp>
      <p:sp>
        <p:nvSpPr>
          <p:cNvPr id="3" name="Content Placeholder 2">
            <a:extLst>
              <a:ext uri="{FF2B5EF4-FFF2-40B4-BE49-F238E27FC236}">
                <a16:creationId xmlns:a16="http://schemas.microsoft.com/office/drawing/2014/main" id="{93316AD2-6CBA-F4E7-F110-63043A905667}"/>
              </a:ext>
            </a:extLst>
          </p:cNvPr>
          <p:cNvSpPr>
            <a:spLocks noGrp="1"/>
          </p:cNvSpPr>
          <p:nvPr>
            <p:ph idx="1"/>
          </p:nvPr>
        </p:nvSpPr>
        <p:spPr/>
        <p:txBody>
          <a:bodyPr/>
          <a:lstStyle/>
          <a:p>
            <a:r>
              <a:rPr lang="en-IN" sz="2400" dirty="0"/>
              <a:t>Step 2: Coordinate Transformation</a:t>
            </a:r>
          </a:p>
          <a:p>
            <a:pPr lvl="1"/>
            <a:r>
              <a:rPr lang="en-IN" sz="2000" b="1" dirty="0"/>
              <a:t>Transformation Formula</a:t>
            </a:r>
          </a:p>
          <a:p>
            <a:pPr marL="0" lvl="1" indent="0">
              <a:buNone/>
            </a:pPr>
            <a:r>
              <a:rPr lang="en-IN" dirty="0"/>
              <a:t>	</a:t>
            </a:r>
            <a:r>
              <a:rPr lang="en-IN" sz="1600" dirty="0">
                <a:latin typeface="Courier New" panose="02070309020205020404" pitchFamily="49" charset="0"/>
              </a:rPr>
              <a:t>For each joint:</a:t>
            </a:r>
          </a:p>
          <a:p>
            <a:pPr marL="0" lvl="2" indent="0">
              <a:buNone/>
            </a:pPr>
            <a:r>
              <a:rPr lang="en-IN" sz="1600" dirty="0">
                <a:latin typeface="Courier New" panose="02070309020205020404" pitchFamily="49" charset="0"/>
              </a:rPr>
              <a:t>		</a:t>
            </a:r>
            <a:r>
              <a:rPr lang="en-IN" sz="1600" dirty="0" err="1">
                <a:latin typeface="Courier New" panose="02070309020205020404" pitchFamily="49" charset="0"/>
              </a:rPr>
              <a:t>x_pixel</a:t>
            </a:r>
            <a:r>
              <a:rPr lang="en-IN" sz="1600" dirty="0">
                <a:latin typeface="Courier New" panose="02070309020205020404" pitchFamily="49" charset="0"/>
              </a:rPr>
              <a:t> = bbox_x1 + </a:t>
            </a:r>
            <a:r>
              <a:rPr lang="en-IN" sz="1600" dirty="0" err="1">
                <a:latin typeface="Courier New" panose="02070309020205020404" pitchFamily="49" charset="0"/>
              </a:rPr>
              <a:t>lm.x</a:t>
            </a:r>
            <a:r>
              <a:rPr lang="en-IN" sz="1600" dirty="0">
                <a:latin typeface="Courier New" panose="02070309020205020404" pitchFamily="49" charset="0"/>
              </a:rPr>
              <a:t> × </a:t>
            </a:r>
            <a:r>
              <a:rPr lang="en-IN" sz="1600" dirty="0" err="1">
                <a:latin typeface="Courier New" panose="02070309020205020404" pitchFamily="49" charset="0"/>
              </a:rPr>
              <a:t>bbox_width</a:t>
            </a:r>
            <a:endParaRPr lang="en-IN" sz="1600" dirty="0">
              <a:latin typeface="Courier New" panose="02070309020205020404" pitchFamily="49" charset="0"/>
            </a:endParaRPr>
          </a:p>
          <a:p>
            <a:pPr marL="0" lvl="4" indent="0">
              <a:buNone/>
            </a:pPr>
            <a:r>
              <a:rPr lang="en-IN" sz="1600" dirty="0">
                <a:latin typeface="Courier New" panose="02070309020205020404" pitchFamily="49" charset="0"/>
              </a:rPr>
              <a:t>		</a:t>
            </a:r>
            <a:r>
              <a:rPr lang="en-IN" sz="1600" dirty="0" err="1">
                <a:latin typeface="Courier New" panose="02070309020205020404" pitchFamily="49" charset="0"/>
              </a:rPr>
              <a:t>y_pixel</a:t>
            </a:r>
            <a:r>
              <a:rPr lang="en-IN" sz="1600" dirty="0">
                <a:latin typeface="Courier New" panose="02070309020205020404" pitchFamily="49" charset="0"/>
              </a:rPr>
              <a:t> = bbox_y1 + </a:t>
            </a:r>
            <a:r>
              <a:rPr lang="en-IN" sz="1600" dirty="0" err="1">
                <a:latin typeface="Courier New" panose="02070309020205020404" pitchFamily="49" charset="0"/>
              </a:rPr>
              <a:t>lm.y</a:t>
            </a:r>
            <a:r>
              <a:rPr lang="en-IN" sz="1600" dirty="0">
                <a:latin typeface="Courier New" panose="02070309020205020404" pitchFamily="49" charset="0"/>
              </a:rPr>
              <a:t> × </a:t>
            </a:r>
            <a:r>
              <a:rPr lang="en-IN" sz="1600" dirty="0" err="1">
                <a:latin typeface="Courier New" panose="02070309020205020404" pitchFamily="49" charset="0"/>
              </a:rPr>
              <a:t>bbox_height</a:t>
            </a:r>
            <a:endParaRPr lang="en-IN" sz="1600" dirty="0">
              <a:latin typeface="Courier New" panose="02070309020205020404" pitchFamily="49" charset="0"/>
            </a:endParaRPr>
          </a:p>
          <a:p>
            <a:pPr lvl="1"/>
            <a:r>
              <a:rPr lang="en-IN" sz="2000" b="1" dirty="0"/>
              <a:t>Visibility Rule</a:t>
            </a:r>
          </a:p>
          <a:p>
            <a:pPr marL="0" lvl="2" indent="0">
              <a:buNone/>
            </a:pPr>
            <a:r>
              <a:rPr lang="en-IN" sz="1600" dirty="0">
                <a:latin typeface="Courier New" panose="02070309020205020404" pitchFamily="49" charset="0"/>
              </a:rPr>
              <a:t>	If landmark visibility &lt; 0.5:</a:t>
            </a:r>
          </a:p>
          <a:p>
            <a:pPr marL="0" lvl="2" indent="0">
              <a:buNone/>
            </a:pPr>
            <a:r>
              <a:rPr lang="en-IN" sz="1600" dirty="0">
                <a:latin typeface="Courier New" panose="02070309020205020404" pitchFamily="49" charset="0"/>
              </a:rPr>
              <a:t>		(x, y) = </a:t>
            </a:r>
            <a:r>
              <a:rPr lang="en-IN" sz="1600" dirty="0" err="1">
                <a:latin typeface="Courier New" panose="02070309020205020404" pitchFamily="49" charset="0"/>
              </a:rPr>
              <a:t>NaN</a:t>
            </a:r>
            <a:endParaRPr lang="en-IN" sz="1600" dirty="0">
              <a:latin typeface="Courier New" panose="02070309020205020404" pitchFamily="49" charset="0"/>
            </a:endParaRPr>
          </a:p>
          <a:p>
            <a:pPr lvl="1"/>
            <a:endParaRPr lang="en-IN" dirty="0"/>
          </a:p>
        </p:txBody>
      </p:sp>
    </p:spTree>
    <p:extLst>
      <p:ext uri="{BB962C8B-B14F-4D97-AF65-F5344CB8AC3E}">
        <p14:creationId xmlns:p14="http://schemas.microsoft.com/office/powerpoint/2010/main" val="1911472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1864-C18D-CD94-313C-05D081B85311}"/>
              </a:ext>
            </a:extLst>
          </p:cNvPr>
          <p:cNvSpPr>
            <a:spLocks noGrp="1"/>
          </p:cNvSpPr>
          <p:nvPr>
            <p:ph type="title"/>
          </p:nvPr>
        </p:nvSpPr>
        <p:spPr/>
        <p:txBody>
          <a:bodyPr/>
          <a:lstStyle/>
          <a:p>
            <a:r>
              <a:rPr lang="en-IN" dirty="0"/>
              <a:t>6A(iii) Algorithm Details (</a:t>
            </a:r>
            <a:r>
              <a:rPr lang="en-IN" dirty="0" err="1"/>
              <a:t>cont</a:t>
            </a:r>
            <a:r>
              <a:rPr lang="en-IN" dirty="0"/>
              <a:t>)</a:t>
            </a:r>
          </a:p>
        </p:txBody>
      </p:sp>
      <p:sp>
        <p:nvSpPr>
          <p:cNvPr id="3" name="Content Placeholder 2">
            <a:extLst>
              <a:ext uri="{FF2B5EF4-FFF2-40B4-BE49-F238E27FC236}">
                <a16:creationId xmlns:a16="http://schemas.microsoft.com/office/drawing/2014/main" id="{3DCB1468-7660-6CB1-9483-2CBA12ED1231}"/>
              </a:ext>
            </a:extLst>
          </p:cNvPr>
          <p:cNvSpPr>
            <a:spLocks noGrp="1"/>
          </p:cNvSpPr>
          <p:nvPr>
            <p:ph idx="1"/>
          </p:nvPr>
        </p:nvSpPr>
        <p:spPr/>
        <p:txBody>
          <a:bodyPr>
            <a:normAutofit/>
          </a:bodyPr>
          <a:lstStyle/>
          <a:p>
            <a:r>
              <a:rPr lang="en-US" sz="2400" b="1" dirty="0"/>
              <a:t>Sample Input &amp; Output</a:t>
            </a:r>
          </a:p>
          <a:p>
            <a:pPr marL="457200" lvl="1" indent="0">
              <a:buNone/>
            </a:pPr>
            <a:r>
              <a:rPr lang="en-US" sz="2000" b="1" dirty="0"/>
              <a:t>Sample Input:</a:t>
            </a:r>
          </a:p>
          <a:p>
            <a:pPr marL="457200" lvl="1" indent="0">
              <a:buNone/>
            </a:pPr>
            <a:r>
              <a:rPr lang="en-US" dirty="0"/>
              <a:t>	</a:t>
            </a:r>
          </a:p>
          <a:p>
            <a:pPr marL="457200" lvl="1" indent="0">
              <a:buNone/>
            </a:pPr>
            <a:endParaRPr lang="en-US" dirty="0"/>
          </a:p>
          <a:p>
            <a:pPr marL="457200" lvl="1" indent="0">
              <a:buNone/>
            </a:pPr>
            <a:endParaRPr lang="en-US" dirty="0"/>
          </a:p>
          <a:p>
            <a:pPr marL="457200" lvl="1" indent="0">
              <a:buNone/>
            </a:pPr>
            <a:endParaRPr lang="en-US" b="1" dirty="0"/>
          </a:p>
          <a:p>
            <a:pPr marL="457200" lvl="1" indent="0">
              <a:buNone/>
            </a:pPr>
            <a:endParaRPr lang="en-US" sz="2000" b="1" dirty="0"/>
          </a:p>
          <a:p>
            <a:pPr marL="457200" lvl="1" indent="0">
              <a:buNone/>
            </a:pPr>
            <a:r>
              <a:rPr lang="en-US" sz="2000" b="1" dirty="0"/>
              <a:t>Sample Output:</a:t>
            </a:r>
          </a:p>
        </p:txBody>
      </p:sp>
      <p:sp>
        <p:nvSpPr>
          <p:cNvPr id="6" name="TextBox 5">
            <a:extLst>
              <a:ext uri="{FF2B5EF4-FFF2-40B4-BE49-F238E27FC236}">
                <a16:creationId xmlns:a16="http://schemas.microsoft.com/office/drawing/2014/main" id="{B4BAA761-97D5-6294-CD2C-8D07E046B772}"/>
              </a:ext>
            </a:extLst>
          </p:cNvPr>
          <p:cNvSpPr txBox="1"/>
          <p:nvPr/>
        </p:nvSpPr>
        <p:spPr>
          <a:xfrm>
            <a:off x="1951642" y="2561434"/>
            <a:ext cx="6097248" cy="1462965"/>
          </a:xfrm>
          <a:prstGeom prst="rect">
            <a:avLst/>
          </a:prstGeom>
          <a:noFill/>
        </p:spPr>
        <p:txBody>
          <a:bodyPr wrap="square">
            <a:spAutoFit/>
          </a:bodyPr>
          <a:lstStyle/>
          <a:p>
            <a:pPr>
              <a:lnSpc>
                <a:spcPct val="90000"/>
              </a:lnSpc>
              <a:spcBef>
                <a:spcPts val="500"/>
              </a:spcBef>
            </a:pPr>
            <a:r>
              <a:rPr lang="en-IN" sz="1600" dirty="0">
                <a:latin typeface="Courier New" panose="02070309020205020404" pitchFamily="49" charset="0"/>
              </a:rPr>
              <a:t>MP33 landmark (left shoulder):</a:t>
            </a:r>
          </a:p>
          <a:p>
            <a:pPr>
              <a:lnSpc>
                <a:spcPct val="90000"/>
              </a:lnSpc>
              <a:spcBef>
                <a:spcPts val="500"/>
              </a:spcBef>
            </a:pPr>
            <a:r>
              <a:rPr lang="en-IN" sz="1600" dirty="0">
                <a:latin typeface="Courier New" panose="02070309020205020404" pitchFamily="49" charset="0"/>
              </a:rPr>
              <a:t>(x = 0.42, y = 0.36)</a:t>
            </a:r>
          </a:p>
          <a:p>
            <a:pPr>
              <a:lnSpc>
                <a:spcPct val="90000"/>
              </a:lnSpc>
              <a:spcBef>
                <a:spcPts val="500"/>
              </a:spcBef>
            </a:pPr>
            <a:r>
              <a:rPr lang="en-IN" sz="1600" dirty="0">
                <a:latin typeface="Courier New" panose="02070309020205020404" pitchFamily="49" charset="0"/>
              </a:rPr>
              <a:t>Bounding Box:</a:t>
            </a:r>
          </a:p>
          <a:p>
            <a:pPr>
              <a:lnSpc>
                <a:spcPct val="90000"/>
              </a:lnSpc>
              <a:spcBef>
                <a:spcPts val="500"/>
              </a:spcBef>
            </a:pPr>
            <a:r>
              <a:rPr lang="en-IN" sz="1600" dirty="0">
                <a:latin typeface="Courier New" panose="02070309020205020404" pitchFamily="49" charset="0"/>
              </a:rPr>
              <a:t>x1 = 400, y1 = 150</a:t>
            </a:r>
          </a:p>
          <a:p>
            <a:pPr>
              <a:lnSpc>
                <a:spcPct val="90000"/>
              </a:lnSpc>
              <a:spcBef>
                <a:spcPts val="500"/>
              </a:spcBef>
            </a:pPr>
            <a:r>
              <a:rPr lang="en-IN" sz="1600" dirty="0">
                <a:latin typeface="Courier New" panose="02070309020205020404" pitchFamily="49" charset="0"/>
              </a:rPr>
              <a:t>width = 200, height = 400</a:t>
            </a:r>
          </a:p>
        </p:txBody>
      </p:sp>
      <p:sp>
        <p:nvSpPr>
          <p:cNvPr id="9" name="TextBox 8">
            <a:extLst>
              <a:ext uri="{FF2B5EF4-FFF2-40B4-BE49-F238E27FC236}">
                <a16:creationId xmlns:a16="http://schemas.microsoft.com/office/drawing/2014/main" id="{BFDB0BF5-2CE2-4AD5-D0A5-7F6F73528AFD}"/>
              </a:ext>
            </a:extLst>
          </p:cNvPr>
          <p:cNvSpPr txBox="1"/>
          <p:nvPr/>
        </p:nvSpPr>
        <p:spPr>
          <a:xfrm>
            <a:off x="1951642" y="4868969"/>
            <a:ext cx="6097248" cy="891526"/>
          </a:xfrm>
          <a:prstGeom prst="rect">
            <a:avLst/>
          </a:prstGeom>
          <a:noFill/>
        </p:spPr>
        <p:txBody>
          <a:bodyPr wrap="square">
            <a:spAutoFit/>
          </a:bodyPr>
          <a:lstStyle/>
          <a:p>
            <a:pPr>
              <a:lnSpc>
                <a:spcPct val="90000"/>
              </a:lnSpc>
              <a:spcBef>
                <a:spcPts val="500"/>
              </a:spcBef>
            </a:pPr>
            <a:r>
              <a:rPr lang="en-IN" sz="1600" dirty="0">
                <a:latin typeface="Courier New" panose="02070309020205020404" pitchFamily="49" charset="0"/>
              </a:rPr>
              <a:t>COCO-17 left shoulder:</a:t>
            </a:r>
          </a:p>
          <a:p>
            <a:pPr>
              <a:lnSpc>
                <a:spcPct val="90000"/>
              </a:lnSpc>
              <a:spcBef>
                <a:spcPts val="500"/>
              </a:spcBef>
            </a:pPr>
            <a:r>
              <a:rPr lang="en-IN" sz="1600" dirty="0">
                <a:latin typeface="Courier New" panose="02070309020205020404" pitchFamily="49" charset="0"/>
              </a:rPr>
              <a:t>X = 400 + 0.42 x 200 = 484</a:t>
            </a:r>
          </a:p>
          <a:p>
            <a:pPr>
              <a:lnSpc>
                <a:spcPct val="90000"/>
              </a:lnSpc>
              <a:spcBef>
                <a:spcPts val="500"/>
              </a:spcBef>
            </a:pPr>
            <a:r>
              <a:rPr lang="en-IN" sz="1600" dirty="0">
                <a:latin typeface="Courier New" panose="02070309020205020404" pitchFamily="49" charset="0"/>
              </a:rPr>
              <a:t>y = 150 + 0.36 x 400 = 294</a:t>
            </a:r>
          </a:p>
        </p:txBody>
      </p:sp>
    </p:spTree>
    <p:extLst>
      <p:ext uri="{BB962C8B-B14F-4D97-AF65-F5344CB8AC3E}">
        <p14:creationId xmlns:p14="http://schemas.microsoft.com/office/powerpoint/2010/main" val="4019946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D3F19-F63D-C5DE-8464-C3C61F9D7500}"/>
              </a:ext>
            </a:extLst>
          </p:cNvPr>
          <p:cNvSpPr>
            <a:spLocks noGrp="1"/>
          </p:cNvSpPr>
          <p:nvPr>
            <p:ph type="title"/>
          </p:nvPr>
        </p:nvSpPr>
        <p:spPr>
          <a:xfrm>
            <a:off x="838197" y="0"/>
            <a:ext cx="10515600" cy="1325563"/>
          </a:xfrm>
        </p:spPr>
        <p:txBody>
          <a:bodyPr/>
          <a:lstStyle/>
          <a:p>
            <a:r>
              <a:rPr lang="en-IN" dirty="0"/>
              <a:t>6A(iv) Module Overview &amp; Block Diagram</a:t>
            </a:r>
          </a:p>
        </p:txBody>
      </p:sp>
      <p:sp>
        <p:nvSpPr>
          <p:cNvPr id="3" name="Content Placeholder 2">
            <a:extLst>
              <a:ext uri="{FF2B5EF4-FFF2-40B4-BE49-F238E27FC236}">
                <a16:creationId xmlns:a16="http://schemas.microsoft.com/office/drawing/2014/main" id="{74F9224E-2F1E-106F-5A0F-4D357858E919}"/>
              </a:ext>
            </a:extLst>
          </p:cNvPr>
          <p:cNvSpPr>
            <a:spLocks noGrp="1"/>
          </p:cNvSpPr>
          <p:nvPr>
            <p:ph idx="1"/>
          </p:nvPr>
        </p:nvSpPr>
        <p:spPr>
          <a:xfrm>
            <a:off x="838197" y="1325563"/>
            <a:ext cx="10515600" cy="4351338"/>
          </a:xfrm>
        </p:spPr>
        <p:txBody>
          <a:bodyPr>
            <a:normAutofit/>
          </a:bodyPr>
          <a:lstStyle/>
          <a:p>
            <a:pPr marL="0" indent="0">
              <a:buNone/>
            </a:pPr>
            <a:r>
              <a:rPr lang="en-US" sz="2400" b="1" dirty="0"/>
              <a:t>Module Name</a:t>
            </a:r>
          </a:p>
          <a:p>
            <a:pPr marL="457200" lvl="1" indent="0">
              <a:buNone/>
            </a:pPr>
            <a:r>
              <a:rPr lang="en-US" sz="2000" b="1" dirty="0"/>
              <a:t>COCO-17 Pose Canonicalization and Temporal Cleaning</a:t>
            </a:r>
            <a:endParaRPr lang="en-IN" sz="2000" dirty="0"/>
          </a:p>
          <a:p>
            <a:pPr marL="0" indent="0">
              <a:buNone/>
            </a:pPr>
            <a:endParaRPr lang="en-IN" sz="2300" dirty="0"/>
          </a:p>
          <a:p>
            <a:pPr marL="0" indent="0">
              <a:buNone/>
            </a:pPr>
            <a:r>
              <a:rPr lang="en-IN" sz="2400" b="1" dirty="0"/>
              <a:t>Block diagram:</a:t>
            </a:r>
          </a:p>
        </p:txBody>
      </p:sp>
      <p:pic>
        <p:nvPicPr>
          <p:cNvPr id="7" name="Picture 6">
            <a:extLst>
              <a:ext uri="{FF2B5EF4-FFF2-40B4-BE49-F238E27FC236}">
                <a16:creationId xmlns:a16="http://schemas.microsoft.com/office/drawing/2014/main" id="{F575BE4B-4E15-90AE-68C6-9DC3651E831C}"/>
              </a:ext>
            </a:extLst>
          </p:cNvPr>
          <p:cNvPicPr>
            <a:picLocks noChangeAspect="1"/>
          </p:cNvPicPr>
          <p:nvPr/>
        </p:nvPicPr>
        <p:blipFill>
          <a:blip r:embed="rId2">
            <a:extLst>
              <a:ext uri="{28A0092B-C50C-407E-A947-70E740481C1C}">
                <a14:useLocalDpi xmlns:a14="http://schemas.microsoft.com/office/drawing/2010/main" val="0"/>
              </a:ext>
            </a:extLst>
          </a:blip>
          <a:srcRect t="45772" r="296" b="45327"/>
          <a:stretch>
            <a:fillRect/>
          </a:stretch>
        </p:blipFill>
        <p:spPr>
          <a:xfrm>
            <a:off x="141075" y="3703289"/>
            <a:ext cx="11909845" cy="707866"/>
          </a:xfrm>
          <a:prstGeom prst="rect">
            <a:avLst/>
          </a:prstGeom>
        </p:spPr>
      </p:pic>
      <p:pic>
        <p:nvPicPr>
          <p:cNvPr id="9" name="Picture 8">
            <a:extLst>
              <a:ext uri="{FF2B5EF4-FFF2-40B4-BE49-F238E27FC236}">
                <a16:creationId xmlns:a16="http://schemas.microsoft.com/office/drawing/2014/main" id="{60916473-D594-70C1-0D4A-952466839D86}"/>
              </a:ext>
            </a:extLst>
          </p:cNvPr>
          <p:cNvPicPr>
            <a:picLocks noChangeAspect="1"/>
          </p:cNvPicPr>
          <p:nvPr/>
        </p:nvPicPr>
        <p:blipFill>
          <a:blip r:embed="rId3">
            <a:extLst>
              <a:ext uri="{28A0092B-C50C-407E-A947-70E740481C1C}">
                <a14:useLocalDpi xmlns:a14="http://schemas.microsoft.com/office/drawing/2010/main" val="0"/>
              </a:ext>
            </a:extLst>
          </a:blip>
          <a:srcRect l="593" t="45216" r="222" b="45549"/>
          <a:stretch>
            <a:fillRect/>
          </a:stretch>
        </p:blipFill>
        <p:spPr>
          <a:xfrm>
            <a:off x="141075" y="5073936"/>
            <a:ext cx="11909845" cy="738250"/>
          </a:xfrm>
          <a:prstGeom prst="rect">
            <a:avLst/>
          </a:prstGeom>
        </p:spPr>
      </p:pic>
    </p:spTree>
    <p:extLst>
      <p:ext uri="{BB962C8B-B14F-4D97-AF65-F5344CB8AC3E}">
        <p14:creationId xmlns:p14="http://schemas.microsoft.com/office/powerpoint/2010/main" val="1894504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D9A4-C43A-53C4-27D8-6420D5CAE3E9}"/>
              </a:ext>
            </a:extLst>
          </p:cNvPr>
          <p:cNvSpPr>
            <a:spLocks noGrp="1"/>
          </p:cNvSpPr>
          <p:nvPr>
            <p:ph type="title"/>
          </p:nvPr>
        </p:nvSpPr>
        <p:spPr>
          <a:xfrm>
            <a:off x="838200" y="18255"/>
            <a:ext cx="10515600" cy="1325563"/>
          </a:xfrm>
        </p:spPr>
        <p:txBody>
          <a:bodyPr/>
          <a:lstStyle/>
          <a:p>
            <a:r>
              <a:rPr lang="en-IN" dirty="0"/>
              <a:t>6A(iv) Algorithms Used</a:t>
            </a:r>
          </a:p>
        </p:txBody>
      </p:sp>
      <p:sp>
        <p:nvSpPr>
          <p:cNvPr id="3" name="Content Placeholder 2">
            <a:extLst>
              <a:ext uri="{FF2B5EF4-FFF2-40B4-BE49-F238E27FC236}">
                <a16:creationId xmlns:a16="http://schemas.microsoft.com/office/drawing/2014/main" id="{2828A667-7F08-49F6-8617-764E0183E9D4}"/>
              </a:ext>
            </a:extLst>
          </p:cNvPr>
          <p:cNvSpPr>
            <a:spLocks noGrp="1"/>
          </p:cNvSpPr>
          <p:nvPr>
            <p:ph idx="1"/>
          </p:nvPr>
        </p:nvSpPr>
        <p:spPr>
          <a:xfrm>
            <a:off x="838200" y="1253331"/>
            <a:ext cx="10515600" cy="4351338"/>
          </a:xfrm>
        </p:spPr>
        <p:txBody>
          <a:bodyPr/>
          <a:lstStyle/>
          <a:p>
            <a:pPr marL="0" indent="0">
              <a:buNone/>
            </a:pPr>
            <a:r>
              <a:rPr lang="en-IN" sz="2400" b="1" dirty="0"/>
              <a:t>Algorithm Type:</a:t>
            </a:r>
          </a:p>
          <a:p>
            <a:pPr marL="0" indent="0">
              <a:buNone/>
            </a:pPr>
            <a:r>
              <a:rPr lang="en-IN" sz="2000" dirty="0"/>
              <a:t>	</a:t>
            </a:r>
            <a:r>
              <a:rPr lang="en-IN" sz="2000" b="1" dirty="0"/>
              <a:t>Deterministic Signal-Processing Pipeline (5 Steps)</a:t>
            </a:r>
          </a:p>
        </p:txBody>
      </p:sp>
      <p:sp>
        <p:nvSpPr>
          <p:cNvPr id="5" name="TextBox 4">
            <a:extLst>
              <a:ext uri="{FF2B5EF4-FFF2-40B4-BE49-F238E27FC236}">
                <a16:creationId xmlns:a16="http://schemas.microsoft.com/office/drawing/2014/main" id="{2157C6F0-EDD7-971F-FEA9-29640F64B531}"/>
              </a:ext>
            </a:extLst>
          </p:cNvPr>
          <p:cNvSpPr txBox="1"/>
          <p:nvPr/>
        </p:nvSpPr>
        <p:spPr>
          <a:xfrm>
            <a:off x="965421" y="2398960"/>
            <a:ext cx="7486816" cy="1785104"/>
          </a:xfrm>
          <a:prstGeom prst="rect">
            <a:avLst/>
          </a:prstGeom>
          <a:noFill/>
        </p:spPr>
        <p:txBody>
          <a:bodyPr wrap="square">
            <a:spAutoFit/>
          </a:bodyPr>
          <a:lstStyle/>
          <a:p>
            <a:pPr>
              <a:buNone/>
            </a:pPr>
            <a:r>
              <a:rPr lang="en-US" sz="2000" b="1" dirty="0"/>
              <a:t>Step 1: Temporal Interpolation</a:t>
            </a:r>
          </a:p>
          <a:p>
            <a:pPr>
              <a:buNone/>
            </a:pPr>
            <a:r>
              <a:rPr lang="en-US" b="1" dirty="0"/>
              <a:t>Algorithm: (Rule Based)</a:t>
            </a:r>
            <a:br>
              <a:rPr lang="en-US" dirty="0"/>
            </a:br>
            <a:r>
              <a:rPr lang="en-US" dirty="0"/>
              <a:t>	</a:t>
            </a:r>
            <a:r>
              <a:rPr lang="en-US" b="1" dirty="0"/>
              <a:t>Linear Interpolation Across Time</a:t>
            </a:r>
            <a:endParaRPr lang="en-US" dirty="0"/>
          </a:p>
          <a:p>
            <a:pPr>
              <a:buNone/>
            </a:pPr>
            <a:r>
              <a:rPr lang="en-US" b="1" dirty="0"/>
              <a:t>Rule</a:t>
            </a:r>
            <a:endParaRPr lang="en-US" dirty="0"/>
          </a:p>
          <a:p>
            <a:pPr lvl="1">
              <a:buFont typeface="Arial" panose="020B0604020202020204" pitchFamily="34" charset="0"/>
              <a:buChar char="•"/>
            </a:pPr>
            <a:r>
              <a:rPr lang="en-US" sz="1600" dirty="0"/>
              <a:t> Interpolates only if at least </a:t>
            </a:r>
            <a:r>
              <a:rPr lang="en-US" sz="1600" b="1" dirty="0"/>
              <a:t>two valid frames</a:t>
            </a:r>
            <a:r>
              <a:rPr lang="en-US" sz="1600" dirty="0"/>
              <a:t> exist for a joint</a:t>
            </a:r>
          </a:p>
          <a:p>
            <a:pPr lvl="1"/>
            <a:endParaRPr lang="en-US" dirty="0"/>
          </a:p>
        </p:txBody>
      </p:sp>
      <p:sp>
        <p:nvSpPr>
          <p:cNvPr id="7" name="TextBox 6">
            <a:extLst>
              <a:ext uri="{FF2B5EF4-FFF2-40B4-BE49-F238E27FC236}">
                <a16:creationId xmlns:a16="http://schemas.microsoft.com/office/drawing/2014/main" id="{BC0A8E95-A8AD-9924-24B8-5E33103BACB9}"/>
              </a:ext>
            </a:extLst>
          </p:cNvPr>
          <p:cNvSpPr txBox="1"/>
          <p:nvPr/>
        </p:nvSpPr>
        <p:spPr>
          <a:xfrm>
            <a:off x="965421" y="4184064"/>
            <a:ext cx="7847938" cy="1754326"/>
          </a:xfrm>
          <a:prstGeom prst="rect">
            <a:avLst/>
          </a:prstGeom>
          <a:noFill/>
        </p:spPr>
        <p:txBody>
          <a:bodyPr wrap="square">
            <a:spAutoFit/>
          </a:bodyPr>
          <a:lstStyle/>
          <a:p>
            <a:pPr>
              <a:buNone/>
            </a:pPr>
            <a:r>
              <a:rPr lang="en-IN" b="1" dirty="0"/>
              <a:t>Step 2: Pelvis </a:t>
            </a:r>
            <a:r>
              <a:rPr lang="en-IN" b="1" dirty="0" err="1"/>
              <a:t>Centering</a:t>
            </a:r>
            <a:r>
              <a:rPr lang="en-IN" b="1" dirty="0"/>
              <a:t> (Translation Normalization)</a:t>
            </a:r>
          </a:p>
          <a:p>
            <a:pPr>
              <a:buNone/>
            </a:pPr>
            <a:r>
              <a:rPr lang="en-IN" b="1" dirty="0"/>
              <a:t>Algorithm:</a:t>
            </a:r>
            <a:br>
              <a:rPr lang="en-IN" dirty="0"/>
            </a:br>
            <a:r>
              <a:rPr lang="en-IN" dirty="0"/>
              <a:t>	</a:t>
            </a:r>
            <a:r>
              <a:rPr lang="en-IN" b="1" dirty="0"/>
              <a:t>Pelvis-Based </a:t>
            </a:r>
            <a:r>
              <a:rPr lang="en-IN" b="1" dirty="0" err="1"/>
              <a:t>Centering</a:t>
            </a:r>
            <a:endParaRPr lang="en-IN" dirty="0"/>
          </a:p>
          <a:p>
            <a:pPr>
              <a:buNone/>
            </a:pPr>
            <a:r>
              <a:rPr lang="en-IN" b="1" dirty="0"/>
              <a:t>Formula:</a:t>
            </a:r>
            <a:endParaRPr lang="en-IN" dirty="0"/>
          </a:p>
          <a:p>
            <a:pPr rtl="0">
              <a:buNone/>
            </a:pPr>
            <a:r>
              <a:rPr lang="en-IN" dirty="0">
                <a:latin typeface="Courier New" panose="02070309020205020404" pitchFamily="49" charset="0"/>
              </a:rPr>
              <a:t>	</a:t>
            </a:r>
            <a:r>
              <a:rPr lang="en-IN" sz="1600" dirty="0">
                <a:latin typeface="Courier New" panose="02070309020205020404" pitchFamily="49" charset="0"/>
              </a:rPr>
              <a:t>pelvis(t) = (</a:t>
            </a:r>
            <a:r>
              <a:rPr lang="en-IN" sz="1600" dirty="0" err="1">
                <a:latin typeface="Courier New" panose="02070309020205020404" pitchFamily="49" charset="0"/>
              </a:rPr>
              <a:t>left_hip</a:t>
            </a:r>
            <a:r>
              <a:rPr lang="en-IN" sz="1600" dirty="0">
                <a:latin typeface="Courier New" panose="02070309020205020404" pitchFamily="49" charset="0"/>
              </a:rPr>
              <a:t> + </a:t>
            </a:r>
            <a:r>
              <a:rPr lang="en-IN" sz="1600" dirty="0" err="1">
                <a:latin typeface="Courier New" panose="02070309020205020404" pitchFamily="49" charset="0"/>
              </a:rPr>
              <a:t>right_hip</a:t>
            </a:r>
            <a:r>
              <a:rPr lang="en-IN" sz="1600" dirty="0">
                <a:latin typeface="Courier New" panose="02070309020205020404" pitchFamily="49" charset="0"/>
              </a:rPr>
              <a:t>) / 2</a:t>
            </a:r>
          </a:p>
          <a:p>
            <a:pPr rtl="0">
              <a:buNone/>
            </a:pPr>
            <a:r>
              <a:rPr lang="en-IN" sz="1600" dirty="0">
                <a:latin typeface="Courier New" panose="02070309020205020404" pitchFamily="49" charset="0"/>
              </a:rPr>
              <a:t>	</a:t>
            </a:r>
            <a:r>
              <a:rPr lang="en-IN" sz="1600" dirty="0" err="1">
                <a:latin typeface="Courier New" panose="02070309020205020404" pitchFamily="49" charset="0"/>
              </a:rPr>
              <a:t>joint_centered</a:t>
            </a:r>
            <a:r>
              <a:rPr lang="en-IN" sz="1600" dirty="0">
                <a:latin typeface="Courier New" panose="02070309020205020404" pitchFamily="49" charset="0"/>
              </a:rPr>
              <a:t> = joint − pelvis(t)</a:t>
            </a:r>
          </a:p>
        </p:txBody>
      </p:sp>
    </p:spTree>
    <p:extLst>
      <p:ext uri="{BB962C8B-B14F-4D97-AF65-F5344CB8AC3E}">
        <p14:creationId xmlns:p14="http://schemas.microsoft.com/office/powerpoint/2010/main" val="3608503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E5A54A-8606-73FF-3999-A6F671CA958C}"/>
              </a:ext>
            </a:extLst>
          </p:cNvPr>
          <p:cNvSpPr>
            <a:spLocks noGrp="1"/>
          </p:cNvSpPr>
          <p:nvPr>
            <p:ph type="title"/>
          </p:nvPr>
        </p:nvSpPr>
        <p:spPr>
          <a:xfrm>
            <a:off x="838200" y="365125"/>
            <a:ext cx="10515600" cy="1325563"/>
          </a:xfrm>
        </p:spPr>
        <p:txBody>
          <a:bodyPr/>
          <a:lstStyle/>
          <a:p>
            <a:r>
              <a:rPr lang="en-IN" dirty="0"/>
              <a:t>6A(iv) Algorithms Used (</a:t>
            </a:r>
            <a:r>
              <a:rPr lang="en-IN" dirty="0" err="1"/>
              <a:t>cont</a:t>
            </a:r>
            <a:r>
              <a:rPr lang="en-IN" dirty="0"/>
              <a:t>)</a:t>
            </a:r>
          </a:p>
        </p:txBody>
      </p:sp>
      <p:sp>
        <p:nvSpPr>
          <p:cNvPr id="6" name="TextBox 5">
            <a:extLst>
              <a:ext uri="{FF2B5EF4-FFF2-40B4-BE49-F238E27FC236}">
                <a16:creationId xmlns:a16="http://schemas.microsoft.com/office/drawing/2014/main" id="{7D460A9C-B1C0-481A-D3FE-ADC6CA6901EF}"/>
              </a:ext>
            </a:extLst>
          </p:cNvPr>
          <p:cNvSpPr txBox="1"/>
          <p:nvPr/>
        </p:nvSpPr>
        <p:spPr>
          <a:xfrm>
            <a:off x="838199" y="1690688"/>
            <a:ext cx="9235440" cy="1846659"/>
          </a:xfrm>
          <a:prstGeom prst="rect">
            <a:avLst/>
          </a:prstGeom>
          <a:noFill/>
        </p:spPr>
        <p:txBody>
          <a:bodyPr wrap="square">
            <a:spAutoFit/>
          </a:bodyPr>
          <a:lstStyle/>
          <a:p>
            <a:pPr>
              <a:buNone/>
            </a:pPr>
            <a:r>
              <a:rPr lang="en-IN" sz="2000" b="1" dirty="0"/>
              <a:t>Step 3: Scale Normalization</a:t>
            </a:r>
          </a:p>
          <a:p>
            <a:pPr>
              <a:buNone/>
            </a:pPr>
            <a:r>
              <a:rPr lang="en-IN" sz="2000" b="1" dirty="0"/>
              <a:t>Algorithm</a:t>
            </a:r>
            <a:br>
              <a:rPr lang="en-IN" sz="2000" dirty="0"/>
            </a:br>
            <a:r>
              <a:rPr lang="en-IN" sz="2000" dirty="0"/>
              <a:t>	</a:t>
            </a:r>
            <a:r>
              <a:rPr lang="en-IN" sz="2000" b="1" dirty="0"/>
              <a:t>Torso-Length Normalization</a:t>
            </a:r>
            <a:endParaRPr lang="en-IN" sz="2000" dirty="0"/>
          </a:p>
          <a:p>
            <a:pPr>
              <a:buNone/>
            </a:pPr>
            <a:r>
              <a:rPr lang="en-IN" sz="2000" b="1" dirty="0"/>
              <a:t>Formula</a:t>
            </a:r>
            <a:endParaRPr lang="en-IN" sz="2000" dirty="0"/>
          </a:p>
          <a:p>
            <a:r>
              <a:rPr lang="en-IN" dirty="0">
                <a:latin typeface="Courier New" panose="02070309020205020404" pitchFamily="49" charset="0"/>
              </a:rPr>
              <a:t>	</a:t>
            </a:r>
            <a:r>
              <a:rPr lang="en-IN" sz="1600" dirty="0" err="1">
                <a:latin typeface="Courier New" panose="02070309020205020404" pitchFamily="49" charset="0"/>
              </a:rPr>
              <a:t>torso_length</a:t>
            </a:r>
            <a:r>
              <a:rPr lang="en-IN" sz="1600" dirty="0">
                <a:latin typeface="Courier New" panose="02070309020205020404" pitchFamily="49" charset="0"/>
              </a:rPr>
              <a:t> = || </a:t>
            </a:r>
            <a:r>
              <a:rPr lang="en-IN" sz="1600" dirty="0" err="1">
                <a:latin typeface="Courier New" panose="02070309020205020404" pitchFamily="49" charset="0"/>
              </a:rPr>
              <a:t>shoulder_center</a:t>
            </a:r>
            <a:r>
              <a:rPr lang="en-IN" sz="1600" dirty="0">
                <a:latin typeface="Courier New" panose="02070309020205020404" pitchFamily="49" charset="0"/>
              </a:rPr>
              <a:t> − </a:t>
            </a:r>
            <a:r>
              <a:rPr lang="en-IN" sz="1600" dirty="0" err="1">
                <a:latin typeface="Courier New" panose="02070309020205020404" pitchFamily="49" charset="0"/>
              </a:rPr>
              <a:t>hip_center</a:t>
            </a:r>
            <a:r>
              <a:rPr lang="en-IN" sz="1600" dirty="0">
                <a:latin typeface="Courier New" panose="02070309020205020404" pitchFamily="49" charset="0"/>
              </a:rPr>
              <a:t> ||</a:t>
            </a:r>
          </a:p>
          <a:p>
            <a:r>
              <a:rPr lang="en-IN" sz="1600" dirty="0">
                <a:latin typeface="Courier New" panose="02070309020205020404" pitchFamily="49" charset="0"/>
              </a:rPr>
              <a:t>	</a:t>
            </a:r>
            <a:r>
              <a:rPr lang="en-IN" sz="1600" dirty="0" err="1">
                <a:latin typeface="Courier New" panose="02070309020205020404" pitchFamily="49" charset="0"/>
              </a:rPr>
              <a:t>joint_normalized</a:t>
            </a:r>
            <a:r>
              <a:rPr lang="en-IN" sz="1600" dirty="0">
                <a:latin typeface="Courier New" panose="02070309020205020404" pitchFamily="49" charset="0"/>
              </a:rPr>
              <a:t> = </a:t>
            </a:r>
            <a:r>
              <a:rPr lang="en-IN" sz="1600" dirty="0" err="1">
                <a:latin typeface="Courier New" panose="02070309020205020404" pitchFamily="49" charset="0"/>
              </a:rPr>
              <a:t>joint_centered</a:t>
            </a:r>
            <a:r>
              <a:rPr lang="en-IN" sz="1600" dirty="0">
                <a:latin typeface="Courier New" panose="02070309020205020404" pitchFamily="49" charset="0"/>
              </a:rPr>
              <a:t> / </a:t>
            </a:r>
            <a:r>
              <a:rPr lang="en-IN" sz="1600" dirty="0" err="1">
                <a:latin typeface="Courier New" panose="02070309020205020404" pitchFamily="49" charset="0"/>
              </a:rPr>
              <a:t>torso_length</a:t>
            </a:r>
            <a:endParaRPr lang="en-IN" sz="1600" dirty="0">
              <a:latin typeface="Courier New" panose="02070309020205020404" pitchFamily="49" charset="0"/>
            </a:endParaRPr>
          </a:p>
        </p:txBody>
      </p:sp>
      <p:sp>
        <p:nvSpPr>
          <p:cNvPr id="8" name="TextBox 7">
            <a:extLst>
              <a:ext uri="{FF2B5EF4-FFF2-40B4-BE49-F238E27FC236}">
                <a16:creationId xmlns:a16="http://schemas.microsoft.com/office/drawing/2014/main" id="{24F5F869-7101-1A2B-FEFC-4FF397E21A5C}"/>
              </a:ext>
            </a:extLst>
          </p:cNvPr>
          <p:cNvSpPr txBox="1"/>
          <p:nvPr/>
        </p:nvSpPr>
        <p:spPr>
          <a:xfrm>
            <a:off x="838199" y="3724872"/>
            <a:ext cx="8584097" cy="2308324"/>
          </a:xfrm>
          <a:prstGeom prst="rect">
            <a:avLst/>
          </a:prstGeom>
          <a:noFill/>
        </p:spPr>
        <p:txBody>
          <a:bodyPr wrap="square">
            <a:spAutoFit/>
          </a:bodyPr>
          <a:lstStyle/>
          <a:p>
            <a:r>
              <a:rPr lang="en-IN" sz="2000" b="1" dirty="0"/>
              <a:t>Step 4: Outlier Suppression</a:t>
            </a:r>
          </a:p>
          <a:p>
            <a:r>
              <a:rPr lang="en-IN" sz="2000" b="1" dirty="0"/>
              <a:t>Algorithm</a:t>
            </a:r>
            <a:br>
              <a:rPr lang="en-IN" sz="2000" b="1" dirty="0"/>
            </a:br>
            <a:r>
              <a:rPr lang="en-IN" sz="2000" b="1" dirty="0"/>
              <a:t>	Z-Score Velocity-Based Outlier Detection</a:t>
            </a:r>
          </a:p>
          <a:p>
            <a:r>
              <a:rPr lang="en-IN" sz="2000" b="1" dirty="0">
                <a:latin typeface="Courier New" panose="02070309020205020404" pitchFamily="49" charset="0"/>
              </a:rPr>
              <a:t>	</a:t>
            </a:r>
          </a:p>
          <a:p>
            <a:r>
              <a:rPr lang="en-IN" sz="1600" dirty="0">
                <a:latin typeface="Courier New" panose="02070309020205020404" pitchFamily="49" charset="0"/>
              </a:rPr>
              <a:t>	velocity(t) = || pose(t) − pose(t−1) ||</a:t>
            </a:r>
          </a:p>
          <a:p>
            <a:pPr rtl="0">
              <a:buNone/>
            </a:pPr>
            <a:r>
              <a:rPr lang="en-IN" sz="1600" dirty="0">
                <a:latin typeface="Courier New" panose="02070309020205020404" pitchFamily="49" charset="0"/>
              </a:rPr>
              <a:t>	z = (velocity − </a:t>
            </a:r>
            <a:r>
              <a:rPr lang="el-GR" sz="1600" dirty="0">
                <a:latin typeface="Courier New" panose="02070309020205020404" pitchFamily="49" charset="0"/>
              </a:rPr>
              <a:t>μ) / σ</a:t>
            </a:r>
          </a:p>
          <a:p>
            <a:pPr rtl="0">
              <a:buNone/>
            </a:pPr>
            <a:endParaRPr lang="el-GR" sz="1600" dirty="0">
              <a:latin typeface="Courier New" panose="02070309020205020404" pitchFamily="49" charset="0"/>
            </a:endParaRPr>
          </a:p>
          <a:p>
            <a:pPr rtl="0">
              <a:buNone/>
            </a:pPr>
            <a:r>
              <a:rPr lang="en-IN" sz="1600" dirty="0">
                <a:latin typeface="Courier New" panose="02070309020205020404" pitchFamily="49" charset="0"/>
              </a:rPr>
              <a:t>	If |z| &gt; 3.0 → replace pose(t) with pose(t−1)</a:t>
            </a:r>
          </a:p>
        </p:txBody>
      </p:sp>
    </p:spTree>
    <p:extLst>
      <p:ext uri="{BB962C8B-B14F-4D97-AF65-F5344CB8AC3E}">
        <p14:creationId xmlns:p14="http://schemas.microsoft.com/office/powerpoint/2010/main" val="2060626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FF0D-A3C2-C2A7-44BD-618A3A9EC6B3}"/>
              </a:ext>
            </a:extLst>
          </p:cNvPr>
          <p:cNvSpPr>
            <a:spLocks noGrp="1"/>
          </p:cNvSpPr>
          <p:nvPr>
            <p:ph type="title"/>
          </p:nvPr>
        </p:nvSpPr>
        <p:spPr/>
        <p:txBody>
          <a:bodyPr/>
          <a:lstStyle/>
          <a:p>
            <a:r>
              <a:rPr lang="en-US" dirty="0"/>
              <a:t>6B </a:t>
            </a:r>
            <a:r>
              <a:rPr lang="en-IN" dirty="0"/>
              <a:t>Modules </a:t>
            </a:r>
            <a:r>
              <a:rPr lang="en-US" dirty="0"/>
              <a:t>(</a:t>
            </a:r>
            <a:r>
              <a:rPr lang="en-IN" dirty="0"/>
              <a:t>POSE EXTRACTION &amp; CLEANING</a:t>
            </a:r>
            <a:r>
              <a:rPr lang="en-US" dirty="0"/>
              <a:t>)</a:t>
            </a:r>
            <a:endParaRPr lang="en-IN" dirty="0"/>
          </a:p>
        </p:txBody>
      </p:sp>
      <p:sp>
        <p:nvSpPr>
          <p:cNvPr id="3" name="Content Placeholder 2">
            <a:extLst>
              <a:ext uri="{FF2B5EF4-FFF2-40B4-BE49-F238E27FC236}">
                <a16:creationId xmlns:a16="http://schemas.microsoft.com/office/drawing/2014/main" id="{4422222A-D2A5-19C6-F8AB-931402DC9F0C}"/>
              </a:ext>
            </a:extLst>
          </p:cNvPr>
          <p:cNvSpPr>
            <a:spLocks noGrp="1"/>
          </p:cNvSpPr>
          <p:nvPr>
            <p:ph idx="1"/>
          </p:nvPr>
        </p:nvSpPr>
        <p:spPr/>
        <p:txBody>
          <a:bodyPr/>
          <a:lstStyle/>
          <a:p>
            <a:pPr marL="0" indent="0">
              <a:buNone/>
            </a:pPr>
            <a:r>
              <a:rPr lang="en-IN" sz="2400" dirty="0"/>
              <a:t>Module 2: POSE EXTRACTION &amp; CLEANING</a:t>
            </a:r>
          </a:p>
          <a:p>
            <a:pPr marL="0" indent="0">
              <a:buNone/>
            </a:pPr>
            <a:endParaRPr lang="en-IN" dirty="0"/>
          </a:p>
          <a:p>
            <a:pPr marL="0" indent="0">
              <a:buNone/>
            </a:pPr>
            <a:r>
              <a:rPr lang="en-IN" sz="2400" dirty="0"/>
              <a:t>SUB-MODULES :</a:t>
            </a:r>
          </a:p>
          <a:p>
            <a:pPr marL="971550" lvl="1" indent="-514350">
              <a:buFont typeface="+mj-lt"/>
              <a:buAutoNum type="romanLcPeriod"/>
            </a:pPr>
            <a:r>
              <a:rPr lang="en-US" sz="2000" dirty="0"/>
              <a:t>PELVIS TRAJECTORY EXTRACTION</a:t>
            </a:r>
          </a:p>
          <a:p>
            <a:pPr marL="971550" lvl="1" indent="-514350">
              <a:buFont typeface="+mj-lt"/>
              <a:buAutoNum type="romanLcPeriod"/>
            </a:pPr>
            <a:r>
              <a:rPr lang="en-US" sz="2000" dirty="0"/>
              <a:t>DYNAMIC TIME WARPING</a:t>
            </a:r>
          </a:p>
          <a:p>
            <a:pPr marL="971550" lvl="1" indent="-514350">
              <a:buFont typeface="+mj-lt"/>
              <a:buAutoNum type="romanLcPeriod"/>
            </a:pPr>
            <a:r>
              <a:rPr lang="en-US" sz="2000" dirty="0"/>
              <a:t>ALIGNED SQUENCE GENERATOR</a:t>
            </a:r>
            <a:endParaRPr lang="en-IN" sz="2000" dirty="0"/>
          </a:p>
        </p:txBody>
      </p:sp>
    </p:spTree>
    <p:extLst>
      <p:ext uri="{BB962C8B-B14F-4D97-AF65-F5344CB8AC3E}">
        <p14:creationId xmlns:p14="http://schemas.microsoft.com/office/powerpoint/2010/main" val="857648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E8E37-51BB-A036-FC27-280F3A661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CCF7F-11F8-5BE7-4735-39791636A449}"/>
              </a:ext>
            </a:extLst>
          </p:cNvPr>
          <p:cNvSpPr>
            <a:spLocks noGrp="1"/>
          </p:cNvSpPr>
          <p:nvPr>
            <p:ph type="title"/>
          </p:nvPr>
        </p:nvSpPr>
        <p:spPr/>
        <p:txBody>
          <a:bodyPr/>
          <a:lstStyle/>
          <a:p>
            <a:r>
              <a:rPr lang="en-US" dirty="0"/>
              <a:t>6B (</a:t>
            </a:r>
            <a:r>
              <a:rPr lang="en-US" dirty="0" err="1"/>
              <a:t>i</a:t>
            </a:r>
            <a:r>
              <a:rPr lang="en-US" dirty="0"/>
              <a:t>) – Module Overview &amp; Block Diagram</a:t>
            </a:r>
            <a:endParaRPr lang="en-IN" dirty="0"/>
          </a:p>
        </p:txBody>
      </p:sp>
      <p:sp>
        <p:nvSpPr>
          <p:cNvPr id="3" name="Content Placeholder 2">
            <a:extLst>
              <a:ext uri="{FF2B5EF4-FFF2-40B4-BE49-F238E27FC236}">
                <a16:creationId xmlns:a16="http://schemas.microsoft.com/office/drawing/2014/main" id="{37481392-BE98-939E-5500-013102E99040}"/>
              </a:ext>
            </a:extLst>
          </p:cNvPr>
          <p:cNvSpPr>
            <a:spLocks noGrp="1"/>
          </p:cNvSpPr>
          <p:nvPr>
            <p:ph idx="1"/>
          </p:nvPr>
        </p:nvSpPr>
        <p:spPr/>
        <p:txBody>
          <a:bodyPr/>
          <a:lstStyle/>
          <a:p>
            <a:pPr marL="0" indent="0">
              <a:buNone/>
            </a:pPr>
            <a:r>
              <a:rPr lang="en-US" sz="2400" b="1" dirty="0"/>
              <a:t>SUB-Module:</a:t>
            </a:r>
          </a:p>
          <a:p>
            <a:pPr marL="457200" lvl="1" indent="0">
              <a:buNone/>
            </a:pPr>
            <a:r>
              <a:rPr lang="en-US" sz="2000" dirty="0"/>
              <a:t>	PELVIS TRAJECTORY EXTRACTION</a:t>
            </a:r>
          </a:p>
          <a:p>
            <a:endParaRPr lang="en-US" b="1" dirty="0"/>
          </a:p>
          <a:p>
            <a:pPr marL="0" indent="0">
              <a:buNone/>
            </a:pPr>
            <a:r>
              <a:rPr lang="en-US" sz="2400" b="1" dirty="0"/>
              <a:t>Block Diagram: </a:t>
            </a:r>
          </a:p>
        </p:txBody>
      </p:sp>
      <p:pic>
        <p:nvPicPr>
          <p:cNvPr id="6" name="Picture 5">
            <a:extLst>
              <a:ext uri="{FF2B5EF4-FFF2-40B4-BE49-F238E27FC236}">
                <a16:creationId xmlns:a16="http://schemas.microsoft.com/office/drawing/2014/main" id="{A240DFAA-1349-8761-F1D9-40407C44267E}"/>
              </a:ext>
            </a:extLst>
          </p:cNvPr>
          <p:cNvPicPr>
            <a:picLocks noChangeAspect="1"/>
          </p:cNvPicPr>
          <p:nvPr/>
        </p:nvPicPr>
        <p:blipFill>
          <a:blip r:embed="rId2">
            <a:extLst>
              <a:ext uri="{28A0092B-C50C-407E-A947-70E740481C1C}">
                <a14:useLocalDpi xmlns:a14="http://schemas.microsoft.com/office/drawing/2010/main" val="0"/>
              </a:ext>
            </a:extLst>
          </a:blip>
          <a:srcRect t="45883" r="297" b="46106"/>
          <a:stretch>
            <a:fillRect/>
          </a:stretch>
        </p:blipFill>
        <p:spPr>
          <a:xfrm>
            <a:off x="137519" y="4567000"/>
            <a:ext cx="11916961" cy="637460"/>
          </a:xfrm>
          <a:prstGeom prst="rect">
            <a:avLst/>
          </a:prstGeom>
        </p:spPr>
      </p:pic>
    </p:spTree>
    <p:extLst>
      <p:ext uri="{BB962C8B-B14F-4D97-AF65-F5344CB8AC3E}">
        <p14:creationId xmlns:p14="http://schemas.microsoft.com/office/powerpoint/2010/main" val="1481779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6D08-27A3-FF03-720C-67E4F49D314D}"/>
              </a:ext>
            </a:extLst>
          </p:cNvPr>
          <p:cNvSpPr>
            <a:spLocks noGrp="1"/>
          </p:cNvSpPr>
          <p:nvPr>
            <p:ph type="title"/>
          </p:nvPr>
        </p:nvSpPr>
        <p:spPr/>
        <p:txBody>
          <a:bodyPr/>
          <a:lstStyle/>
          <a:p>
            <a:r>
              <a:rPr lang="en-IN" dirty="0"/>
              <a:t>6B(</a:t>
            </a:r>
            <a:r>
              <a:rPr lang="en-IN" dirty="0" err="1"/>
              <a:t>i</a:t>
            </a:r>
            <a:r>
              <a:rPr lang="en-IN" dirty="0"/>
              <a:t>) Algorithm Details</a:t>
            </a:r>
          </a:p>
        </p:txBody>
      </p:sp>
      <p:sp>
        <p:nvSpPr>
          <p:cNvPr id="3" name="Content Placeholder 2">
            <a:extLst>
              <a:ext uri="{FF2B5EF4-FFF2-40B4-BE49-F238E27FC236}">
                <a16:creationId xmlns:a16="http://schemas.microsoft.com/office/drawing/2014/main" id="{AB47F5C2-1284-A568-B86B-3FA88F7E21C2}"/>
              </a:ext>
            </a:extLst>
          </p:cNvPr>
          <p:cNvSpPr>
            <a:spLocks noGrp="1"/>
          </p:cNvSpPr>
          <p:nvPr>
            <p:ph idx="1"/>
          </p:nvPr>
        </p:nvSpPr>
        <p:spPr/>
        <p:txBody>
          <a:bodyPr>
            <a:normAutofit fontScale="92500" lnSpcReduction="10000"/>
          </a:bodyPr>
          <a:lstStyle/>
          <a:p>
            <a:pPr marL="0" indent="0">
              <a:buNone/>
            </a:pPr>
            <a:r>
              <a:rPr lang="en-IN" sz="2600" b="1" dirty="0"/>
              <a:t>Algorithm Type</a:t>
            </a:r>
            <a:r>
              <a:rPr lang="en-IN" dirty="0"/>
              <a:t>	</a:t>
            </a:r>
          </a:p>
          <a:p>
            <a:pPr marL="457200" lvl="1" indent="0">
              <a:buNone/>
            </a:pPr>
            <a:r>
              <a:rPr lang="en-IN" sz="2200" dirty="0"/>
              <a:t>Deterministic Anatomical Anchor Extraction</a:t>
            </a:r>
          </a:p>
          <a:p>
            <a:endParaRPr lang="en-IN" dirty="0"/>
          </a:p>
          <a:p>
            <a:pPr marL="0" indent="0">
              <a:buNone/>
            </a:pPr>
            <a:r>
              <a:rPr lang="en-IN" sz="2600" b="1" dirty="0"/>
              <a:t>Joint Selection</a:t>
            </a:r>
          </a:p>
          <a:p>
            <a:pPr marL="0" lvl="1" indent="0">
              <a:buNone/>
            </a:pPr>
            <a:r>
              <a:rPr lang="en-IN" sz="1700" dirty="0">
                <a:latin typeface="Courier New" panose="02070309020205020404" pitchFamily="49" charset="0"/>
              </a:rPr>
              <a:t>From COCO-17 skeleton:</a:t>
            </a:r>
          </a:p>
          <a:p>
            <a:pPr marL="0" lvl="1" indent="0">
              <a:buNone/>
            </a:pPr>
            <a:r>
              <a:rPr lang="en-IN" sz="1700" dirty="0">
                <a:latin typeface="Courier New" panose="02070309020205020404" pitchFamily="49" charset="0"/>
              </a:rPr>
              <a:t>	Left Hip  → Joint index 11</a:t>
            </a:r>
          </a:p>
          <a:p>
            <a:pPr marL="0" lvl="1" indent="0">
              <a:buNone/>
            </a:pPr>
            <a:r>
              <a:rPr lang="en-IN" sz="1700" dirty="0">
                <a:latin typeface="Courier New" panose="02070309020205020404" pitchFamily="49" charset="0"/>
              </a:rPr>
              <a:t>	Right Hip → Joint index 12</a:t>
            </a:r>
          </a:p>
          <a:p>
            <a:pPr marL="0" lvl="1" indent="0">
              <a:buNone/>
            </a:pPr>
            <a:r>
              <a:rPr lang="en-IN" sz="1700" dirty="0">
                <a:latin typeface="Courier New" panose="02070309020205020404" pitchFamily="49" charset="0"/>
              </a:rPr>
              <a:t>These joints are guaranteed to exist after Level-1 cleaning.</a:t>
            </a:r>
            <a:br>
              <a:rPr lang="en-IN" sz="1700" dirty="0">
                <a:latin typeface="Courier New" panose="02070309020205020404" pitchFamily="49" charset="0"/>
              </a:rPr>
            </a:br>
            <a:endParaRPr lang="en-IN" sz="1700" dirty="0">
              <a:latin typeface="Courier New" panose="02070309020205020404" pitchFamily="49" charset="0"/>
            </a:endParaRPr>
          </a:p>
          <a:p>
            <a:pPr marL="0" indent="0">
              <a:buNone/>
            </a:pPr>
            <a:r>
              <a:rPr lang="en-IN" sz="2600" b="1" dirty="0"/>
              <a:t>Pelvis Computation Formula</a:t>
            </a:r>
          </a:p>
          <a:p>
            <a:pPr marL="0" lvl="1" indent="0">
              <a:buNone/>
            </a:pPr>
            <a:r>
              <a:rPr lang="en-IN" sz="1700" dirty="0">
                <a:latin typeface="Courier New" panose="02070309020205020404" pitchFamily="49" charset="0"/>
              </a:rPr>
              <a:t>	For each frame t:</a:t>
            </a:r>
          </a:p>
          <a:p>
            <a:pPr marL="0" lvl="1" indent="0">
              <a:buNone/>
            </a:pPr>
            <a:r>
              <a:rPr lang="en-IN" sz="1700" dirty="0">
                <a:latin typeface="Courier New" panose="02070309020205020404" pitchFamily="49" charset="0"/>
              </a:rPr>
              <a:t>		pelvis(t) = (pose[t, 11] + pose[t, 12]) / 2,</a:t>
            </a:r>
          </a:p>
          <a:p>
            <a:pPr marL="0" lvl="1" indent="0">
              <a:buNone/>
            </a:pPr>
            <a:r>
              <a:rPr lang="en-IN" sz="1700" dirty="0">
                <a:latin typeface="Courier New" panose="02070309020205020404" pitchFamily="49" charset="0"/>
              </a:rPr>
              <a:t>		Where: pose[t, j] is the (x, y) coordinate of joint j at frame t</a:t>
            </a:r>
          </a:p>
          <a:p>
            <a:endParaRPr lang="en-IN" dirty="0"/>
          </a:p>
        </p:txBody>
      </p:sp>
    </p:spTree>
    <p:extLst>
      <p:ext uri="{BB962C8B-B14F-4D97-AF65-F5344CB8AC3E}">
        <p14:creationId xmlns:p14="http://schemas.microsoft.com/office/powerpoint/2010/main" val="1394175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A0FC-0187-31C3-29F8-B862ECDE9E4E}"/>
              </a:ext>
            </a:extLst>
          </p:cNvPr>
          <p:cNvSpPr>
            <a:spLocks noGrp="1"/>
          </p:cNvSpPr>
          <p:nvPr>
            <p:ph type="title"/>
          </p:nvPr>
        </p:nvSpPr>
        <p:spPr/>
        <p:txBody>
          <a:bodyPr/>
          <a:lstStyle/>
          <a:p>
            <a:r>
              <a:rPr lang="en-IN" dirty="0"/>
              <a:t>6B(</a:t>
            </a:r>
            <a:r>
              <a:rPr lang="en-IN" dirty="0" err="1"/>
              <a:t>i</a:t>
            </a:r>
            <a:r>
              <a:rPr lang="en-IN" dirty="0"/>
              <a:t>) Algorithm Details (</a:t>
            </a:r>
            <a:r>
              <a:rPr lang="en-IN" dirty="0" err="1"/>
              <a:t>cont</a:t>
            </a:r>
            <a:r>
              <a:rPr lang="en-IN" dirty="0"/>
              <a:t>)</a:t>
            </a:r>
          </a:p>
        </p:txBody>
      </p:sp>
      <p:sp>
        <p:nvSpPr>
          <p:cNvPr id="3" name="Content Placeholder 2">
            <a:extLst>
              <a:ext uri="{FF2B5EF4-FFF2-40B4-BE49-F238E27FC236}">
                <a16:creationId xmlns:a16="http://schemas.microsoft.com/office/drawing/2014/main" id="{EA92C169-9CA8-DA4D-2B79-3C930BB0740D}"/>
              </a:ext>
            </a:extLst>
          </p:cNvPr>
          <p:cNvSpPr>
            <a:spLocks noGrp="1"/>
          </p:cNvSpPr>
          <p:nvPr>
            <p:ph idx="1"/>
          </p:nvPr>
        </p:nvSpPr>
        <p:spPr/>
        <p:txBody>
          <a:bodyPr/>
          <a:lstStyle/>
          <a:p>
            <a:r>
              <a:rPr lang="en-US" sz="2400" b="1" dirty="0"/>
              <a:t>Sample Input &amp; Output</a:t>
            </a:r>
          </a:p>
          <a:p>
            <a:pPr marL="0" indent="0">
              <a:buNone/>
            </a:pPr>
            <a:endParaRPr lang="en-US" b="1" dirty="0"/>
          </a:p>
          <a:p>
            <a:pPr marL="0" indent="0">
              <a:buNone/>
            </a:pPr>
            <a:r>
              <a:rPr lang="en-US" sz="2000" b="1" dirty="0"/>
              <a:t>Sample Input</a:t>
            </a:r>
          </a:p>
          <a:p>
            <a:endParaRPr lang="en-IN" dirty="0"/>
          </a:p>
          <a:p>
            <a:pPr marL="0" indent="0">
              <a:buNone/>
            </a:pPr>
            <a:endParaRPr lang="en-IN" b="1" dirty="0"/>
          </a:p>
          <a:p>
            <a:pPr marL="0" indent="0">
              <a:buNone/>
            </a:pPr>
            <a:endParaRPr lang="en-IN" sz="2000" dirty="0"/>
          </a:p>
          <a:p>
            <a:pPr marL="0" indent="0">
              <a:buNone/>
            </a:pPr>
            <a:r>
              <a:rPr lang="en-IN" sz="2000" b="1" dirty="0"/>
              <a:t>Sample Output</a:t>
            </a:r>
          </a:p>
        </p:txBody>
      </p:sp>
      <p:sp>
        <p:nvSpPr>
          <p:cNvPr id="6" name="TextBox 5">
            <a:extLst>
              <a:ext uri="{FF2B5EF4-FFF2-40B4-BE49-F238E27FC236}">
                <a16:creationId xmlns:a16="http://schemas.microsoft.com/office/drawing/2014/main" id="{371F423F-AEEF-941C-32A0-A91260FEFF14}"/>
              </a:ext>
            </a:extLst>
          </p:cNvPr>
          <p:cNvSpPr txBox="1"/>
          <p:nvPr/>
        </p:nvSpPr>
        <p:spPr>
          <a:xfrm>
            <a:off x="1459667" y="3096353"/>
            <a:ext cx="6097248" cy="830997"/>
          </a:xfrm>
          <a:prstGeom prst="rect">
            <a:avLst/>
          </a:prstGeom>
          <a:noFill/>
        </p:spPr>
        <p:txBody>
          <a:bodyPr wrap="square">
            <a:spAutoFit/>
          </a:bodyPr>
          <a:lstStyle/>
          <a:p>
            <a:r>
              <a:rPr lang="en-IN" sz="1600" dirty="0">
                <a:latin typeface="Courier New" panose="02070309020205020404" pitchFamily="49" charset="0"/>
              </a:rPr>
              <a:t>Frame 40:</a:t>
            </a:r>
          </a:p>
          <a:p>
            <a:r>
              <a:rPr lang="en-IN" sz="1600" dirty="0">
                <a:latin typeface="Courier New" panose="02070309020205020404" pitchFamily="49" charset="0"/>
              </a:rPr>
              <a:t>Left Hip = (-0.12, 0.05)</a:t>
            </a:r>
          </a:p>
          <a:p>
            <a:r>
              <a:rPr lang="en-IN" sz="1600" dirty="0">
                <a:latin typeface="Courier New" panose="02070309020205020404" pitchFamily="49" charset="0"/>
              </a:rPr>
              <a:t>Right Hip = ( 0.08, 0.04)</a:t>
            </a:r>
          </a:p>
        </p:txBody>
      </p:sp>
      <p:sp>
        <p:nvSpPr>
          <p:cNvPr id="9" name="TextBox 8">
            <a:extLst>
              <a:ext uri="{FF2B5EF4-FFF2-40B4-BE49-F238E27FC236}">
                <a16:creationId xmlns:a16="http://schemas.microsoft.com/office/drawing/2014/main" id="{7AFEB0E6-1B7D-4FB9-0128-DD5199107822}"/>
              </a:ext>
            </a:extLst>
          </p:cNvPr>
          <p:cNvSpPr txBox="1"/>
          <p:nvPr/>
        </p:nvSpPr>
        <p:spPr>
          <a:xfrm>
            <a:off x="1339746" y="5105744"/>
            <a:ext cx="6097248" cy="584775"/>
          </a:xfrm>
          <a:prstGeom prst="rect">
            <a:avLst/>
          </a:prstGeom>
          <a:noFill/>
        </p:spPr>
        <p:txBody>
          <a:bodyPr wrap="square">
            <a:spAutoFit/>
          </a:bodyPr>
          <a:lstStyle/>
          <a:p>
            <a:r>
              <a:rPr lang="en-IN" sz="1600" dirty="0">
                <a:latin typeface="Courier New" panose="02070309020205020404" pitchFamily="49" charset="0"/>
              </a:rPr>
              <a:t>Pelvis(40) = ((-0.12 + 0.08)/2, (0.05+0.04)/2)</a:t>
            </a:r>
          </a:p>
          <a:p>
            <a:r>
              <a:rPr lang="en-IN" sz="1600" dirty="0">
                <a:latin typeface="Courier New" panose="02070309020205020404" pitchFamily="49" charset="0"/>
              </a:rPr>
              <a:t>	= (-0.02, 0.045)</a:t>
            </a:r>
          </a:p>
        </p:txBody>
      </p:sp>
    </p:spTree>
    <p:extLst>
      <p:ext uri="{BB962C8B-B14F-4D97-AF65-F5344CB8AC3E}">
        <p14:creationId xmlns:p14="http://schemas.microsoft.com/office/powerpoint/2010/main" val="2149246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6F34D-3C5E-E84A-5F79-DA76992DB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B8A62-858C-CE1D-4006-E6F4A80BDCF0}"/>
              </a:ext>
            </a:extLst>
          </p:cNvPr>
          <p:cNvSpPr>
            <a:spLocks noGrp="1"/>
          </p:cNvSpPr>
          <p:nvPr>
            <p:ph type="title"/>
          </p:nvPr>
        </p:nvSpPr>
        <p:spPr/>
        <p:txBody>
          <a:bodyPr/>
          <a:lstStyle/>
          <a:p>
            <a:r>
              <a:rPr lang="en-US" dirty="0"/>
              <a:t>6B (ii) – Module Overview &amp; Block Diagram</a:t>
            </a:r>
            <a:endParaRPr lang="en-IN" dirty="0"/>
          </a:p>
        </p:txBody>
      </p:sp>
      <p:sp>
        <p:nvSpPr>
          <p:cNvPr id="3" name="Content Placeholder 2">
            <a:extLst>
              <a:ext uri="{FF2B5EF4-FFF2-40B4-BE49-F238E27FC236}">
                <a16:creationId xmlns:a16="http://schemas.microsoft.com/office/drawing/2014/main" id="{3280DB4F-7363-C7E5-360A-DB16B771418B}"/>
              </a:ext>
            </a:extLst>
          </p:cNvPr>
          <p:cNvSpPr>
            <a:spLocks noGrp="1"/>
          </p:cNvSpPr>
          <p:nvPr>
            <p:ph idx="1"/>
          </p:nvPr>
        </p:nvSpPr>
        <p:spPr/>
        <p:txBody>
          <a:bodyPr/>
          <a:lstStyle/>
          <a:p>
            <a:pPr marL="0" indent="0">
              <a:buNone/>
            </a:pPr>
            <a:r>
              <a:rPr lang="en-US" b="1" dirty="0"/>
              <a:t>SUB-Module:</a:t>
            </a:r>
          </a:p>
          <a:p>
            <a:pPr marL="457200" lvl="1" indent="0">
              <a:buNone/>
            </a:pPr>
            <a:r>
              <a:rPr lang="en-US" dirty="0"/>
              <a:t>	 Dynamic Time Warping for Temporal Alignment</a:t>
            </a:r>
            <a:endParaRPr lang="en-US" b="1" dirty="0"/>
          </a:p>
          <a:p>
            <a:endParaRPr lang="en-US" b="1" dirty="0"/>
          </a:p>
          <a:p>
            <a:pPr marL="0" indent="0">
              <a:buNone/>
            </a:pPr>
            <a:r>
              <a:rPr lang="en-US" b="1" dirty="0"/>
              <a:t>Block Diagram: </a:t>
            </a:r>
          </a:p>
        </p:txBody>
      </p:sp>
      <p:pic>
        <p:nvPicPr>
          <p:cNvPr id="6" name="Picture 5">
            <a:extLst>
              <a:ext uri="{FF2B5EF4-FFF2-40B4-BE49-F238E27FC236}">
                <a16:creationId xmlns:a16="http://schemas.microsoft.com/office/drawing/2014/main" id="{E54CA186-C74B-8047-F49A-558DE4A898F0}"/>
              </a:ext>
            </a:extLst>
          </p:cNvPr>
          <p:cNvPicPr>
            <a:picLocks noChangeAspect="1"/>
          </p:cNvPicPr>
          <p:nvPr/>
        </p:nvPicPr>
        <p:blipFill>
          <a:blip r:embed="rId2">
            <a:extLst>
              <a:ext uri="{28A0092B-C50C-407E-A947-70E740481C1C}">
                <a14:useLocalDpi xmlns:a14="http://schemas.microsoft.com/office/drawing/2010/main" val="0"/>
              </a:ext>
            </a:extLst>
          </a:blip>
          <a:srcRect l="357" t="41655" r="357" b="41210"/>
          <a:stretch>
            <a:fillRect/>
          </a:stretch>
        </p:blipFill>
        <p:spPr>
          <a:xfrm>
            <a:off x="327442" y="4305300"/>
            <a:ext cx="11537115" cy="1325563"/>
          </a:xfrm>
          <a:prstGeom prst="rect">
            <a:avLst/>
          </a:prstGeom>
        </p:spPr>
      </p:pic>
    </p:spTree>
    <p:extLst>
      <p:ext uri="{BB962C8B-B14F-4D97-AF65-F5344CB8AC3E}">
        <p14:creationId xmlns:p14="http://schemas.microsoft.com/office/powerpoint/2010/main" val="4150149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DEC6E-E4A4-A439-1AC7-DAAA7733D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BC07D-5159-253F-0955-E3AC215C1E82}"/>
              </a:ext>
            </a:extLst>
          </p:cNvPr>
          <p:cNvSpPr>
            <a:spLocks noGrp="1"/>
          </p:cNvSpPr>
          <p:nvPr>
            <p:ph type="title"/>
          </p:nvPr>
        </p:nvSpPr>
        <p:spPr>
          <a:xfrm>
            <a:off x="838200" y="0"/>
            <a:ext cx="10515600" cy="1325563"/>
          </a:xfrm>
        </p:spPr>
        <p:txBody>
          <a:bodyPr/>
          <a:lstStyle/>
          <a:p>
            <a:r>
              <a:rPr lang="en-US" dirty="0"/>
              <a:t>6B (ii) – </a:t>
            </a:r>
            <a:r>
              <a:rPr lang="en-IN" dirty="0"/>
              <a:t>Algorithm Details</a:t>
            </a:r>
          </a:p>
        </p:txBody>
      </p:sp>
      <p:sp>
        <p:nvSpPr>
          <p:cNvPr id="3" name="Content Placeholder 2">
            <a:extLst>
              <a:ext uri="{FF2B5EF4-FFF2-40B4-BE49-F238E27FC236}">
                <a16:creationId xmlns:a16="http://schemas.microsoft.com/office/drawing/2014/main" id="{9C9342C4-D70D-A3C0-26F7-49647AC7C3ED}"/>
              </a:ext>
            </a:extLst>
          </p:cNvPr>
          <p:cNvSpPr>
            <a:spLocks noGrp="1"/>
          </p:cNvSpPr>
          <p:nvPr>
            <p:ph idx="1"/>
          </p:nvPr>
        </p:nvSpPr>
        <p:spPr>
          <a:xfrm>
            <a:off x="838200" y="1325563"/>
            <a:ext cx="11445240" cy="5387975"/>
          </a:xfrm>
        </p:spPr>
        <p:txBody>
          <a:bodyPr>
            <a:normAutofit fontScale="70000" lnSpcReduction="20000"/>
          </a:bodyPr>
          <a:lstStyle/>
          <a:p>
            <a:pPr marL="0" indent="0">
              <a:buNone/>
            </a:pPr>
            <a:r>
              <a:rPr lang="en-US" sz="2900" b="1" dirty="0"/>
              <a:t>Algorithm</a:t>
            </a:r>
            <a:r>
              <a:rPr lang="en-US" sz="3200" b="1" dirty="0"/>
              <a:t> Type</a:t>
            </a:r>
          </a:p>
          <a:p>
            <a:pPr marL="457200" lvl="1" indent="0">
              <a:buNone/>
            </a:pPr>
            <a:r>
              <a:rPr lang="en-US" sz="2600" b="1" dirty="0"/>
              <a:t>Dynamic Programming-Based Temporal Alignment</a:t>
            </a:r>
          </a:p>
          <a:p>
            <a:pPr marL="457200" lvl="1" indent="0">
              <a:buNone/>
            </a:pPr>
            <a:endParaRPr lang="en-US" b="1" dirty="0"/>
          </a:p>
          <a:p>
            <a:pPr marL="0" indent="0">
              <a:spcBef>
                <a:spcPts val="600"/>
              </a:spcBef>
              <a:buNone/>
            </a:pPr>
            <a:r>
              <a:rPr lang="en-IN" sz="2900" b="1" dirty="0"/>
              <a:t>Step 1: Cost Matrix Construction</a:t>
            </a:r>
          </a:p>
          <a:p>
            <a:pPr marL="457200" lvl="1" indent="0">
              <a:spcBef>
                <a:spcPts val="600"/>
              </a:spcBef>
              <a:buNone/>
            </a:pPr>
            <a:r>
              <a:rPr lang="en-IN" sz="2300" b="1" dirty="0"/>
              <a:t>Distance Metric</a:t>
            </a:r>
            <a:endParaRPr lang="en-IN" sz="2300" dirty="0"/>
          </a:p>
          <a:p>
            <a:pPr marL="0" lvl="1" indent="0">
              <a:lnSpc>
                <a:spcPct val="100000"/>
              </a:lnSpc>
              <a:buNone/>
            </a:pPr>
            <a:r>
              <a:rPr lang="en-IN" sz="1600" dirty="0"/>
              <a:t>	</a:t>
            </a:r>
            <a:r>
              <a:rPr lang="en-IN" sz="2300" dirty="0">
                <a:latin typeface="Courier New" panose="02070309020205020404" pitchFamily="49" charset="0"/>
              </a:rPr>
              <a:t>For expert frame </a:t>
            </a:r>
            <a:r>
              <a:rPr lang="en-IN" sz="2300" dirty="0" err="1">
                <a:latin typeface="Courier New" panose="02070309020205020404" pitchFamily="49" charset="0"/>
              </a:rPr>
              <a:t>i</a:t>
            </a:r>
            <a:r>
              <a:rPr lang="en-IN" sz="2300" dirty="0">
                <a:latin typeface="Courier New" panose="02070309020205020404" pitchFamily="49" charset="0"/>
              </a:rPr>
              <a:t> and user frame j:</a:t>
            </a:r>
          </a:p>
          <a:p>
            <a:pPr marL="0" lvl="1" indent="0">
              <a:lnSpc>
                <a:spcPct val="100000"/>
              </a:lnSpc>
              <a:buNone/>
            </a:pPr>
            <a:r>
              <a:rPr lang="en-IN" sz="2300" dirty="0">
                <a:latin typeface="Courier New" panose="02070309020205020404" pitchFamily="49" charset="0"/>
              </a:rPr>
              <a:t>		d(</a:t>
            </a:r>
            <a:r>
              <a:rPr lang="en-IN" sz="2300" dirty="0" err="1">
                <a:latin typeface="Courier New" panose="02070309020205020404" pitchFamily="49" charset="0"/>
              </a:rPr>
              <a:t>i</a:t>
            </a:r>
            <a:r>
              <a:rPr lang="en-IN" sz="2300" dirty="0">
                <a:latin typeface="Courier New" panose="02070309020205020404" pitchFamily="49" charset="0"/>
              </a:rPr>
              <a:t>, j) = || </a:t>
            </a:r>
            <a:r>
              <a:rPr lang="en-IN" sz="2300" dirty="0" err="1">
                <a:latin typeface="Courier New" panose="02070309020205020404" pitchFamily="49" charset="0"/>
              </a:rPr>
              <a:t>expert_pelvis</a:t>
            </a:r>
            <a:r>
              <a:rPr lang="en-IN" sz="2300" dirty="0">
                <a:latin typeface="Courier New" panose="02070309020205020404" pitchFamily="49" charset="0"/>
              </a:rPr>
              <a:t>[</a:t>
            </a:r>
            <a:r>
              <a:rPr lang="en-IN" sz="2300" dirty="0" err="1">
                <a:latin typeface="Courier New" panose="02070309020205020404" pitchFamily="49" charset="0"/>
              </a:rPr>
              <a:t>i</a:t>
            </a:r>
            <a:r>
              <a:rPr lang="en-IN" sz="2300" dirty="0">
                <a:latin typeface="Courier New" panose="02070309020205020404" pitchFamily="49" charset="0"/>
              </a:rPr>
              <a:t>] − </a:t>
            </a:r>
            <a:r>
              <a:rPr lang="en-IN" sz="2300" dirty="0" err="1">
                <a:latin typeface="Courier New" panose="02070309020205020404" pitchFamily="49" charset="0"/>
              </a:rPr>
              <a:t>user_pelvis</a:t>
            </a:r>
            <a:r>
              <a:rPr lang="en-IN" sz="2300" dirty="0">
                <a:latin typeface="Courier New" panose="02070309020205020404" pitchFamily="49" charset="0"/>
              </a:rPr>
              <a:t>[j] ||</a:t>
            </a:r>
            <a:endParaRPr lang="en-US" sz="2300" dirty="0">
              <a:latin typeface="Courier New" panose="02070309020205020404" pitchFamily="49" charset="0"/>
            </a:endParaRPr>
          </a:p>
          <a:p>
            <a:pPr marL="0" indent="0">
              <a:spcBef>
                <a:spcPts val="600"/>
              </a:spcBef>
              <a:buNone/>
            </a:pPr>
            <a:endParaRPr lang="en-US" sz="1600" b="1" dirty="0"/>
          </a:p>
          <a:p>
            <a:pPr marL="0" indent="0">
              <a:spcBef>
                <a:spcPts val="600"/>
              </a:spcBef>
              <a:buNone/>
            </a:pPr>
            <a:r>
              <a:rPr lang="en-US" sz="2900" b="1" dirty="0"/>
              <a:t>Step 2: Optimal Path Backtracking</a:t>
            </a:r>
          </a:p>
          <a:p>
            <a:pPr marL="0" indent="0">
              <a:spcBef>
                <a:spcPts val="600"/>
              </a:spcBef>
              <a:buNone/>
            </a:pPr>
            <a:r>
              <a:rPr lang="en-US" sz="2900" b="1" dirty="0"/>
              <a:t>Backtracking Rule</a:t>
            </a:r>
          </a:p>
          <a:p>
            <a:pPr marL="457200" lvl="1" indent="0">
              <a:spcBef>
                <a:spcPts val="600"/>
              </a:spcBef>
              <a:buNone/>
            </a:pPr>
            <a:r>
              <a:rPr lang="en-US" sz="2300" dirty="0">
                <a:latin typeface="Courier New" panose="02070309020205020404" pitchFamily="49" charset="0"/>
              </a:rPr>
              <a:t>Start from:</a:t>
            </a:r>
          </a:p>
          <a:p>
            <a:pPr marL="457200" lvl="1" indent="0">
              <a:spcBef>
                <a:spcPts val="600"/>
              </a:spcBef>
              <a:buNone/>
            </a:pPr>
            <a:r>
              <a:rPr lang="en-US" sz="2300" dirty="0">
                <a:latin typeface="Courier New" panose="02070309020205020404" pitchFamily="49" charset="0"/>
              </a:rPr>
              <a:t>(</a:t>
            </a:r>
            <a:r>
              <a:rPr lang="en-US" sz="2300" dirty="0" err="1">
                <a:latin typeface="Courier New" panose="02070309020205020404" pitchFamily="49" charset="0"/>
              </a:rPr>
              <a:t>i</a:t>
            </a:r>
            <a:r>
              <a:rPr lang="en-US" sz="2300" dirty="0">
                <a:latin typeface="Courier New" panose="02070309020205020404" pitchFamily="49" charset="0"/>
              </a:rPr>
              <a:t>, j) = (</a:t>
            </a:r>
            <a:r>
              <a:rPr lang="en-US" sz="2300" dirty="0" err="1">
                <a:latin typeface="Courier New" panose="02070309020205020404" pitchFamily="49" charset="0"/>
              </a:rPr>
              <a:t>T_expert</a:t>
            </a:r>
            <a:r>
              <a:rPr lang="en-US" sz="2300" dirty="0">
                <a:latin typeface="Courier New" panose="02070309020205020404" pitchFamily="49" charset="0"/>
              </a:rPr>
              <a:t>, </a:t>
            </a:r>
            <a:r>
              <a:rPr lang="en-US" sz="2300" dirty="0" err="1">
                <a:latin typeface="Courier New" panose="02070309020205020404" pitchFamily="49" charset="0"/>
              </a:rPr>
              <a:t>T_user</a:t>
            </a:r>
            <a:r>
              <a:rPr lang="en-US" sz="2300" dirty="0">
                <a:latin typeface="Courier New" panose="02070309020205020404" pitchFamily="49" charset="0"/>
              </a:rPr>
              <a:t>)</a:t>
            </a:r>
          </a:p>
          <a:p>
            <a:pPr marL="457200" lvl="1" indent="0">
              <a:spcBef>
                <a:spcPts val="600"/>
              </a:spcBef>
              <a:buNone/>
            </a:pPr>
            <a:endParaRPr lang="en-US" sz="2300" dirty="0">
              <a:latin typeface="Courier New" panose="02070309020205020404" pitchFamily="49" charset="0"/>
            </a:endParaRPr>
          </a:p>
          <a:p>
            <a:pPr marL="457200" lvl="1" indent="0">
              <a:spcBef>
                <a:spcPts val="600"/>
              </a:spcBef>
              <a:buNone/>
            </a:pPr>
            <a:r>
              <a:rPr lang="en-US" sz="2300" dirty="0">
                <a:latin typeface="Courier New" panose="02070309020205020404" pitchFamily="49" charset="0"/>
              </a:rPr>
              <a:t>At each step, move to the minimum of:</a:t>
            </a:r>
          </a:p>
          <a:p>
            <a:pPr marL="457200" lvl="1" indent="0">
              <a:spcBef>
                <a:spcPts val="600"/>
              </a:spcBef>
              <a:buNone/>
            </a:pPr>
            <a:r>
              <a:rPr lang="en-US" sz="2300" dirty="0">
                <a:latin typeface="Courier New" panose="02070309020205020404" pitchFamily="49" charset="0"/>
              </a:rPr>
              <a:t>D[i−1, j−1], D[i−1, j], D[</a:t>
            </a:r>
            <a:r>
              <a:rPr lang="en-US" sz="2300" dirty="0" err="1">
                <a:latin typeface="Courier New" panose="02070309020205020404" pitchFamily="49" charset="0"/>
              </a:rPr>
              <a:t>i</a:t>
            </a:r>
            <a:r>
              <a:rPr lang="en-US" sz="2300" dirty="0">
                <a:latin typeface="Courier New" panose="02070309020205020404" pitchFamily="49" charset="0"/>
              </a:rPr>
              <a:t>, j−1]</a:t>
            </a:r>
          </a:p>
          <a:p>
            <a:pPr marL="457200" lvl="1" indent="0">
              <a:spcBef>
                <a:spcPts val="600"/>
              </a:spcBef>
              <a:buNone/>
            </a:pPr>
            <a:endParaRPr lang="en-US" sz="2300" dirty="0">
              <a:latin typeface="Courier New" panose="02070309020205020404" pitchFamily="49" charset="0"/>
            </a:endParaRPr>
          </a:p>
          <a:p>
            <a:pPr marL="457200" lvl="1" indent="0">
              <a:spcBef>
                <a:spcPts val="600"/>
              </a:spcBef>
              <a:buNone/>
            </a:pPr>
            <a:r>
              <a:rPr lang="en-US" sz="2300" dirty="0">
                <a:latin typeface="Courier New" panose="02070309020205020404" pitchFamily="49" charset="0"/>
              </a:rPr>
              <a:t>Termination condition :</a:t>
            </a:r>
          </a:p>
          <a:p>
            <a:pPr marL="457200" lvl="1" indent="0">
              <a:spcBef>
                <a:spcPts val="600"/>
              </a:spcBef>
              <a:buNone/>
            </a:pPr>
            <a:r>
              <a:rPr lang="en-US" sz="2300" dirty="0">
                <a:latin typeface="Courier New" panose="02070309020205020404" pitchFamily="49" charset="0"/>
              </a:rPr>
              <a:t>	(</a:t>
            </a:r>
            <a:r>
              <a:rPr lang="en-US" sz="2300" dirty="0" err="1">
                <a:latin typeface="Courier New" panose="02070309020205020404" pitchFamily="49" charset="0"/>
              </a:rPr>
              <a:t>i</a:t>
            </a:r>
            <a:r>
              <a:rPr lang="en-US" sz="2300" dirty="0">
                <a:latin typeface="Courier New" panose="02070309020205020404" pitchFamily="49" charset="0"/>
              </a:rPr>
              <a:t> == 0 AND j == 0)</a:t>
            </a:r>
          </a:p>
          <a:p>
            <a:pPr marL="0" indent="0">
              <a:spcBef>
                <a:spcPts val="600"/>
              </a:spcBef>
              <a:buNone/>
            </a:pPr>
            <a:br>
              <a:rPr lang="en-IN" dirty="0"/>
            </a:br>
            <a:endParaRPr lang="en-IN" dirty="0"/>
          </a:p>
          <a:p>
            <a:pPr marL="457200" lvl="1" indent="0">
              <a:buNone/>
            </a:pPr>
            <a:endParaRPr lang="en-US" b="1" dirty="0"/>
          </a:p>
        </p:txBody>
      </p:sp>
    </p:spTree>
    <p:extLst>
      <p:ext uri="{BB962C8B-B14F-4D97-AF65-F5344CB8AC3E}">
        <p14:creationId xmlns:p14="http://schemas.microsoft.com/office/powerpoint/2010/main" val="326889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B9024-9B35-332B-A9EF-67C12D2FB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DF8BD-D632-DB9C-BEAC-380193B3ED7A}"/>
              </a:ext>
            </a:extLst>
          </p:cNvPr>
          <p:cNvSpPr>
            <a:spLocks noGrp="1"/>
          </p:cNvSpPr>
          <p:nvPr>
            <p:ph type="title"/>
          </p:nvPr>
        </p:nvSpPr>
        <p:spPr/>
        <p:txBody>
          <a:bodyPr/>
          <a:lstStyle/>
          <a:p>
            <a:r>
              <a:rPr lang="en-US" dirty="0"/>
              <a:t>6B (ii) – </a:t>
            </a:r>
            <a:r>
              <a:rPr lang="en-IN" dirty="0"/>
              <a:t>Algorithm Details (</a:t>
            </a:r>
            <a:r>
              <a:rPr lang="en-IN" dirty="0" err="1"/>
              <a:t>cont</a:t>
            </a:r>
            <a:r>
              <a:rPr lang="en-IN" dirty="0"/>
              <a:t>)</a:t>
            </a:r>
          </a:p>
        </p:txBody>
      </p:sp>
      <p:sp>
        <p:nvSpPr>
          <p:cNvPr id="3" name="Content Placeholder 2">
            <a:extLst>
              <a:ext uri="{FF2B5EF4-FFF2-40B4-BE49-F238E27FC236}">
                <a16:creationId xmlns:a16="http://schemas.microsoft.com/office/drawing/2014/main" id="{CFFC3C7A-01B2-05DD-B7F9-FF4EAE63232D}"/>
              </a:ext>
            </a:extLst>
          </p:cNvPr>
          <p:cNvSpPr>
            <a:spLocks noGrp="1"/>
          </p:cNvSpPr>
          <p:nvPr>
            <p:ph idx="1"/>
          </p:nvPr>
        </p:nvSpPr>
        <p:spPr>
          <a:xfrm>
            <a:off x="675861" y="1825625"/>
            <a:ext cx="11043699" cy="4667250"/>
          </a:xfrm>
        </p:spPr>
        <p:txBody>
          <a:bodyPr>
            <a:normAutofit lnSpcReduction="10000"/>
          </a:bodyPr>
          <a:lstStyle/>
          <a:p>
            <a:pPr marL="0" indent="0">
              <a:lnSpc>
                <a:spcPct val="80000"/>
              </a:lnSpc>
              <a:spcBef>
                <a:spcPts val="600"/>
              </a:spcBef>
              <a:buNone/>
            </a:pPr>
            <a:r>
              <a:rPr lang="en-US" sz="2600" b="1" dirty="0"/>
              <a:t>Sample Input &amp; Output</a:t>
            </a:r>
          </a:p>
          <a:p>
            <a:pPr marL="0" indent="0">
              <a:buNone/>
            </a:pPr>
            <a:endParaRPr lang="en-US" b="1" dirty="0"/>
          </a:p>
          <a:p>
            <a:pPr marL="0" indent="0">
              <a:buNone/>
            </a:pPr>
            <a:r>
              <a:rPr lang="en-US" sz="2200" b="1" dirty="0"/>
              <a:t>Sample Input</a:t>
            </a:r>
          </a:p>
          <a:p>
            <a:pPr marL="457200" lvl="1" indent="0">
              <a:spcBef>
                <a:spcPts val="600"/>
              </a:spcBef>
              <a:buNone/>
            </a:pPr>
            <a:r>
              <a:rPr lang="en-US" sz="1600" dirty="0"/>
              <a:t>	</a:t>
            </a:r>
            <a:r>
              <a:rPr lang="en-US" sz="1600" dirty="0">
                <a:latin typeface="Courier New" panose="02070309020205020404" pitchFamily="49" charset="0"/>
              </a:rPr>
              <a:t>Expert length = 100 frames</a:t>
            </a:r>
          </a:p>
          <a:p>
            <a:pPr marL="457200" lvl="1" indent="0">
              <a:spcBef>
                <a:spcPts val="600"/>
              </a:spcBef>
              <a:buNone/>
            </a:pPr>
            <a:r>
              <a:rPr lang="en-US" sz="1600" dirty="0">
                <a:latin typeface="Courier New" panose="02070309020205020404" pitchFamily="49" charset="0"/>
              </a:rPr>
              <a:t>	User length   = 120 frames</a:t>
            </a:r>
          </a:p>
          <a:p>
            <a:pPr marL="0" indent="0">
              <a:buNone/>
            </a:pPr>
            <a:endParaRPr lang="en-US" b="1" dirty="0"/>
          </a:p>
          <a:p>
            <a:pPr marL="0" indent="0">
              <a:buNone/>
            </a:pPr>
            <a:r>
              <a:rPr lang="en-US" sz="2200" b="1" dirty="0"/>
              <a:t>Sample Output</a:t>
            </a:r>
          </a:p>
          <a:p>
            <a:pPr marL="457200" lvl="1" indent="0">
              <a:spcBef>
                <a:spcPts val="600"/>
              </a:spcBef>
              <a:buNone/>
            </a:pPr>
            <a:r>
              <a:rPr lang="en-US" dirty="0"/>
              <a:t>	</a:t>
            </a:r>
            <a:r>
              <a:rPr lang="en-US" sz="1700" dirty="0">
                <a:latin typeface="Courier New" panose="02070309020205020404" pitchFamily="49" charset="0"/>
              </a:rPr>
              <a:t>Aligned length = 115 frames</a:t>
            </a:r>
          </a:p>
          <a:p>
            <a:pPr marL="457200" lvl="1" indent="0">
              <a:spcBef>
                <a:spcPts val="600"/>
              </a:spcBef>
              <a:buNone/>
            </a:pPr>
            <a:r>
              <a:rPr lang="en-US" sz="1700" dirty="0">
                <a:latin typeface="Courier New" panose="02070309020205020404" pitchFamily="49" charset="0"/>
              </a:rPr>
              <a:t>	</a:t>
            </a:r>
            <a:r>
              <a:rPr lang="en-US" sz="1700" dirty="0" err="1">
                <a:latin typeface="Courier New" panose="02070309020205020404" pitchFamily="49" charset="0"/>
              </a:rPr>
              <a:t>path_expert</a:t>
            </a:r>
            <a:r>
              <a:rPr lang="en-US" sz="1700" dirty="0">
                <a:latin typeface="Courier New" panose="02070309020205020404" pitchFamily="49" charset="0"/>
              </a:rPr>
              <a:t> = [0,1,1,2,3,3,4,...]</a:t>
            </a:r>
          </a:p>
          <a:p>
            <a:pPr marL="457200" lvl="1" indent="0">
              <a:spcBef>
                <a:spcPts val="600"/>
              </a:spcBef>
              <a:buNone/>
            </a:pPr>
            <a:r>
              <a:rPr lang="en-US" sz="1700" dirty="0">
                <a:latin typeface="Courier New" panose="02070309020205020404" pitchFamily="49" charset="0"/>
              </a:rPr>
              <a:t>	</a:t>
            </a:r>
            <a:r>
              <a:rPr lang="en-US" sz="1700" dirty="0" err="1">
                <a:latin typeface="Courier New" panose="02070309020205020404" pitchFamily="49" charset="0"/>
              </a:rPr>
              <a:t>path_user</a:t>
            </a:r>
            <a:r>
              <a:rPr lang="en-US" sz="1700" dirty="0">
                <a:latin typeface="Courier New" panose="02070309020205020404" pitchFamily="49" charset="0"/>
              </a:rPr>
              <a:t>   = [0,1,2,3,4,5,5,...]</a:t>
            </a:r>
          </a:p>
          <a:p>
            <a:pPr marL="0" indent="0">
              <a:spcBef>
                <a:spcPts val="600"/>
              </a:spcBef>
              <a:buNone/>
            </a:pPr>
            <a:br>
              <a:rPr lang="en-IN" dirty="0"/>
            </a:br>
            <a:endParaRPr lang="en-IN" dirty="0"/>
          </a:p>
          <a:p>
            <a:pPr marL="457200" lvl="1" indent="0">
              <a:buNone/>
            </a:pPr>
            <a:endParaRPr lang="en-US" b="1" dirty="0"/>
          </a:p>
        </p:txBody>
      </p:sp>
    </p:spTree>
    <p:extLst>
      <p:ext uri="{BB962C8B-B14F-4D97-AF65-F5344CB8AC3E}">
        <p14:creationId xmlns:p14="http://schemas.microsoft.com/office/powerpoint/2010/main" val="851335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B726-2F7F-46DF-BA55-9632DE3FC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0752A-7AF8-BAC0-B9D5-71CC202DE3AF}"/>
              </a:ext>
            </a:extLst>
          </p:cNvPr>
          <p:cNvSpPr>
            <a:spLocks noGrp="1"/>
          </p:cNvSpPr>
          <p:nvPr>
            <p:ph type="title"/>
          </p:nvPr>
        </p:nvSpPr>
        <p:spPr>
          <a:xfrm>
            <a:off x="838200" y="75009"/>
            <a:ext cx="10515600" cy="1325563"/>
          </a:xfrm>
        </p:spPr>
        <p:txBody>
          <a:bodyPr/>
          <a:lstStyle/>
          <a:p>
            <a:r>
              <a:rPr lang="en-US" dirty="0"/>
              <a:t>6B (iii) – Module Overview &amp; Block Diagram</a:t>
            </a:r>
            <a:endParaRPr lang="en-IN" dirty="0"/>
          </a:p>
        </p:txBody>
      </p:sp>
      <p:sp>
        <p:nvSpPr>
          <p:cNvPr id="3" name="Content Placeholder 2">
            <a:extLst>
              <a:ext uri="{FF2B5EF4-FFF2-40B4-BE49-F238E27FC236}">
                <a16:creationId xmlns:a16="http://schemas.microsoft.com/office/drawing/2014/main" id="{82660A8A-CE8D-94E6-8BAD-720D66C3FACE}"/>
              </a:ext>
            </a:extLst>
          </p:cNvPr>
          <p:cNvSpPr>
            <a:spLocks noGrp="1"/>
          </p:cNvSpPr>
          <p:nvPr>
            <p:ph idx="1"/>
          </p:nvPr>
        </p:nvSpPr>
        <p:spPr>
          <a:xfrm>
            <a:off x="838200" y="1400572"/>
            <a:ext cx="10515600" cy="4351338"/>
          </a:xfrm>
        </p:spPr>
        <p:txBody>
          <a:bodyPr/>
          <a:lstStyle/>
          <a:p>
            <a:pPr marL="0" indent="0">
              <a:lnSpc>
                <a:spcPct val="80000"/>
              </a:lnSpc>
              <a:spcBef>
                <a:spcPts val="600"/>
              </a:spcBef>
              <a:buNone/>
            </a:pPr>
            <a:r>
              <a:rPr lang="en-US" sz="2400" b="1" dirty="0"/>
              <a:t>SUB-Module:</a:t>
            </a:r>
          </a:p>
          <a:p>
            <a:pPr marL="0" indent="0">
              <a:buNone/>
            </a:pPr>
            <a:r>
              <a:rPr lang="en-US" b="1" dirty="0"/>
              <a:t>	</a:t>
            </a:r>
            <a:r>
              <a:rPr lang="en-US" sz="1800" b="1" dirty="0"/>
              <a:t>Index-Based Aligned Pose Sequence Generation</a:t>
            </a:r>
          </a:p>
          <a:p>
            <a:endParaRPr lang="en-US" b="1" dirty="0"/>
          </a:p>
          <a:p>
            <a:pPr marL="0" indent="0">
              <a:lnSpc>
                <a:spcPct val="80000"/>
              </a:lnSpc>
              <a:spcBef>
                <a:spcPts val="600"/>
              </a:spcBef>
              <a:buNone/>
            </a:pPr>
            <a:r>
              <a:rPr lang="en-US" sz="2400" b="1" dirty="0"/>
              <a:t>Block Diagram: </a:t>
            </a:r>
          </a:p>
        </p:txBody>
      </p:sp>
      <p:pic>
        <p:nvPicPr>
          <p:cNvPr id="6" name="Picture 5">
            <a:extLst>
              <a:ext uri="{FF2B5EF4-FFF2-40B4-BE49-F238E27FC236}">
                <a16:creationId xmlns:a16="http://schemas.microsoft.com/office/drawing/2014/main" id="{DC1C8867-9124-51E7-5D4E-4BBB089965FF}"/>
              </a:ext>
            </a:extLst>
          </p:cNvPr>
          <p:cNvPicPr>
            <a:picLocks noChangeAspect="1"/>
          </p:cNvPicPr>
          <p:nvPr/>
        </p:nvPicPr>
        <p:blipFill>
          <a:blip r:embed="rId2">
            <a:extLst>
              <a:ext uri="{28A0092B-C50C-407E-A947-70E740481C1C}">
                <a14:useLocalDpi xmlns:a14="http://schemas.microsoft.com/office/drawing/2010/main" val="0"/>
              </a:ext>
            </a:extLst>
          </a:blip>
          <a:srcRect l="740" t="30306" r="667" b="30751"/>
          <a:stretch>
            <a:fillRect/>
          </a:stretch>
        </p:blipFill>
        <p:spPr>
          <a:xfrm>
            <a:off x="685800" y="3429000"/>
            <a:ext cx="10142220" cy="2666999"/>
          </a:xfrm>
          <a:prstGeom prst="rect">
            <a:avLst/>
          </a:prstGeom>
        </p:spPr>
      </p:pic>
    </p:spTree>
    <p:extLst>
      <p:ext uri="{BB962C8B-B14F-4D97-AF65-F5344CB8AC3E}">
        <p14:creationId xmlns:p14="http://schemas.microsoft.com/office/powerpoint/2010/main" val="4109795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D377-3098-49B3-6034-FD1567582887}"/>
              </a:ext>
            </a:extLst>
          </p:cNvPr>
          <p:cNvSpPr>
            <a:spLocks noGrp="1"/>
          </p:cNvSpPr>
          <p:nvPr>
            <p:ph type="title"/>
          </p:nvPr>
        </p:nvSpPr>
        <p:spPr/>
        <p:txBody>
          <a:bodyPr/>
          <a:lstStyle/>
          <a:p>
            <a:r>
              <a:rPr lang="en-US" dirty="0"/>
              <a:t>6B (iii) </a:t>
            </a:r>
            <a:r>
              <a:rPr lang="en-IN" dirty="0"/>
              <a:t>Algorithm Details</a:t>
            </a:r>
          </a:p>
        </p:txBody>
      </p:sp>
      <p:sp>
        <p:nvSpPr>
          <p:cNvPr id="3" name="Content Placeholder 2">
            <a:extLst>
              <a:ext uri="{FF2B5EF4-FFF2-40B4-BE49-F238E27FC236}">
                <a16:creationId xmlns:a16="http://schemas.microsoft.com/office/drawing/2014/main" id="{469942E0-46DB-81CF-8F88-85C8B322C117}"/>
              </a:ext>
            </a:extLst>
          </p:cNvPr>
          <p:cNvSpPr>
            <a:spLocks noGrp="1"/>
          </p:cNvSpPr>
          <p:nvPr>
            <p:ph idx="1"/>
          </p:nvPr>
        </p:nvSpPr>
        <p:spPr/>
        <p:txBody>
          <a:bodyPr/>
          <a:lstStyle/>
          <a:p>
            <a:pPr marL="0" indent="0">
              <a:lnSpc>
                <a:spcPct val="80000"/>
              </a:lnSpc>
              <a:spcBef>
                <a:spcPts val="600"/>
              </a:spcBef>
              <a:buNone/>
            </a:pPr>
            <a:r>
              <a:rPr lang="en-IN" sz="2400" b="1" dirty="0"/>
              <a:t>Algorithm Type</a:t>
            </a:r>
          </a:p>
          <a:p>
            <a:pPr marL="0" indent="0">
              <a:buNone/>
            </a:pPr>
            <a:r>
              <a:rPr lang="en-IN" b="1" dirty="0"/>
              <a:t>	</a:t>
            </a:r>
            <a:r>
              <a:rPr lang="en-IN" sz="1800" b="1" dirty="0"/>
              <a:t>Direct Index-Based Pose Extraction</a:t>
            </a:r>
          </a:p>
          <a:p>
            <a:pPr marL="0" indent="0">
              <a:buNone/>
            </a:pPr>
            <a:r>
              <a:rPr lang="en-US" sz="2400" b="1" dirty="0"/>
              <a:t>Aligned Pose Construction Rule</a:t>
            </a:r>
          </a:p>
          <a:p>
            <a:pPr marL="457200" lvl="1" indent="0">
              <a:spcBef>
                <a:spcPts val="600"/>
              </a:spcBef>
              <a:buNone/>
            </a:pPr>
            <a:r>
              <a:rPr lang="en-US" sz="1600" dirty="0">
                <a:latin typeface="Courier New" panose="02070309020205020404" pitchFamily="49" charset="0"/>
              </a:rPr>
              <a:t>For each aligned frame index i:</a:t>
            </a:r>
          </a:p>
          <a:p>
            <a:pPr marL="457200" lvl="1" indent="0">
              <a:spcBef>
                <a:spcPts val="600"/>
              </a:spcBef>
              <a:buNone/>
            </a:pPr>
            <a:r>
              <a:rPr lang="en-US" sz="1600" dirty="0">
                <a:latin typeface="Courier New" panose="02070309020205020404" pitchFamily="49" charset="0"/>
              </a:rPr>
              <a:t>	</a:t>
            </a:r>
            <a:r>
              <a:rPr lang="en-US" sz="1600" dirty="0" err="1">
                <a:latin typeface="Courier New" panose="02070309020205020404" pitchFamily="49" charset="0"/>
              </a:rPr>
              <a:t>expert_aligned</a:t>
            </a:r>
            <a:r>
              <a:rPr lang="en-US" sz="1600" dirty="0">
                <a:latin typeface="Courier New" panose="02070309020205020404" pitchFamily="49" charset="0"/>
              </a:rPr>
              <a:t>[</a:t>
            </a:r>
            <a:r>
              <a:rPr lang="en-US" sz="1600" dirty="0" err="1">
                <a:latin typeface="Courier New" panose="02070309020205020404" pitchFamily="49" charset="0"/>
              </a:rPr>
              <a:t>i</a:t>
            </a:r>
            <a:r>
              <a:rPr lang="en-US" sz="1600" dirty="0">
                <a:latin typeface="Courier New" panose="02070309020205020404" pitchFamily="49" charset="0"/>
              </a:rPr>
              <a:t>] = </a:t>
            </a:r>
            <a:r>
              <a:rPr lang="en-US" sz="1600" dirty="0" err="1">
                <a:latin typeface="Courier New" panose="02070309020205020404" pitchFamily="49" charset="0"/>
              </a:rPr>
              <a:t>expert_pose</a:t>
            </a:r>
            <a:r>
              <a:rPr lang="en-US" sz="1600" dirty="0">
                <a:latin typeface="Courier New" panose="02070309020205020404" pitchFamily="49" charset="0"/>
              </a:rPr>
              <a:t>[</a:t>
            </a:r>
            <a:r>
              <a:rPr lang="en-US" sz="1600" dirty="0" err="1">
                <a:latin typeface="Courier New" panose="02070309020205020404" pitchFamily="49" charset="0"/>
              </a:rPr>
              <a:t>path_expert</a:t>
            </a:r>
            <a:r>
              <a:rPr lang="en-US" sz="1600" dirty="0">
                <a:latin typeface="Courier New" panose="02070309020205020404" pitchFamily="49" charset="0"/>
              </a:rPr>
              <a:t>[</a:t>
            </a:r>
            <a:r>
              <a:rPr lang="en-US" sz="1600" dirty="0" err="1">
                <a:latin typeface="Courier New" panose="02070309020205020404" pitchFamily="49" charset="0"/>
              </a:rPr>
              <a:t>i</a:t>
            </a:r>
            <a:r>
              <a:rPr lang="en-US" sz="1600" dirty="0">
                <a:latin typeface="Courier New" panose="02070309020205020404" pitchFamily="49" charset="0"/>
              </a:rPr>
              <a:t>]]</a:t>
            </a:r>
          </a:p>
          <a:p>
            <a:pPr marL="457200" lvl="1" indent="0">
              <a:spcBef>
                <a:spcPts val="600"/>
              </a:spcBef>
              <a:buNone/>
            </a:pPr>
            <a:r>
              <a:rPr lang="en-US" sz="1600" dirty="0">
                <a:latin typeface="Courier New" panose="02070309020205020404" pitchFamily="49" charset="0"/>
              </a:rPr>
              <a:t>	</a:t>
            </a:r>
            <a:r>
              <a:rPr lang="en-US" sz="1600" dirty="0" err="1">
                <a:latin typeface="Courier New" panose="02070309020205020404" pitchFamily="49" charset="0"/>
              </a:rPr>
              <a:t>user_aligned</a:t>
            </a:r>
            <a:r>
              <a:rPr lang="en-US" sz="1600" dirty="0">
                <a:latin typeface="Courier New" panose="02070309020205020404" pitchFamily="49" charset="0"/>
              </a:rPr>
              <a:t>[</a:t>
            </a:r>
            <a:r>
              <a:rPr lang="en-US" sz="1600" dirty="0" err="1">
                <a:latin typeface="Courier New" panose="02070309020205020404" pitchFamily="49" charset="0"/>
              </a:rPr>
              <a:t>i</a:t>
            </a:r>
            <a:r>
              <a:rPr lang="en-US" sz="1600" dirty="0">
                <a:latin typeface="Courier New" panose="02070309020205020404" pitchFamily="49" charset="0"/>
              </a:rPr>
              <a:t>]   = </a:t>
            </a:r>
            <a:r>
              <a:rPr lang="en-US" sz="1600" dirty="0" err="1">
                <a:latin typeface="Courier New" panose="02070309020205020404" pitchFamily="49" charset="0"/>
              </a:rPr>
              <a:t>user_pose</a:t>
            </a:r>
            <a:r>
              <a:rPr lang="en-US" sz="1600" dirty="0">
                <a:latin typeface="Courier New" panose="02070309020205020404" pitchFamily="49" charset="0"/>
              </a:rPr>
              <a:t>[</a:t>
            </a:r>
            <a:r>
              <a:rPr lang="en-US" sz="1600" dirty="0" err="1">
                <a:latin typeface="Courier New" panose="02070309020205020404" pitchFamily="49" charset="0"/>
              </a:rPr>
              <a:t>path_user</a:t>
            </a:r>
            <a:r>
              <a:rPr lang="en-US" sz="1600" dirty="0">
                <a:latin typeface="Courier New" panose="02070309020205020404" pitchFamily="49" charset="0"/>
              </a:rPr>
              <a:t>[</a:t>
            </a:r>
            <a:r>
              <a:rPr lang="en-US" sz="1600" dirty="0" err="1">
                <a:latin typeface="Courier New" panose="02070309020205020404" pitchFamily="49" charset="0"/>
              </a:rPr>
              <a:t>i</a:t>
            </a:r>
            <a:r>
              <a:rPr lang="en-US" sz="1600" dirty="0">
                <a:latin typeface="Courier New" panose="02070309020205020404" pitchFamily="49" charset="0"/>
              </a:rPr>
              <a:t>]]</a:t>
            </a:r>
          </a:p>
          <a:p>
            <a:pPr marL="457200" lvl="1" indent="0">
              <a:spcBef>
                <a:spcPts val="600"/>
              </a:spcBef>
              <a:buNone/>
            </a:pPr>
            <a:endParaRPr lang="en-US" sz="1600" dirty="0">
              <a:latin typeface="Courier New" panose="02070309020205020404" pitchFamily="49" charset="0"/>
            </a:endParaRPr>
          </a:p>
          <a:p>
            <a:pPr marL="0" indent="0">
              <a:buNone/>
            </a:pPr>
            <a:r>
              <a:rPr lang="en-IN" dirty="0"/>
              <a:t>On Condition:</a:t>
            </a:r>
          </a:p>
          <a:p>
            <a:pPr marL="457200" lvl="1" indent="0">
              <a:spcBef>
                <a:spcPts val="600"/>
              </a:spcBef>
              <a:buNone/>
            </a:pPr>
            <a:r>
              <a:rPr lang="en-IN" sz="1600" dirty="0" err="1">
                <a:latin typeface="Courier New" panose="02070309020205020404" pitchFamily="49" charset="0"/>
              </a:rPr>
              <a:t>expert_aligned.shape</a:t>
            </a:r>
            <a:r>
              <a:rPr lang="en-IN" sz="1600" dirty="0">
                <a:latin typeface="Courier New" panose="02070309020205020404" pitchFamily="49" charset="0"/>
              </a:rPr>
              <a:t> == </a:t>
            </a:r>
            <a:r>
              <a:rPr lang="en-IN" sz="1600" dirty="0" err="1">
                <a:latin typeface="Courier New" panose="02070309020205020404" pitchFamily="49" charset="0"/>
              </a:rPr>
              <a:t>user_aligned.shape</a:t>
            </a:r>
            <a:endParaRPr lang="en-IN" sz="1600" dirty="0">
              <a:latin typeface="Courier New" panose="02070309020205020404" pitchFamily="49" charset="0"/>
            </a:endParaRPr>
          </a:p>
        </p:txBody>
      </p:sp>
    </p:spTree>
    <p:extLst>
      <p:ext uri="{BB962C8B-B14F-4D97-AF65-F5344CB8AC3E}">
        <p14:creationId xmlns:p14="http://schemas.microsoft.com/office/powerpoint/2010/main" val="298386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90F4F-0A32-D4EF-9749-00B957471A1C}"/>
              </a:ext>
            </a:extLst>
          </p:cNvPr>
          <p:cNvSpPr>
            <a:spLocks noGrp="1"/>
          </p:cNvSpPr>
          <p:nvPr>
            <p:ph type="title"/>
          </p:nvPr>
        </p:nvSpPr>
        <p:spPr/>
        <p:txBody>
          <a:bodyPr/>
          <a:lstStyle/>
          <a:p>
            <a:r>
              <a:rPr lang="en-US" dirty="0"/>
              <a:t>6B (iii) </a:t>
            </a:r>
            <a:r>
              <a:rPr lang="en-IN" dirty="0"/>
              <a:t>Algorithm Details (</a:t>
            </a:r>
            <a:r>
              <a:rPr lang="en-IN" dirty="0" err="1"/>
              <a:t>cont</a:t>
            </a:r>
            <a:r>
              <a:rPr lang="en-IN" dirty="0"/>
              <a:t>)</a:t>
            </a:r>
          </a:p>
        </p:txBody>
      </p:sp>
      <p:sp>
        <p:nvSpPr>
          <p:cNvPr id="3" name="Content Placeholder 2">
            <a:extLst>
              <a:ext uri="{FF2B5EF4-FFF2-40B4-BE49-F238E27FC236}">
                <a16:creationId xmlns:a16="http://schemas.microsoft.com/office/drawing/2014/main" id="{A9872FB4-3608-A316-68BC-A177A3D57F03}"/>
              </a:ext>
            </a:extLst>
          </p:cNvPr>
          <p:cNvSpPr>
            <a:spLocks noGrp="1"/>
          </p:cNvSpPr>
          <p:nvPr>
            <p:ph idx="1"/>
          </p:nvPr>
        </p:nvSpPr>
        <p:spPr/>
        <p:txBody>
          <a:bodyPr>
            <a:normAutofit lnSpcReduction="10000"/>
          </a:bodyPr>
          <a:lstStyle/>
          <a:p>
            <a:pPr marL="0" indent="0">
              <a:spcBef>
                <a:spcPts val="600"/>
              </a:spcBef>
              <a:buNone/>
            </a:pPr>
            <a:r>
              <a:rPr lang="en-IN" sz="2600" b="1" dirty="0"/>
              <a:t>Sample Input &amp; Output</a:t>
            </a:r>
          </a:p>
          <a:p>
            <a:pPr marL="0" indent="0">
              <a:buNone/>
            </a:pPr>
            <a:r>
              <a:rPr lang="en-IN" sz="2000" b="1" dirty="0"/>
              <a:t>Sample Input</a:t>
            </a:r>
          </a:p>
          <a:p>
            <a:pPr marL="457200" lvl="1" indent="0">
              <a:lnSpc>
                <a:spcPct val="100000"/>
              </a:lnSpc>
              <a:spcBef>
                <a:spcPts val="600"/>
              </a:spcBef>
              <a:buNone/>
            </a:pPr>
            <a:r>
              <a:rPr lang="en-IN" sz="1700" dirty="0">
                <a:latin typeface="Courier New" panose="02070309020205020404" pitchFamily="49" charset="0"/>
              </a:rPr>
              <a:t>Expert pose length = 100 frames</a:t>
            </a:r>
          </a:p>
          <a:p>
            <a:pPr marL="457200" lvl="1" indent="0">
              <a:lnSpc>
                <a:spcPct val="100000"/>
              </a:lnSpc>
              <a:spcBef>
                <a:spcPts val="600"/>
              </a:spcBef>
              <a:buNone/>
            </a:pPr>
            <a:r>
              <a:rPr lang="en-IN" sz="1700" dirty="0">
                <a:latin typeface="Courier New" panose="02070309020205020404" pitchFamily="49" charset="0"/>
              </a:rPr>
              <a:t>User pose length   = 120 frames</a:t>
            </a:r>
          </a:p>
          <a:p>
            <a:pPr marL="457200" lvl="1" indent="0">
              <a:lnSpc>
                <a:spcPct val="100000"/>
              </a:lnSpc>
              <a:spcBef>
                <a:spcPts val="600"/>
              </a:spcBef>
              <a:buNone/>
            </a:pPr>
            <a:r>
              <a:rPr lang="en-IN" sz="1700" dirty="0">
                <a:latin typeface="Courier New" panose="02070309020205020404" pitchFamily="49" charset="0"/>
              </a:rPr>
              <a:t>DTW paths:</a:t>
            </a:r>
          </a:p>
          <a:p>
            <a:pPr marL="457200" lvl="1" indent="0">
              <a:lnSpc>
                <a:spcPct val="100000"/>
              </a:lnSpc>
              <a:spcBef>
                <a:spcPts val="600"/>
              </a:spcBef>
              <a:buNone/>
            </a:pPr>
            <a:r>
              <a:rPr lang="en-IN" sz="1700" dirty="0" err="1">
                <a:latin typeface="Courier New" panose="02070309020205020404" pitchFamily="49" charset="0"/>
              </a:rPr>
              <a:t>path_expert</a:t>
            </a:r>
            <a:r>
              <a:rPr lang="en-IN" sz="1700" dirty="0">
                <a:latin typeface="Courier New" panose="02070309020205020404" pitchFamily="49" charset="0"/>
              </a:rPr>
              <a:t> = [0,1,1,2,3,3,4]</a:t>
            </a:r>
          </a:p>
          <a:p>
            <a:pPr marL="457200" lvl="1" indent="0">
              <a:lnSpc>
                <a:spcPct val="100000"/>
              </a:lnSpc>
              <a:spcBef>
                <a:spcPts val="600"/>
              </a:spcBef>
              <a:buNone/>
            </a:pPr>
            <a:r>
              <a:rPr lang="en-IN" sz="1700" dirty="0" err="1">
                <a:latin typeface="Courier New" panose="02070309020205020404" pitchFamily="49" charset="0"/>
              </a:rPr>
              <a:t>path_user</a:t>
            </a:r>
            <a:r>
              <a:rPr lang="en-IN" sz="1700" dirty="0">
                <a:latin typeface="Courier New" panose="02070309020205020404" pitchFamily="49" charset="0"/>
              </a:rPr>
              <a:t>   = [0,1,2,3,4,5,5]</a:t>
            </a:r>
          </a:p>
          <a:p>
            <a:pPr lvl="1"/>
            <a:endParaRPr lang="en-IN" dirty="0"/>
          </a:p>
          <a:p>
            <a:pPr marL="0" indent="0">
              <a:buNone/>
            </a:pPr>
            <a:r>
              <a:rPr lang="en-IN" sz="2000" b="1" dirty="0"/>
              <a:t>Sample Output</a:t>
            </a:r>
            <a:endParaRPr lang="en-IN" sz="2000" dirty="0"/>
          </a:p>
          <a:p>
            <a:pPr marL="457200" lvl="1" indent="0">
              <a:lnSpc>
                <a:spcPct val="100000"/>
              </a:lnSpc>
              <a:spcBef>
                <a:spcPts val="600"/>
              </a:spcBef>
              <a:buNone/>
            </a:pPr>
            <a:r>
              <a:rPr lang="en-IN" dirty="0"/>
              <a:t>	</a:t>
            </a:r>
            <a:r>
              <a:rPr lang="en-IN" sz="1700" dirty="0">
                <a:latin typeface="Courier New" panose="02070309020205020404" pitchFamily="49" charset="0"/>
              </a:rPr>
              <a:t>Aligned length = 7 frames</a:t>
            </a:r>
          </a:p>
          <a:p>
            <a:pPr marL="457200" lvl="1" indent="0">
              <a:lnSpc>
                <a:spcPct val="100000"/>
              </a:lnSpc>
              <a:spcBef>
                <a:spcPts val="600"/>
              </a:spcBef>
              <a:buNone/>
            </a:pPr>
            <a:r>
              <a:rPr lang="en-IN" sz="1700" dirty="0">
                <a:latin typeface="Courier New" panose="02070309020205020404" pitchFamily="49" charset="0"/>
              </a:rPr>
              <a:t>	</a:t>
            </a:r>
            <a:r>
              <a:rPr lang="en-IN" sz="1700" dirty="0" err="1">
                <a:latin typeface="Courier New" panose="02070309020205020404" pitchFamily="49" charset="0"/>
              </a:rPr>
              <a:t>expert_aligned</a:t>
            </a:r>
            <a:r>
              <a:rPr lang="en-IN" sz="1700" dirty="0">
                <a:latin typeface="Courier New" panose="02070309020205020404" pitchFamily="49" charset="0"/>
              </a:rPr>
              <a:t>: [pose_0, pose_1, pose_1, pose_2, pose_3, pose_3, pose_4]</a:t>
            </a:r>
          </a:p>
          <a:p>
            <a:pPr marL="457200" lvl="1" indent="0">
              <a:lnSpc>
                <a:spcPct val="100000"/>
              </a:lnSpc>
              <a:spcBef>
                <a:spcPts val="600"/>
              </a:spcBef>
              <a:buNone/>
            </a:pPr>
            <a:r>
              <a:rPr lang="en-IN" sz="1700" dirty="0">
                <a:latin typeface="Courier New" panose="02070309020205020404" pitchFamily="49" charset="0"/>
              </a:rPr>
              <a:t>	</a:t>
            </a:r>
            <a:r>
              <a:rPr lang="en-IN" sz="1700" dirty="0" err="1">
                <a:latin typeface="Courier New" panose="02070309020205020404" pitchFamily="49" charset="0"/>
              </a:rPr>
              <a:t>user_aligned</a:t>
            </a:r>
            <a:r>
              <a:rPr lang="en-IN" sz="1700" dirty="0">
                <a:latin typeface="Courier New" panose="02070309020205020404" pitchFamily="49" charset="0"/>
              </a:rPr>
              <a:t>: pose_0, pose_1, pose_2, pose_3, pose_4, pose_5, pose_5]</a:t>
            </a:r>
          </a:p>
          <a:p>
            <a:endParaRPr lang="en-IN" dirty="0"/>
          </a:p>
        </p:txBody>
      </p:sp>
    </p:spTree>
    <p:extLst>
      <p:ext uri="{BB962C8B-B14F-4D97-AF65-F5344CB8AC3E}">
        <p14:creationId xmlns:p14="http://schemas.microsoft.com/office/powerpoint/2010/main" val="4181799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78A75-40EE-8AAC-6FAD-DCFDF74AE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01020-0110-0E23-EBB2-91F69338946F}"/>
              </a:ext>
            </a:extLst>
          </p:cNvPr>
          <p:cNvSpPr>
            <a:spLocks noGrp="1"/>
          </p:cNvSpPr>
          <p:nvPr>
            <p:ph type="title"/>
          </p:nvPr>
        </p:nvSpPr>
        <p:spPr/>
        <p:txBody>
          <a:bodyPr/>
          <a:lstStyle/>
          <a:p>
            <a:r>
              <a:rPr lang="en-US" dirty="0"/>
              <a:t>6C </a:t>
            </a:r>
            <a:r>
              <a:rPr lang="en-IN" dirty="0"/>
              <a:t>Modules </a:t>
            </a:r>
            <a:r>
              <a:rPr lang="en-US" dirty="0"/>
              <a:t>(JOINT ERROR ANALYSIS)</a:t>
            </a:r>
            <a:endParaRPr lang="en-IN" dirty="0"/>
          </a:p>
        </p:txBody>
      </p:sp>
      <p:sp>
        <p:nvSpPr>
          <p:cNvPr id="3" name="Content Placeholder 2">
            <a:extLst>
              <a:ext uri="{FF2B5EF4-FFF2-40B4-BE49-F238E27FC236}">
                <a16:creationId xmlns:a16="http://schemas.microsoft.com/office/drawing/2014/main" id="{ABC6E977-E796-6918-5E63-6D2FC888D829}"/>
              </a:ext>
            </a:extLst>
          </p:cNvPr>
          <p:cNvSpPr>
            <a:spLocks noGrp="1"/>
          </p:cNvSpPr>
          <p:nvPr>
            <p:ph idx="1"/>
          </p:nvPr>
        </p:nvSpPr>
        <p:spPr/>
        <p:txBody>
          <a:bodyPr/>
          <a:lstStyle/>
          <a:p>
            <a:pPr marL="0" indent="0">
              <a:buNone/>
            </a:pPr>
            <a:r>
              <a:rPr lang="en-IN" sz="2400" dirty="0"/>
              <a:t>Module 3: </a:t>
            </a:r>
            <a:r>
              <a:rPr lang="en-US" sz="2400" dirty="0"/>
              <a:t>JOINT ERROR ANALYSIS</a:t>
            </a:r>
            <a:endParaRPr lang="en-IN" sz="2400" dirty="0"/>
          </a:p>
          <a:p>
            <a:pPr marL="0" indent="0">
              <a:buNone/>
            </a:pPr>
            <a:endParaRPr lang="en-IN" dirty="0"/>
          </a:p>
          <a:p>
            <a:pPr marL="0" indent="0">
              <a:buNone/>
            </a:pPr>
            <a:r>
              <a:rPr lang="en-IN" sz="2400" dirty="0"/>
              <a:t>SUB-MODULES :</a:t>
            </a:r>
          </a:p>
          <a:p>
            <a:pPr marL="914400" lvl="1" indent="-457200">
              <a:buFont typeface="+mj-lt"/>
              <a:buAutoNum type="romanUcPeriod"/>
            </a:pPr>
            <a:r>
              <a:rPr lang="en-US" sz="2000" dirty="0"/>
              <a:t>ERROR COMPUTATION ENGINE</a:t>
            </a:r>
          </a:p>
          <a:p>
            <a:pPr marL="914400" lvl="1" indent="-457200">
              <a:buFont typeface="+mj-lt"/>
              <a:buAutoNum type="romanUcPeriod"/>
            </a:pPr>
            <a:r>
              <a:rPr lang="en-IN" sz="2000" dirty="0"/>
              <a:t>STATISTICAL</a:t>
            </a:r>
            <a:r>
              <a:rPr lang="en-US" sz="2000" dirty="0"/>
              <a:t> AGGREGATION MODULE</a:t>
            </a:r>
          </a:p>
          <a:p>
            <a:pPr marL="914400" lvl="1" indent="-457200">
              <a:buFont typeface="+mj-lt"/>
              <a:buAutoNum type="romanUcPeriod"/>
            </a:pPr>
            <a:r>
              <a:rPr lang="en-US" sz="2000" dirty="0"/>
              <a:t>DATA SERIALIZATION</a:t>
            </a:r>
          </a:p>
        </p:txBody>
      </p:sp>
    </p:spTree>
    <p:extLst>
      <p:ext uri="{BB962C8B-B14F-4D97-AF65-F5344CB8AC3E}">
        <p14:creationId xmlns:p14="http://schemas.microsoft.com/office/powerpoint/2010/main" val="2088092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B0360-B6AA-2CAD-544E-6DA8265A7D07}"/>
              </a:ext>
            </a:extLst>
          </p:cNvPr>
          <p:cNvSpPr>
            <a:spLocks noGrp="1"/>
          </p:cNvSpPr>
          <p:nvPr>
            <p:ph type="title"/>
          </p:nvPr>
        </p:nvSpPr>
        <p:spPr>
          <a:xfrm>
            <a:off x="838200" y="174625"/>
            <a:ext cx="10515600" cy="1325563"/>
          </a:xfrm>
        </p:spPr>
        <p:txBody>
          <a:bodyPr/>
          <a:lstStyle/>
          <a:p>
            <a:r>
              <a:rPr lang="en-US" dirty="0"/>
              <a:t>6C(</a:t>
            </a:r>
            <a:r>
              <a:rPr lang="en-US" dirty="0" err="1"/>
              <a:t>i</a:t>
            </a:r>
            <a:r>
              <a:rPr lang="en-US" dirty="0"/>
              <a:t>) Module Overview &amp; Block Diagram</a:t>
            </a:r>
            <a:endParaRPr lang="en-IN" dirty="0"/>
          </a:p>
        </p:txBody>
      </p:sp>
      <p:sp>
        <p:nvSpPr>
          <p:cNvPr id="3" name="Content Placeholder 2">
            <a:extLst>
              <a:ext uri="{FF2B5EF4-FFF2-40B4-BE49-F238E27FC236}">
                <a16:creationId xmlns:a16="http://schemas.microsoft.com/office/drawing/2014/main" id="{BC6F13CF-7880-8931-697F-F219E735FE57}"/>
              </a:ext>
            </a:extLst>
          </p:cNvPr>
          <p:cNvSpPr>
            <a:spLocks noGrp="1"/>
          </p:cNvSpPr>
          <p:nvPr>
            <p:ph idx="1"/>
          </p:nvPr>
        </p:nvSpPr>
        <p:spPr>
          <a:xfrm>
            <a:off x="838200" y="1589405"/>
            <a:ext cx="10515600" cy="4351338"/>
          </a:xfrm>
        </p:spPr>
        <p:txBody>
          <a:bodyPr>
            <a:normAutofit/>
          </a:bodyPr>
          <a:lstStyle/>
          <a:p>
            <a:pPr marL="0" indent="0">
              <a:buNone/>
            </a:pPr>
            <a:r>
              <a:rPr lang="en-US" sz="2400" b="1" dirty="0"/>
              <a:t>SUB-Module:</a:t>
            </a:r>
          </a:p>
          <a:p>
            <a:pPr marL="0" indent="0">
              <a:buNone/>
            </a:pPr>
            <a:r>
              <a:rPr lang="en-US" sz="2000" b="1" dirty="0"/>
              <a:t>	</a:t>
            </a:r>
            <a:r>
              <a:rPr lang="en-US" sz="2000" dirty="0"/>
              <a:t>Frame-wise and Joint-wise Error Computation Engine</a:t>
            </a:r>
          </a:p>
          <a:p>
            <a:endParaRPr lang="en-US" b="1" dirty="0"/>
          </a:p>
          <a:p>
            <a:pPr marL="0" indent="0">
              <a:buNone/>
            </a:pPr>
            <a:r>
              <a:rPr lang="en-US" sz="2400" b="1" dirty="0"/>
              <a:t>Block Diagram: </a:t>
            </a:r>
          </a:p>
        </p:txBody>
      </p:sp>
      <p:pic>
        <p:nvPicPr>
          <p:cNvPr id="5" name="Picture 4">
            <a:extLst>
              <a:ext uri="{FF2B5EF4-FFF2-40B4-BE49-F238E27FC236}">
                <a16:creationId xmlns:a16="http://schemas.microsoft.com/office/drawing/2014/main" id="{D4FAD8B4-05DA-7CDB-6F46-F305B76E85F4}"/>
              </a:ext>
            </a:extLst>
          </p:cNvPr>
          <p:cNvPicPr>
            <a:picLocks noChangeAspect="1"/>
          </p:cNvPicPr>
          <p:nvPr/>
        </p:nvPicPr>
        <p:blipFill>
          <a:blip r:embed="rId2">
            <a:extLst>
              <a:ext uri="{28A0092B-C50C-407E-A947-70E740481C1C}">
                <a14:useLocalDpi xmlns:a14="http://schemas.microsoft.com/office/drawing/2010/main" val="0"/>
              </a:ext>
            </a:extLst>
          </a:blip>
          <a:srcRect l="815" t="37761" r="222" b="37538"/>
          <a:stretch>
            <a:fillRect/>
          </a:stretch>
        </p:blipFill>
        <p:spPr>
          <a:xfrm>
            <a:off x="274512" y="4197306"/>
            <a:ext cx="11642975" cy="1934686"/>
          </a:xfrm>
          <a:prstGeom prst="rect">
            <a:avLst/>
          </a:prstGeom>
        </p:spPr>
      </p:pic>
    </p:spTree>
    <p:extLst>
      <p:ext uri="{BB962C8B-B14F-4D97-AF65-F5344CB8AC3E}">
        <p14:creationId xmlns:p14="http://schemas.microsoft.com/office/powerpoint/2010/main" val="523856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A2B97-C2B2-B4B4-D1DD-41ACBF595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8A543-A57A-36CE-7E40-E2412E8C3AB9}"/>
              </a:ext>
            </a:extLst>
          </p:cNvPr>
          <p:cNvSpPr>
            <a:spLocks noGrp="1"/>
          </p:cNvSpPr>
          <p:nvPr>
            <p:ph type="title"/>
          </p:nvPr>
        </p:nvSpPr>
        <p:spPr/>
        <p:txBody>
          <a:bodyPr/>
          <a:lstStyle/>
          <a:p>
            <a:r>
              <a:rPr lang="en-US" dirty="0"/>
              <a:t>6C (</a:t>
            </a:r>
            <a:r>
              <a:rPr lang="en-US" dirty="0" err="1"/>
              <a:t>i</a:t>
            </a:r>
            <a:r>
              <a:rPr lang="en-US" dirty="0"/>
              <a:t>) </a:t>
            </a:r>
            <a:r>
              <a:rPr lang="en-IN" dirty="0"/>
              <a:t>Algorithm Details</a:t>
            </a:r>
          </a:p>
        </p:txBody>
      </p:sp>
      <p:sp>
        <p:nvSpPr>
          <p:cNvPr id="3" name="Content Placeholder 2">
            <a:extLst>
              <a:ext uri="{FF2B5EF4-FFF2-40B4-BE49-F238E27FC236}">
                <a16:creationId xmlns:a16="http://schemas.microsoft.com/office/drawing/2014/main" id="{6915FA85-FB81-3D75-41F0-E9BA4BAC42EE}"/>
              </a:ext>
            </a:extLst>
          </p:cNvPr>
          <p:cNvSpPr>
            <a:spLocks noGrp="1"/>
          </p:cNvSpPr>
          <p:nvPr>
            <p:ph idx="1"/>
          </p:nvPr>
        </p:nvSpPr>
        <p:spPr/>
        <p:txBody>
          <a:bodyPr>
            <a:normAutofit/>
          </a:bodyPr>
          <a:lstStyle/>
          <a:p>
            <a:pPr marL="0" indent="0">
              <a:buNone/>
            </a:pPr>
            <a:r>
              <a:rPr lang="en-IN" sz="2400" b="1" dirty="0"/>
              <a:t>Algorithm Type</a:t>
            </a:r>
          </a:p>
          <a:p>
            <a:pPr marL="0" indent="0">
              <a:buNone/>
            </a:pPr>
            <a:r>
              <a:rPr lang="en-IN" b="1" dirty="0"/>
              <a:t>	</a:t>
            </a:r>
            <a:r>
              <a:rPr lang="en-IN" sz="2000" b="1" dirty="0"/>
              <a:t>Deterministic Distance Computation</a:t>
            </a:r>
          </a:p>
          <a:p>
            <a:pPr marL="0" indent="0">
              <a:buNone/>
            </a:pPr>
            <a:r>
              <a:rPr lang="en-IN" sz="2400" b="1" dirty="0"/>
              <a:t>Frame-wise Joint Error Formula</a:t>
            </a:r>
          </a:p>
          <a:p>
            <a:pPr marL="457200" lvl="1" indent="0">
              <a:lnSpc>
                <a:spcPct val="100000"/>
              </a:lnSpc>
              <a:spcBef>
                <a:spcPts val="600"/>
              </a:spcBef>
              <a:buNone/>
            </a:pPr>
            <a:r>
              <a:rPr lang="en-IN" sz="1600" dirty="0">
                <a:latin typeface="Courier New" panose="02070309020205020404" pitchFamily="49" charset="0"/>
              </a:rPr>
              <a:t>For frame t and joint j:</a:t>
            </a:r>
          </a:p>
          <a:p>
            <a:pPr marL="457200" lvl="1" indent="0">
              <a:lnSpc>
                <a:spcPct val="100000"/>
              </a:lnSpc>
              <a:spcBef>
                <a:spcPts val="600"/>
              </a:spcBef>
              <a:buNone/>
            </a:pPr>
            <a:r>
              <a:rPr lang="en-IN" sz="1600" dirty="0">
                <a:latin typeface="Courier New" panose="02070309020205020404" pitchFamily="49" charset="0"/>
              </a:rPr>
              <a:t>	error(t, j) = || expert(t, j) − user(t, j) ||₂</a:t>
            </a:r>
          </a:p>
          <a:p>
            <a:pPr marL="457200" lvl="1" indent="0">
              <a:lnSpc>
                <a:spcPct val="100000"/>
              </a:lnSpc>
              <a:spcBef>
                <a:spcPts val="600"/>
              </a:spcBef>
              <a:buNone/>
            </a:pPr>
            <a:r>
              <a:rPr lang="en-IN" sz="1600" dirty="0">
                <a:latin typeface="Courier New" panose="02070309020205020404" pitchFamily="49" charset="0"/>
              </a:rPr>
              <a:t>	error(t, j) = sqrt( (</a:t>
            </a:r>
            <a:r>
              <a:rPr lang="en-IN" sz="1600" dirty="0" err="1">
                <a:latin typeface="Courier New" panose="02070309020205020404" pitchFamily="49" charset="0"/>
              </a:rPr>
              <a:t>x_e</a:t>
            </a:r>
            <a:r>
              <a:rPr lang="en-IN" sz="1600" dirty="0">
                <a:latin typeface="Courier New" panose="02070309020205020404" pitchFamily="49" charset="0"/>
              </a:rPr>
              <a:t> − </a:t>
            </a:r>
            <a:r>
              <a:rPr lang="en-IN" sz="1600" dirty="0" err="1">
                <a:latin typeface="Courier New" panose="02070309020205020404" pitchFamily="49" charset="0"/>
              </a:rPr>
              <a:t>x_u</a:t>
            </a:r>
            <a:r>
              <a:rPr lang="en-IN" sz="1600" dirty="0">
                <a:latin typeface="Courier New" panose="02070309020205020404" pitchFamily="49" charset="0"/>
              </a:rPr>
              <a:t>)² + (</a:t>
            </a:r>
            <a:r>
              <a:rPr lang="en-IN" sz="1600" dirty="0" err="1">
                <a:latin typeface="Courier New" panose="02070309020205020404" pitchFamily="49" charset="0"/>
              </a:rPr>
              <a:t>y_e</a:t>
            </a:r>
            <a:r>
              <a:rPr lang="en-IN" sz="1600" dirty="0">
                <a:latin typeface="Courier New" panose="02070309020205020404" pitchFamily="49" charset="0"/>
              </a:rPr>
              <a:t> − </a:t>
            </a:r>
            <a:r>
              <a:rPr lang="en-IN" sz="1600" dirty="0" err="1">
                <a:latin typeface="Courier New" panose="02070309020205020404" pitchFamily="49" charset="0"/>
              </a:rPr>
              <a:t>y_u</a:t>
            </a:r>
            <a:r>
              <a:rPr lang="en-IN" sz="1600" dirty="0">
                <a:latin typeface="Courier New" panose="02070309020205020404" pitchFamily="49" charset="0"/>
              </a:rPr>
              <a:t>)² )</a:t>
            </a:r>
          </a:p>
          <a:p>
            <a:pPr marL="457200" lvl="1" indent="0">
              <a:lnSpc>
                <a:spcPct val="100000"/>
              </a:lnSpc>
              <a:spcBef>
                <a:spcPts val="600"/>
              </a:spcBef>
              <a:buNone/>
            </a:pPr>
            <a:r>
              <a:rPr lang="en-IN" sz="1600" dirty="0">
                <a:latin typeface="Courier New" panose="02070309020205020404" pitchFamily="49" charset="0"/>
              </a:rPr>
              <a:t>	Where:</a:t>
            </a:r>
          </a:p>
          <a:p>
            <a:pPr marL="457200" lvl="1" indent="0">
              <a:lnSpc>
                <a:spcPct val="10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x_e</a:t>
            </a:r>
            <a:r>
              <a:rPr lang="en-IN" sz="1600" dirty="0">
                <a:latin typeface="Courier New" panose="02070309020205020404" pitchFamily="49" charset="0"/>
              </a:rPr>
              <a:t>, </a:t>
            </a:r>
            <a:r>
              <a:rPr lang="en-IN" sz="1600" dirty="0" err="1">
                <a:latin typeface="Courier New" panose="02070309020205020404" pitchFamily="49" charset="0"/>
              </a:rPr>
              <a:t>y_e</a:t>
            </a:r>
            <a:r>
              <a:rPr lang="en-IN" sz="1600" dirty="0">
                <a:latin typeface="Courier New" panose="02070309020205020404" pitchFamily="49" charset="0"/>
              </a:rPr>
              <a:t>) → expert joint coordinates</a:t>
            </a:r>
          </a:p>
          <a:p>
            <a:pPr marL="457200" lvl="1" indent="0">
              <a:lnSpc>
                <a:spcPct val="10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x_u</a:t>
            </a:r>
            <a:r>
              <a:rPr lang="en-IN" sz="1600" dirty="0">
                <a:latin typeface="Courier New" panose="02070309020205020404" pitchFamily="49" charset="0"/>
              </a:rPr>
              <a:t>, </a:t>
            </a:r>
            <a:r>
              <a:rPr lang="en-IN" sz="1600" dirty="0" err="1">
                <a:latin typeface="Courier New" panose="02070309020205020404" pitchFamily="49" charset="0"/>
              </a:rPr>
              <a:t>y_u</a:t>
            </a:r>
            <a:r>
              <a:rPr lang="en-IN" sz="1600" dirty="0">
                <a:latin typeface="Courier New" panose="02070309020205020404" pitchFamily="49" charset="0"/>
              </a:rPr>
              <a:t>) → user joint coordinates</a:t>
            </a:r>
          </a:p>
        </p:txBody>
      </p:sp>
    </p:spTree>
    <p:extLst>
      <p:ext uri="{BB962C8B-B14F-4D97-AF65-F5344CB8AC3E}">
        <p14:creationId xmlns:p14="http://schemas.microsoft.com/office/powerpoint/2010/main" val="517535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E3364-3E96-9250-8C12-FE72C8E84CE9}"/>
              </a:ext>
            </a:extLst>
          </p:cNvPr>
          <p:cNvSpPr>
            <a:spLocks noGrp="1"/>
          </p:cNvSpPr>
          <p:nvPr>
            <p:ph type="title"/>
          </p:nvPr>
        </p:nvSpPr>
        <p:spPr/>
        <p:txBody>
          <a:bodyPr/>
          <a:lstStyle/>
          <a:p>
            <a:r>
              <a:rPr lang="en-US" dirty="0"/>
              <a:t>6C (</a:t>
            </a:r>
            <a:r>
              <a:rPr lang="en-US" dirty="0" err="1"/>
              <a:t>i</a:t>
            </a:r>
            <a:r>
              <a:rPr lang="en-US" dirty="0"/>
              <a:t>) </a:t>
            </a:r>
            <a:r>
              <a:rPr lang="en-IN" dirty="0"/>
              <a:t>Algorithm Details (</a:t>
            </a:r>
            <a:r>
              <a:rPr lang="en-IN" dirty="0" err="1"/>
              <a:t>cont</a:t>
            </a:r>
            <a:r>
              <a:rPr lang="en-IN" dirty="0"/>
              <a:t>)</a:t>
            </a:r>
          </a:p>
        </p:txBody>
      </p:sp>
      <p:sp>
        <p:nvSpPr>
          <p:cNvPr id="3" name="Content Placeholder 2">
            <a:extLst>
              <a:ext uri="{FF2B5EF4-FFF2-40B4-BE49-F238E27FC236}">
                <a16:creationId xmlns:a16="http://schemas.microsoft.com/office/drawing/2014/main" id="{729C79BA-D426-5BCF-5268-3CA6567151D5}"/>
              </a:ext>
            </a:extLst>
          </p:cNvPr>
          <p:cNvSpPr>
            <a:spLocks noGrp="1"/>
          </p:cNvSpPr>
          <p:nvPr>
            <p:ph idx="1"/>
          </p:nvPr>
        </p:nvSpPr>
        <p:spPr/>
        <p:txBody>
          <a:bodyPr>
            <a:normAutofit/>
          </a:bodyPr>
          <a:lstStyle/>
          <a:p>
            <a:pPr marL="0" indent="0">
              <a:buNone/>
            </a:pPr>
            <a:r>
              <a:rPr lang="en-IN" sz="2400" b="1" dirty="0"/>
              <a:t>Sample Input &amp; Output</a:t>
            </a:r>
          </a:p>
          <a:p>
            <a:pPr marL="0" indent="0">
              <a:buNone/>
            </a:pPr>
            <a:r>
              <a:rPr lang="en-IN" sz="2000" b="1" dirty="0"/>
              <a:t>Sample Input</a:t>
            </a:r>
          </a:p>
          <a:p>
            <a:pPr marL="457200" lvl="1" indent="0">
              <a:lnSpc>
                <a:spcPct val="110000"/>
              </a:lnSpc>
              <a:spcBef>
                <a:spcPts val="600"/>
              </a:spcBef>
              <a:buNone/>
            </a:pPr>
            <a:r>
              <a:rPr lang="en-IN" sz="1600" dirty="0">
                <a:latin typeface="Courier New" panose="02070309020205020404" pitchFamily="49" charset="0"/>
              </a:rPr>
              <a:t>Frame 25</a:t>
            </a:r>
          </a:p>
          <a:p>
            <a:pPr marL="457200" lvl="1" indent="0">
              <a:lnSpc>
                <a:spcPct val="110000"/>
              </a:lnSpc>
              <a:spcBef>
                <a:spcPts val="600"/>
              </a:spcBef>
              <a:buNone/>
            </a:pPr>
            <a:r>
              <a:rPr lang="en-IN" sz="1600" dirty="0">
                <a:latin typeface="Courier New" panose="02070309020205020404" pitchFamily="49" charset="0"/>
              </a:rPr>
              <a:t>Joint: Left Knee</a:t>
            </a:r>
          </a:p>
          <a:p>
            <a:pPr marL="457200" lvl="1" indent="0">
              <a:lnSpc>
                <a:spcPct val="110000"/>
              </a:lnSpc>
              <a:spcBef>
                <a:spcPts val="600"/>
              </a:spcBef>
              <a:buNone/>
            </a:pPr>
            <a:r>
              <a:rPr lang="en-IN" sz="1600" dirty="0">
                <a:latin typeface="Courier New" panose="02070309020205020404" pitchFamily="49" charset="0"/>
              </a:rPr>
              <a:t>Expert: (0.45, 0.78)</a:t>
            </a:r>
          </a:p>
          <a:p>
            <a:pPr marL="457200" lvl="1" indent="0">
              <a:lnSpc>
                <a:spcPct val="110000"/>
              </a:lnSpc>
              <a:spcBef>
                <a:spcPts val="600"/>
              </a:spcBef>
              <a:buNone/>
            </a:pPr>
            <a:r>
              <a:rPr lang="en-IN" sz="1600" dirty="0">
                <a:latin typeface="Courier New" panose="02070309020205020404" pitchFamily="49" charset="0"/>
              </a:rPr>
              <a:t>User:   (0.52, 0.71)</a:t>
            </a:r>
          </a:p>
          <a:p>
            <a:pPr marL="0" indent="0">
              <a:buNone/>
            </a:pPr>
            <a:r>
              <a:rPr lang="en-IN" sz="2000" b="1" dirty="0"/>
              <a:t>Sample Output</a:t>
            </a:r>
          </a:p>
          <a:p>
            <a:pPr marL="457200" lvl="1" indent="0">
              <a:lnSpc>
                <a:spcPct val="110000"/>
              </a:lnSpc>
              <a:spcBef>
                <a:spcPts val="600"/>
              </a:spcBef>
              <a:buNone/>
            </a:pPr>
            <a:r>
              <a:rPr lang="en-IN" sz="1600" dirty="0">
                <a:latin typeface="Courier New" panose="02070309020205020404" pitchFamily="49" charset="0"/>
              </a:rPr>
              <a:t>error = sqrt((0.45−0.52)² + (0.78−0.71)²)</a:t>
            </a:r>
          </a:p>
          <a:p>
            <a:pPr marL="457200" lvl="1" indent="0">
              <a:lnSpc>
                <a:spcPct val="110000"/>
              </a:lnSpc>
              <a:spcBef>
                <a:spcPts val="600"/>
              </a:spcBef>
              <a:buNone/>
            </a:pPr>
            <a:r>
              <a:rPr lang="en-IN" sz="1600" dirty="0">
                <a:latin typeface="Courier New" panose="02070309020205020404" pitchFamily="49" charset="0"/>
              </a:rPr>
              <a:t>      ≈ 0.099</a:t>
            </a:r>
          </a:p>
          <a:p>
            <a:pPr marL="457200" lvl="1" indent="0">
              <a:lnSpc>
                <a:spcPct val="110000"/>
              </a:lnSpc>
              <a:spcBef>
                <a:spcPts val="600"/>
              </a:spcBef>
              <a:buNone/>
            </a:pPr>
            <a:r>
              <a:rPr lang="en-IN" sz="1600" dirty="0">
                <a:latin typeface="Courier New" panose="02070309020205020404" pitchFamily="49" charset="0"/>
              </a:rPr>
              <a:t>Stored at:</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error_matrix</a:t>
            </a:r>
            <a:r>
              <a:rPr lang="en-IN" sz="1600" dirty="0">
                <a:latin typeface="Courier New" panose="02070309020205020404" pitchFamily="49" charset="0"/>
              </a:rPr>
              <a:t>[25][</a:t>
            </a:r>
            <a:r>
              <a:rPr lang="en-IN" sz="1600" dirty="0" err="1">
                <a:latin typeface="Courier New" panose="02070309020205020404" pitchFamily="49" charset="0"/>
              </a:rPr>
              <a:t>left_knee</a:t>
            </a:r>
            <a:r>
              <a:rPr lang="en-IN" sz="1600" dirty="0">
                <a:latin typeface="Courier New" panose="02070309020205020404" pitchFamily="49" charset="0"/>
              </a:rPr>
              <a:t>]</a:t>
            </a:r>
          </a:p>
          <a:p>
            <a:endParaRPr lang="en-IN" dirty="0"/>
          </a:p>
        </p:txBody>
      </p:sp>
    </p:spTree>
    <p:extLst>
      <p:ext uri="{BB962C8B-B14F-4D97-AF65-F5344CB8AC3E}">
        <p14:creationId xmlns:p14="http://schemas.microsoft.com/office/powerpoint/2010/main" val="2283986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0470-EAB1-27C2-C8C8-AA54BB3A0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10266-D96B-9F80-3099-EB5C69AFA542}"/>
              </a:ext>
            </a:extLst>
          </p:cNvPr>
          <p:cNvSpPr>
            <a:spLocks noGrp="1"/>
          </p:cNvSpPr>
          <p:nvPr>
            <p:ph type="title"/>
          </p:nvPr>
        </p:nvSpPr>
        <p:spPr>
          <a:xfrm>
            <a:off x="838200" y="18255"/>
            <a:ext cx="11211339" cy="1325563"/>
          </a:xfrm>
        </p:spPr>
        <p:txBody>
          <a:bodyPr>
            <a:normAutofit/>
          </a:bodyPr>
          <a:lstStyle/>
          <a:p>
            <a:r>
              <a:rPr lang="en-US" sz="4000" dirty="0"/>
              <a:t>6C(ii) Module Overview &amp; Block Diagram</a:t>
            </a:r>
            <a:endParaRPr lang="en-IN" sz="4000" dirty="0"/>
          </a:p>
        </p:txBody>
      </p:sp>
      <p:sp>
        <p:nvSpPr>
          <p:cNvPr id="3" name="Content Placeholder 2">
            <a:extLst>
              <a:ext uri="{FF2B5EF4-FFF2-40B4-BE49-F238E27FC236}">
                <a16:creationId xmlns:a16="http://schemas.microsoft.com/office/drawing/2014/main" id="{B9060DD1-F003-567D-2DF3-443F504ACEC9}"/>
              </a:ext>
            </a:extLst>
          </p:cNvPr>
          <p:cNvSpPr>
            <a:spLocks noGrp="1"/>
          </p:cNvSpPr>
          <p:nvPr>
            <p:ph idx="1"/>
          </p:nvPr>
        </p:nvSpPr>
        <p:spPr/>
        <p:txBody>
          <a:bodyPr>
            <a:normAutofit/>
          </a:bodyPr>
          <a:lstStyle/>
          <a:p>
            <a:pPr marL="0" indent="0">
              <a:buNone/>
            </a:pPr>
            <a:r>
              <a:rPr lang="en-US" sz="2400" b="1" dirty="0"/>
              <a:t>SUB-Module:</a:t>
            </a:r>
          </a:p>
          <a:p>
            <a:pPr marL="457200" lvl="1" indent="0">
              <a:buNone/>
            </a:pPr>
            <a:r>
              <a:rPr lang="en-US" sz="2000" b="1" dirty="0"/>
              <a:t>	</a:t>
            </a:r>
            <a:r>
              <a:rPr lang="en-IN" sz="2000" dirty="0"/>
              <a:t>STATISTICAL</a:t>
            </a:r>
            <a:r>
              <a:rPr lang="en-US" sz="2000" dirty="0"/>
              <a:t> AGGREGATION MODULE</a:t>
            </a:r>
          </a:p>
          <a:p>
            <a:pPr marL="0" indent="0">
              <a:buNone/>
            </a:pPr>
            <a:endParaRPr lang="en-US" b="1" dirty="0"/>
          </a:p>
          <a:p>
            <a:pPr marL="0" indent="0">
              <a:buNone/>
            </a:pPr>
            <a:r>
              <a:rPr lang="en-US" sz="2400" b="1" dirty="0"/>
              <a:t>Block Diagram: </a:t>
            </a:r>
          </a:p>
          <a:p>
            <a:pPr marL="0" indent="0">
              <a:buNone/>
            </a:pPr>
            <a:endParaRPr lang="en-IN" dirty="0"/>
          </a:p>
        </p:txBody>
      </p:sp>
      <p:pic>
        <p:nvPicPr>
          <p:cNvPr id="5" name="Picture 4">
            <a:extLst>
              <a:ext uri="{FF2B5EF4-FFF2-40B4-BE49-F238E27FC236}">
                <a16:creationId xmlns:a16="http://schemas.microsoft.com/office/drawing/2014/main" id="{15720E84-293B-0025-55CA-CCBC6CD628EE}"/>
              </a:ext>
            </a:extLst>
          </p:cNvPr>
          <p:cNvPicPr>
            <a:picLocks noChangeAspect="1"/>
          </p:cNvPicPr>
          <p:nvPr/>
        </p:nvPicPr>
        <p:blipFill>
          <a:blip r:embed="rId2">
            <a:extLst>
              <a:ext uri="{28A0092B-C50C-407E-A947-70E740481C1C}">
                <a14:useLocalDpi xmlns:a14="http://schemas.microsoft.com/office/drawing/2010/main" val="0"/>
              </a:ext>
            </a:extLst>
          </a:blip>
          <a:srcRect l="667" t="10860" r="1037" b="11032"/>
          <a:stretch>
            <a:fillRect/>
          </a:stretch>
        </p:blipFill>
        <p:spPr>
          <a:xfrm>
            <a:off x="3756660" y="3188711"/>
            <a:ext cx="5951220" cy="3148272"/>
          </a:xfrm>
          <a:prstGeom prst="rect">
            <a:avLst/>
          </a:prstGeom>
        </p:spPr>
      </p:pic>
    </p:spTree>
    <p:extLst>
      <p:ext uri="{BB962C8B-B14F-4D97-AF65-F5344CB8AC3E}">
        <p14:creationId xmlns:p14="http://schemas.microsoft.com/office/powerpoint/2010/main" val="3790424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AD5A-B003-3672-54B3-0881EF529E94}"/>
              </a:ext>
            </a:extLst>
          </p:cNvPr>
          <p:cNvSpPr>
            <a:spLocks noGrp="1"/>
          </p:cNvSpPr>
          <p:nvPr>
            <p:ph type="title"/>
          </p:nvPr>
        </p:nvSpPr>
        <p:spPr/>
        <p:txBody>
          <a:bodyPr/>
          <a:lstStyle/>
          <a:p>
            <a:r>
              <a:rPr lang="en-US" dirty="0"/>
              <a:t>6C (ii) </a:t>
            </a:r>
            <a:r>
              <a:rPr lang="en-IN" dirty="0"/>
              <a:t>Algorithms Details</a:t>
            </a:r>
          </a:p>
        </p:txBody>
      </p:sp>
      <p:sp>
        <p:nvSpPr>
          <p:cNvPr id="3" name="Content Placeholder 2">
            <a:extLst>
              <a:ext uri="{FF2B5EF4-FFF2-40B4-BE49-F238E27FC236}">
                <a16:creationId xmlns:a16="http://schemas.microsoft.com/office/drawing/2014/main" id="{9F771302-D436-540E-44D3-08CFB38DBED1}"/>
              </a:ext>
            </a:extLst>
          </p:cNvPr>
          <p:cNvSpPr>
            <a:spLocks noGrp="1"/>
          </p:cNvSpPr>
          <p:nvPr>
            <p:ph idx="1"/>
          </p:nvPr>
        </p:nvSpPr>
        <p:spPr/>
        <p:txBody>
          <a:bodyPr>
            <a:normAutofit/>
          </a:bodyPr>
          <a:lstStyle/>
          <a:p>
            <a:pPr marL="0" indent="0">
              <a:buNone/>
            </a:pPr>
            <a:r>
              <a:rPr lang="en-IN" sz="2200" b="1" dirty="0"/>
              <a:t>Algorithm Type</a:t>
            </a:r>
          </a:p>
          <a:p>
            <a:pPr marL="457200" lvl="1" indent="0">
              <a:lnSpc>
                <a:spcPct val="70000"/>
              </a:lnSpc>
              <a:buNone/>
            </a:pPr>
            <a:r>
              <a:rPr lang="en-IN" sz="1900" dirty="0"/>
              <a:t>Deterministic Statistical Aggregation</a:t>
            </a:r>
          </a:p>
          <a:p>
            <a:pPr marL="0" indent="0">
              <a:lnSpc>
                <a:spcPct val="70000"/>
              </a:lnSpc>
              <a:buNone/>
            </a:pPr>
            <a:endParaRPr lang="en-IN" sz="2200" b="1" dirty="0"/>
          </a:p>
          <a:p>
            <a:pPr marL="0" indent="0">
              <a:lnSpc>
                <a:spcPct val="70000"/>
              </a:lnSpc>
              <a:buNone/>
            </a:pPr>
            <a:r>
              <a:rPr lang="en-IN" sz="2000" b="1" dirty="0"/>
              <a:t>1. Joint-wise Temporal Aggregation</a:t>
            </a:r>
          </a:p>
          <a:p>
            <a:pPr marL="457200" lvl="1" indent="0">
              <a:lnSpc>
                <a:spcPct val="110000"/>
              </a:lnSpc>
              <a:spcBef>
                <a:spcPts val="600"/>
              </a:spcBef>
              <a:buNone/>
            </a:pPr>
            <a:r>
              <a:rPr lang="en-IN" sz="1900" dirty="0"/>
              <a:t>	</a:t>
            </a:r>
            <a:r>
              <a:rPr lang="en-IN" sz="1600" dirty="0">
                <a:latin typeface="Courier New" panose="02070309020205020404" pitchFamily="49" charset="0"/>
              </a:rPr>
              <a:t>Statistics Computed (per joint)</a:t>
            </a:r>
          </a:p>
          <a:p>
            <a:pPr marL="457200" lvl="1" indent="0">
              <a:lnSpc>
                <a:spcPct val="110000"/>
              </a:lnSpc>
              <a:spcBef>
                <a:spcPts val="600"/>
              </a:spcBef>
              <a:buNone/>
            </a:pPr>
            <a:r>
              <a:rPr lang="en-IN" sz="1600" dirty="0">
                <a:latin typeface="Courier New" panose="02070309020205020404" pitchFamily="49" charset="0"/>
              </a:rPr>
              <a:t>	For joint j:</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mean_error</a:t>
            </a:r>
            <a:r>
              <a:rPr lang="en-IN" sz="1600" dirty="0">
                <a:latin typeface="Courier New" panose="02070309020205020404" pitchFamily="49" charset="0"/>
              </a:rPr>
              <a:t>(j) = (1/T) </a:t>
            </a:r>
            <a:r>
              <a:rPr lang="el-GR" sz="1600" dirty="0">
                <a:latin typeface="Courier New" panose="02070309020205020404" pitchFamily="49" charset="0"/>
              </a:rPr>
              <a:t>Σ </a:t>
            </a:r>
            <a:r>
              <a:rPr lang="en-IN" sz="1600" dirty="0">
                <a:latin typeface="Courier New" panose="02070309020205020404" pitchFamily="49" charset="0"/>
              </a:rPr>
              <a:t>error(t, j)</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max_error</a:t>
            </a:r>
            <a:r>
              <a:rPr lang="en-IN" sz="1600" dirty="0">
                <a:latin typeface="Courier New" panose="02070309020205020404" pitchFamily="49" charset="0"/>
              </a:rPr>
              <a:t>(j)  = max(error(t, j))</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std_error</a:t>
            </a:r>
            <a:r>
              <a:rPr lang="en-IN" sz="1600" dirty="0">
                <a:latin typeface="Courier New" panose="02070309020205020404" pitchFamily="49" charset="0"/>
              </a:rPr>
              <a:t>(j)  = standard deviation(error(t, j))</a:t>
            </a:r>
          </a:p>
          <a:p>
            <a:pPr marL="457200" lvl="1" indent="0">
              <a:lnSpc>
                <a:spcPct val="110000"/>
              </a:lnSpc>
              <a:spcBef>
                <a:spcPts val="600"/>
              </a:spcBef>
              <a:buNone/>
            </a:pPr>
            <a:r>
              <a:rPr lang="en-IN" sz="1600" dirty="0">
                <a:latin typeface="Courier New" panose="02070309020205020404" pitchFamily="49" charset="0"/>
              </a:rPr>
              <a:t>	Output</a:t>
            </a:r>
          </a:p>
          <a:p>
            <a:pPr marL="457200" lvl="1" indent="0">
              <a:lnSpc>
                <a:spcPct val="110000"/>
              </a:lnSpc>
              <a:spcBef>
                <a:spcPts val="600"/>
              </a:spcBef>
              <a:buNone/>
            </a:pPr>
            <a:r>
              <a:rPr lang="en-IN" sz="1600" dirty="0">
                <a:latin typeface="Courier New" panose="02070309020205020404" pitchFamily="49" charset="0"/>
              </a:rPr>
              <a:t>		17 joints → {mean, max, std}</a:t>
            </a:r>
          </a:p>
          <a:p>
            <a:endParaRPr lang="en-IN" dirty="0"/>
          </a:p>
        </p:txBody>
      </p:sp>
    </p:spTree>
    <p:extLst>
      <p:ext uri="{BB962C8B-B14F-4D97-AF65-F5344CB8AC3E}">
        <p14:creationId xmlns:p14="http://schemas.microsoft.com/office/powerpoint/2010/main" val="1511015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6257-A6BF-249D-F68D-4EB81B6ECF7C}"/>
              </a:ext>
            </a:extLst>
          </p:cNvPr>
          <p:cNvSpPr>
            <a:spLocks noGrp="1"/>
          </p:cNvSpPr>
          <p:nvPr>
            <p:ph type="title"/>
          </p:nvPr>
        </p:nvSpPr>
        <p:spPr>
          <a:xfrm>
            <a:off x="838200" y="67945"/>
            <a:ext cx="10515600" cy="1325563"/>
          </a:xfrm>
        </p:spPr>
        <p:txBody>
          <a:bodyPr/>
          <a:lstStyle/>
          <a:p>
            <a:r>
              <a:rPr lang="en-US" dirty="0"/>
              <a:t>6C (ii) </a:t>
            </a:r>
            <a:r>
              <a:rPr lang="en-IN" dirty="0"/>
              <a:t>Algorithms Details (</a:t>
            </a:r>
            <a:r>
              <a:rPr lang="en-IN" dirty="0" err="1"/>
              <a:t>cont</a:t>
            </a:r>
            <a:r>
              <a:rPr lang="en-IN" dirty="0"/>
              <a:t>)</a:t>
            </a:r>
          </a:p>
        </p:txBody>
      </p:sp>
      <p:sp>
        <p:nvSpPr>
          <p:cNvPr id="3" name="Content Placeholder 2">
            <a:extLst>
              <a:ext uri="{FF2B5EF4-FFF2-40B4-BE49-F238E27FC236}">
                <a16:creationId xmlns:a16="http://schemas.microsoft.com/office/drawing/2014/main" id="{F1D62820-B004-585A-ABDF-B81954299BA7}"/>
              </a:ext>
            </a:extLst>
          </p:cNvPr>
          <p:cNvSpPr>
            <a:spLocks noGrp="1"/>
          </p:cNvSpPr>
          <p:nvPr>
            <p:ph idx="1"/>
          </p:nvPr>
        </p:nvSpPr>
        <p:spPr>
          <a:xfrm>
            <a:off x="838200" y="2141537"/>
            <a:ext cx="10515600" cy="4351338"/>
          </a:xfrm>
        </p:spPr>
        <p:txBody>
          <a:bodyPr>
            <a:normAutofit/>
          </a:bodyPr>
          <a:lstStyle/>
          <a:p>
            <a:pPr marL="0" indent="0">
              <a:lnSpc>
                <a:spcPct val="70000"/>
              </a:lnSpc>
              <a:buNone/>
            </a:pPr>
            <a:r>
              <a:rPr lang="en-IN" sz="2400" b="1" dirty="0"/>
              <a:t>2. Frame-wise Spatial Aggregation</a:t>
            </a:r>
          </a:p>
          <a:p>
            <a:pPr marL="0" indent="0">
              <a:lnSpc>
                <a:spcPct val="70000"/>
              </a:lnSpc>
              <a:buNone/>
            </a:pPr>
            <a:endParaRPr lang="en-IN" sz="1900" b="1" dirty="0"/>
          </a:p>
          <a:p>
            <a:pPr marL="0" indent="0">
              <a:lnSpc>
                <a:spcPct val="70000"/>
              </a:lnSpc>
              <a:buNone/>
            </a:pPr>
            <a:r>
              <a:rPr lang="en-IN" sz="2000" b="1" dirty="0"/>
              <a:t>Statistics Computed (per frame)</a:t>
            </a:r>
          </a:p>
          <a:p>
            <a:pPr marL="457200" lvl="1" indent="0">
              <a:lnSpc>
                <a:spcPct val="110000"/>
              </a:lnSpc>
              <a:spcBef>
                <a:spcPts val="600"/>
              </a:spcBef>
              <a:buNone/>
            </a:pPr>
            <a:r>
              <a:rPr lang="en-IN" sz="1600" dirty="0">
                <a:latin typeface="Courier New" panose="02070309020205020404" pitchFamily="49" charset="0"/>
              </a:rPr>
              <a:t>For frame t:</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mean_error</a:t>
            </a:r>
            <a:r>
              <a:rPr lang="en-IN" sz="1600" dirty="0">
                <a:latin typeface="Courier New" panose="02070309020205020404" pitchFamily="49" charset="0"/>
              </a:rPr>
              <a:t>(t) = (1/17) </a:t>
            </a:r>
            <a:r>
              <a:rPr lang="el-GR" sz="1600" dirty="0">
                <a:latin typeface="Courier New" panose="02070309020205020404" pitchFamily="49" charset="0"/>
              </a:rPr>
              <a:t>Σ </a:t>
            </a:r>
            <a:r>
              <a:rPr lang="en-IN" sz="1600" dirty="0">
                <a:latin typeface="Courier New" panose="02070309020205020404" pitchFamily="49" charset="0"/>
              </a:rPr>
              <a:t>error(t, j)</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max_error</a:t>
            </a:r>
            <a:r>
              <a:rPr lang="en-IN" sz="1600" dirty="0">
                <a:latin typeface="Courier New" panose="02070309020205020404" pitchFamily="49" charset="0"/>
              </a:rPr>
              <a:t>(t)  = max(error(t, j))</a:t>
            </a:r>
          </a:p>
          <a:p>
            <a:pPr marL="457200" lvl="1" indent="0">
              <a:lnSpc>
                <a:spcPct val="110000"/>
              </a:lnSpc>
              <a:spcBef>
                <a:spcPts val="600"/>
              </a:spcBef>
              <a:buNone/>
            </a:pPr>
            <a:r>
              <a:rPr lang="en-IN" sz="1600" dirty="0">
                <a:latin typeface="Courier New" panose="02070309020205020404" pitchFamily="49" charset="0"/>
              </a:rPr>
              <a:t>Output</a:t>
            </a:r>
          </a:p>
          <a:p>
            <a:pPr marL="457200" lvl="1" indent="0">
              <a:lnSpc>
                <a:spcPct val="110000"/>
              </a:lnSpc>
              <a:spcBef>
                <a:spcPts val="600"/>
              </a:spcBef>
              <a:buNone/>
            </a:pPr>
            <a:r>
              <a:rPr lang="en-IN" sz="1600" dirty="0">
                <a:latin typeface="Courier New" panose="02070309020205020404" pitchFamily="49" charset="0"/>
              </a:rPr>
              <a:t>	T frames → {</a:t>
            </a:r>
            <a:r>
              <a:rPr lang="en-IN" sz="1600" dirty="0" err="1">
                <a:latin typeface="Courier New" panose="02070309020205020404" pitchFamily="49" charset="0"/>
              </a:rPr>
              <a:t>mean_error</a:t>
            </a:r>
            <a:r>
              <a:rPr lang="en-IN" sz="1600" dirty="0">
                <a:latin typeface="Courier New" panose="02070309020205020404" pitchFamily="49" charset="0"/>
              </a:rPr>
              <a:t>, </a:t>
            </a:r>
            <a:r>
              <a:rPr lang="en-IN" sz="1600" dirty="0" err="1">
                <a:latin typeface="Courier New" panose="02070309020205020404" pitchFamily="49" charset="0"/>
              </a:rPr>
              <a:t>max_error</a:t>
            </a:r>
            <a:r>
              <a:rPr lang="en-IN" sz="1600" dirty="0">
                <a:latin typeface="Courier New" panose="02070309020205020404" pitchFamily="49" charset="0"/>
              </a:rPr>
              <a:t>}</a:t>
            </a:r>
          </a:p>
          <a:p>
            <a:endParaRPr lang="en-IN" dirty="0"/>
          </a:p>
        </p:txBody>
      </p:sp>
    </p:spTree>
    <p:extLst>
      <p:ext uri="{BB962C8B-B14F-4D97-AF65-F5344CB8AC3E}">
        <p14:creationId xmlns:p14="http://schemas.microsoft.com/office/powerpoint/2010/main" val="3217097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9DB4B-3499-9DCD-9867-92C94BC60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49A2B-5CCF-F56E-7901-EEC88AF39F6C}"/>
              </a:ext>
            </a:extLst>
          </p:cNvPr>
          <p:cNvSpPr>
            <a:spLocks noGrp="1"/>
          </p:cNvSpPr>
          <p:nvPr>
            <p:ph type="title"/>
          </p:nvPr>
        </p:nvSpPr>
        <p:spPr>
          <a:xfrm>
            <a:off x="838200" y="0"/>
            <a:ext cx="10515600" cy="1325563"/>
          </a:xfrm>
        </p:spPr>
        <p:txBody>
          <a:bodyPr/>
          <a:lstStyle/>
          <a:p>
            <a:r>
              <a:rPr lang="en-US" dirty="0"/>
              <a:t>6C (ii) </a:t>
            </a:r>
            <a:r>
              <a:rPr lang="en-IN" dirty="0"/>
              <a:t>Algorithms Details (</a:t>
            </a:r>
            <a:r>
              <a:rPr lang="en-IN" dirty="0" err="1"/>
              <a:t>cont</a:t>
            </a:r>
            <a:r>
              <a:rPr lang="en-IN" dirty="0"/>
              <a:t>)</a:t>
            </a:r>
          </a:p>
        </p:txBody>
      </p:sp>
      <p:sp>
        <p:nvSpPr>
          <p:cNvPr id="5" name="Content Placeholder 4">
            <a:extLst>
              <a:ext uri="{FF2B5EF4-FFF2-40B4-BE49-F238E27FC236}">
                <a16:creationId xmlns:a16="http://schemas.microsoft.com/office/drawing/2014/main" id="{ABC2465A-242E-9518-9E0B-016F53F3AB5D}"/>
              </a:ext>
            </a:extLst>
          </p:cNvPr>
          <p:cNvSpPr txBox="1">
            <a:spLocks noGrp="1"/>
          </p:cNvSpPr>
          <p:nvPr>
            <p:ph idx="1"/>
          </p:nvPr>
        </p:nvSpPr>
        <p:spPr>
          <a:xfrm>
            <a:off x="838200" y="1873747"/>
            <a:ext cx="10515600" cy="4533292"/>
          </a:xfrm>
          <a:prstGeom prst="rect">
            <a:avLst/>
          </a:prstGeom>
          <a:noFill/>
        </p:spPr>
        <p:txBody>
          <a:bodyPr wrap="square">
            <a:spAutoFit/>
          </a:bodyPr>
          <a:lstStyle/>
          <a:p>
            <a:pPr marL="0" indent="0">
              <a:lnSpc>
                <a:spcPct val="70000"/>
              </a:lnSpc>
              <a:buNone/>
            </a:pPr>
            <a:r>
              <a:rPr lang="en-IN" sz="2400" b="1" dirty="0"/>
              <a:t>3. Temporal Phase-wise Aggregation</a:t>
            </a:r>
          </a:p>
          <a:p>
            <a:pPr marL="0" indent="0">
              <a:lnSpc>
                <a:spcPct val="70000"/>
              </a:lnSpc>
              <a:buNone/>
            </a:pPr>
            <a:endParaRPr lang="en-IN" sz="1900" b="1" dirty="0"/>
          </a:p>
          <a:p>
            <a:pPr marL="0" indent="0">
              <a:lnSpc>
                <a:spcPct val="70000"/>
              </a:lnSpc>
              <a:buNone/>
            </a:pPr>
            <a:r>
              <a:rPr lang="en-IN" sz="2000" b="1" dirty="0"/>
              <a:t>Phase Definition</a:t>
            </a:r>
          </a:p>
          <a:p>
            <a:pPr marL="457200" lvl="1" indent="0">
              <a:lnSpc>
                <a:spcPct val="110000"/>
              </a:lnSpc>
              <a:spcBef>
                <a:spcPts val="600"/>
              </a:spcBef>
              <a:buNone/>
            </a:pPr>
            <a:r>
              <a:rPr lang="en-IN" sz="1600" dirty="0">
                <a:latin typeface="Courier New" panose="02070309020205020404" pitchFamily="49" charset="0"/>
              </a:rPr>
              <a:t>Given total frames T:</a:t>
            </a:r>
          </a:p>
          <a:p>
            <a:pPr marL="457200" lvl="1" indent="0">
              <a:lnSpc>
                <a:spcPct val="110000"/>
              </a:lnSpc>
              <a:spcBef>
                <a:spcPts val="600"/>
              </a:spcBef>
              <a:buNone/>
            </a:pPr>
            <a:r>
              <a:rPr lang="en-IN" sz="1600" dirty="0">
                <a:latin typeface="Courier New" panose="02070309020205020404" pitchFamily="49" charset="0"/>
              </a:rPr>
              <a:t>Early phase: frames [0, T/3)</a:t>
            </a:r>
          </a:p>
          <a:p>
            <a:pPr marL="457200" lvl="1" indent="0">
              <a:lnSpc>
                <a:spcPct val="110000"/>
              </a:lnSpc>
              <a:spcBef>
                <a:spcPts val="600"/>
              </a:spcBef>
              <a:buNone/>
            </a:pPr>
            <a:r>
              <a:rPr lang="en-IN" sz="1600" dirty="0">
                <a:latin typeface="Courier New" panose="02070309020205020404" pitchFamily="49" charset="0"/>
              </a:rPr>
              <a:t>Mid phase:   frames [T/3, 2T/3)</a:t>
            </a:r>
          </a:p>
          <a:p>
            <a:pPr marL="457200" lvl="1" indent="0">
              <a:lnSpc>
                <a:spcPct val="110000"/>
              </a:lnSpc>
              <a:spcBef>
                <a:spcPts val="600"/>
              </a:spcBef>
              <a:buNone/>
            </a:pPr>
            <a:r>
              <a:rPr lang="en-IN" sz="1600" dirty="0">
                <a:latin typeface="Courier New" panose="02070309020205020404" pitchFamily="49" charset="0"/>
              </a:rPr>
              <a:t>Late phase:  frames [2T/3, T)</a:t>
            </a:r>
          </a:p>
          <a:p>
            <a:pPr marL="457200" lvl="1" indent="0">
              <a:lnSpc>
                <a:spcPct val="110000"/>
              </a:lnSpc>
              <a:spcBef>
                <a:spcPts val="600"/>
              </a:spcBef>
              <a:buNone/>
            </a:pPr>
            <a:endParaRPr lang="en-IN" sz="1600" dirty="0">
              <a:latin typeface="Courier New" panose="02070309020205020404" pitchFamily="49" charset="0"/>
            </a:endParaRPr>
          </a:p>
          <a:p>
            <a:pPr marL="0" indent="0">
              <a:lnSpc>
                <a:spcPct val="70000"/>
              </a:lnSpc>
              <a:buNone/>
            </a:pPr>
            <a:r>
              <a:rPr lang="en-IN" sz="2000" b="1" dirty="0"/>
              <a:t>Phase Statistics</a:t>
            </a:r>
          </a:p>
          <a:p>
            <a:pPr marL="457200" lvl="1" indent="0">
              <a:lnSpc>
                <a:spcPct val="110000"/>
              </a:lnSpc>
              <a:spcBef>
                <a:spcPts val="600"/>
              </a:spcBef>
              <a:buNone/>
            </a:pPr>
            <a:r>
              <a:rPr lang="en-IN" sz="1400" dirty="0"/>
              <a:t>	</a:t>
            </a:r>
            <a:r>
              <a:rPr lang="en-IN" sz="1600" dirty="0">
                <a:latin typeface="Courier New" panose="02070309020205020404" pitchFamily="49" charset="0"/>
              </a:rPr>
              <a:t>For each phase p and joint j:</a:t>
            </a:r>
          </a:p>
          <a:p>
            <a:pPr marL="457200" lvl="1" indent="0">
              <a:lnSpc>
                <a:spcPct val="110000"/>
              </a:lnSpc>
              <a:spcBef>
                <a:spcPts val="600"/>
              </a:spcBef>
              <a:buNone/>
            </a:pPr>
            <a:r>
              <a:rPr lang="en-IN" sz="1600" dirty="0">
                <a:latin typeface="Courier New" panose="02070309020205020404" pitchFamily="49" charset="0"/>
              </a:rPr>
              <a:t>		</a:t>
            </a:r>
            <a:r>
              <a:rPr lang="en-IN" sz="1600" dirty="0" err="1">
                <a:latin typeface="Courier New" panose="02070309020205020404" pitchFamily="49" charset="0"/>
              </a:rPr>
              <a:t>phase_error</a:t>
            </a:r>
            <a:r>
              <a:rPr lang="en-IN" sz="1600" dirty="0">
                <a:latin typeface="Courier New" panose="02070309020205020404" pitchFamily="49" charset="0"/>
              </a:rPr>
              <a:t>(p, j) = mean(error(t, j)) for t ∈ phase p</a:t>
            </a:r>
          </a:p>
          <a:p>
            <a:pPr marL="457200" lvl="1" indent="0">
              <a:lnSpc>
                <a:spcPct val="110000"/>
              </a:lnSpc>
              <a:spcBef>
                <a:spcPts val="600"/>
              </a:spcBef>
              <a:buNone/>
            </a:pPr>
            <a:r>
              <a:rPr lang="en-IN" sz="1600" dirty="0">
                <a:latin typeface="Courier New" panose="02070309020205020404" pitchFamily="49" charset="0"/>
              </a:rPr>
              <a:t>	Output</a:t>
            </a:r>
          </a:p>
          <a:p>
            <a:pPr marL="457200" lvl="1" indent="0">
              <a:lnSpc>
                <a:spcPct val="110000"/>
              </a:lnSpc>
              <a:spcBef>
                <a:spcPts val="600"/>
              </a:spcBef>
              <a:buNone/>
            </a:pPr>
            <a:r>
              <a:rPr lang="en-IN" sz="1600" dirty="0">
                <a:latin typeface="Courier New" panose="02070309020205020404" pitchFamily="49" charset="0"/>
              </a:rPr>
              <a:t>		3 phases × 17 joints</a:t>
            </a:r>
          </a:p>
        </p:txBody>
      </p:sp>
    </p:spTree>
    <p:extLst>
      <p:ext uri="{BB962C8B-B14F-4D97-AF65-F5344CB8AC3E}">
        <p14:creationId xmlns:p14="http://schemas.microsoft.com/office/powerpoint/2010/main" val="16727145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08ED-9DD9-0872-D0F1-F016EA084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98D20-A6F5-81BC-EB26-70E9389BE1F7}"/>
              </a:ext>
            </a:extLst>
          </p:cNvPr>
          <p:cNvSpPr>
            <a:spLocks noGrp="1"/>
          </p:cNvSpPr>
          <p:nvPr>
            <p:ph type="title"/>
          </p:nvPr>
        </p:nvSpPr>
        <p:spPr>
          <a:xfrm>
            <a:off x="838200" y="-304800"/>
            <a:ext cx="10515600" cy="1325563"/>
          </a:xfrm>
        </p:spPr>
        <p:txBody>
          <a:bodyPr/>
          <a:lstStyle/>
          <a:p>
            <a:r>
              <a:rPr lang="en-US" dirty="0"/>
              <a:t>6C (ii) </a:t>
            </a:r>
            <a:r>
              <a:rPr lang="en-IN" dirty="0"/>
              <a:t>Algorithms Details (</a:t>
            </a:r>
            <a:r>
              <a:rPr lang="en-IN" dirty="0" err="1"/>
              <a:t>cont</a:t>
            </a:r>
            <a:r>
              <a:rPr lang="en-IN" dirty="0"/>
              <a:t>)</a:t>
            </a:r>
          </a:p>
        </p:txBody>
      </p:sp>
      <p:sp>
        <p:nvSpPr>
          <p:cNvPr id="5" name="Content Placeholder 4">
            <a:extLst>
              <a:ext uri="{FF2B5EF4-FFF2-40B4-BE49-F238E27FC236}">
                <a16:creationId xmlns:a16="http://schemas.microsoft.com/office/drawing/2014/main" id="{678DF744-DF12-AB65-ECA3-ED49A006FA95}"/>
              </a:ext>
            </a:extLst>
          </p:cNvPr>
          <p:cNvSpPr txBox="1">
            <a:spLocks noGrp="1"/>
          </p:cNvSpPr>
          <p:nvPr>
            <p:ph idx="1"/>
          </p:nvPr>
        </p:nvSpPr>
        <p:spPr>
          <a:xfrm>
            <a:off x="838200" y="913039"/>
            <a:ext cx="12650525" cy="6055760"/>
          </a:xfrm>
          <a:prstGeom prst="rect">
            <a:avLst/>
          </a:prstGeom>
          <a:noFill/>
        </p:spPr>
        <p:txBody>
          <a:bodyPr wrap="square">
            <a:spAutoFit/>
          </a:bodyPr>
          <a:lstStyle/>
          <a:p>
            <a:pPr marL="0" indent="0">
              <a:buNone/>
            </a:pPr>
            <a:r>
              <a:rPr lang="en-IN" sz="2400" b="1" dirty="0"/>
              <a:t>4. Frame–Joint Error Export</a:t>
            </a:r>
          </a:p>
          <a:p>
            <a:pPr marL="0" indent="0">
              <a:buNone/>
            </a:pPr>
            <a:r>
              <a:rPr lang="en-IN" sz="2000" dirty="0"/>
              <a:t>Export Structure</a:t>
            </a:r>
          </a:p>
          <a:p>
            <a:pPr marL="457200" lvl="1" indent="0">
              <a:lnSpc>
                <a:spcPct val="110000"/>
              </a:lnSpc>
              <a:spcBef>
                <a:spcPts val="600"/>
              </a:spcBef>
              <a:buNone/>
            </a:pPr>
            <a:r>
              <a:rPr lang="en-IN" sz="1600" dirty="0">
                <a:latin typeface="Courier New" panose="02070309020205020404" pitchFamily="49" charset="0"/>
              </a:rPr>
              <a:t>Frame t:</a:t>
            </a:r>
          </a:p>
          <a:p>
            <a:pPr marL="457200" lvl="1" indent="0">
              <a:lnSpc>
                <a:spcPct val="110000"/>
              </a:lnSpc>
              <a:spcBef>
                <a:spcPts val="600"/>
              </a:spcBef>
              <a:buNone/>
            </a:pPr>
            <a:r>
              <a:rPr lang="en-IN" sz="1600" dirty="0">
                <a:latin typeface="Courier New" panose="02070309020205020404" pitchFamily="49" charset="0"/>
              </a:rPr>
              <a:t>  joint_0 → error</a:t>
            </a:r>
          </a:p>
          <a:p>
            <a:pPr marL="457200" lvl="1" indent="0">
              <a:lnSpc>
                <a:spcPct val="110000"/>
              </a:lnSpc>
              <a:spcBef>
                <a:spcPts val="600"/>
              </a:spcBef>
              <a:buNone/>
            </a:pPr>
            <a:r>
              <a:rPr lang="en-IN" sz="1600" dirty="0">
                <a:latin typeface="Courier New" panose="02070309020205020404" pitchFamily="49" charset="0"/>
              </a:rPr>
              <a:t>  joint_1 → error</a:t>
            </a:r>
          </a:p>
          <a:p>
            <a:pPr marL="457200" lvl="1" indent="0">
              <a:lnSpc>
                <a:spcPct val="110000"/>
              </a:lnSpc>
              <a:spcBef>
                <a:spcPts val="600"/>
              </a:spcBef>
              <a:buNone/>
            </a:pPr>
            <a:r>
              <a:rPr lang="en-IN" sz="1600" dirty="0">
                <a:latin typeface="Courier New" panose="02070309020205020404" pitchFamily="49" charset="0"/>
              </a:rPr>
              <a:t>  ...</a:t>
            </a:r>
          </a:p>
          <a:p>
            <a:pPr marL="457200" lvl="1" indent="0">
              <a:lnSpc>
                <a:spcPct val="110000"/>
              </a:lnSpc>
              <a:spcBef>
                <a:spcPts val="600"/>
              </a:spcBef>
              <a:buNone/>
            </a:pPr>
            <a:r>
              <a:rPr lang="en-IN" sz="1600" dirty="0">
                <a:latin typeface="Courier New" panose="02070309020205020404" pitchFamily="49" charset="0"/>
              </a:rPr>
              <a:t>  joint_16 → error</a:t>
            </a:r>
          </a:p>
          <a:p>
            <a:pPr marL="0" indent="0">
              <a:buNone/>
            </a:pPr>
            <a:r>
              <a:rPr lang="en-IN" sz="2000" dirty="0"/>
              <a:t>Sample Input &amp; Output</a:t>
            </a:r>
          </a:p>
          <a:p>
            <a:pPr marL="0" indent="0">
              <a:buNone/>
            </a:pPr>
            <a:r>
              <a:rPr lang="en-IN" sz="1600" dirty="0"/>
              <a:t>Sample Input</a:t>
            </a:r>
          </a:p>
          <a:p>
            <a:pPr marL="457200" lvl="1" indent="0">
              <a:lnSpc>
                <a:spcPct val="110000"/>
              </a:lnSpc>
              <a:spcBef>
                <a:spcPts val="600"/>
              </a:spcBef>
              <a:buNone/>
            </a:pPr>
            <a:r>
              <a:rPr lang="en-IN" sz="1600" dirty="0" err="1">
                <a:latin typeface="Courier New" panose="02070309020205020404" pitchFamily="49" charset="0"/>
              </a:rPr>
              <a:t>error_matrix</a:t>
            </a:r>
            <a:r>
              <a:rPr lang="en-IN" sz="1600" dirty="0">
                <a:latin typeface="Courier New" panose="02070309020205020404" pitchFamily="49" charset="0"/>
              </a:rPr>
              <a:t>[40][</a:t>
            </a:r>
            <a:r>
              <a:rPr lang="en-IN" sz="1600" dirty="0" err="1">
                <a:latin typeface="Courier New" panose="02070309020205020404" pitchFamily="49" charset="0"/>
              </a:rPr>
              <a:t>left_knee</a:t>
            </a:r>
            <a:r>
              <a:rPr lang="en-IN" sz="1600" dirty="0">
                <a:latin typeface="Courier New" panose="02070309020205020404" pitchFamily="49" charset="0"/>
              </a:rPr>
              <a:t>] = 0.082</a:t>
            </a:r>
          </a:p>
          <a:p>
            <a:pPr marL="457200" lvl="1" indent="0">
              <a:lnSpc>
                <a:spcPct val="110000"/>
              </a:lnSpc>
              <a:spcBef>
                <a:spcPts val="600"/>
              </a:spcBef>
              <a:buNone/>
            </a:pPr>
            <a:r>
              <a:rPr lang="en-IN" sz="1600" dirty="0" err="1">
                <a:latin typeface="Courier New" panose="02070309020205020404" pitchFamily="49" charset="0"/>
              </a:rPr>
              <a:t>error_matrix</a:t>
            </a:r>
            <a:r>
              <a:rPr lang="en-IN" sz="1600" dirty="0">
                <a:latin typeface="Courier New" panose="02070309020205020404" pitchFamily="49" charset="0"/>
              </a:rPr>
              <a:t>[41][</a:t>
            </a:r>
            <a:r>
              <a:rPr lang="en-IN" sz="1600" dirty="0" err="1">
                <a:latin typeface="Courier New" panose="02070309020205020404" pitchFamily="49" charset="0"/>
              </a:rPr>
              <a:t>left_knee</a:t>
            </a:r>
            <a:r>
              <a:rPr lang="en-IN" sz="1600" dirty="0">
                <a:latin typeface="Courier New" panose="02070309020205020404" pitchFamily="49" charset="0"/>
              </a:rPr>
              <a:t>] = 0.091</a:t>
            </a:r>
          </a:p>
          <a:p>
            <a:pPr marL="0" indent="0">
              <a:buNone/>
            </a:pPr>
            <a:r>
              <a:rPr lang="en-IN" sz="1600" dirty="0"/>
              <a:t>Sample Output</a:t>
            </a:r>
          </a:p>
          <a:p>
            <a:pPr marL="457200" lvl="1" indent="0">
              <a:lnSpc>
                <a:spcPct val="110000"/>
              </a:lnSpc>
              <a:spcBef>
                <a:spcPts val="600"/>
              </a:spcBef>
              <a:buNone/>
            </a:pPr>
            <a:r>
              <a:rPr lang="en-IN" sz="1600" dirty="0" err="1">
                <a:latin typeface="Courier New" panose="02070309020205020404" pitchFamily="49" charset="0"/>
              </a:rPr>
              <a:t>left_knee</a:t>
            </a:r>
            <a:r>
              <a:rPr lang="en-IN" sz="1600" dirty="0">
                <a:latin typeface="Courier New" panose="02070309020205020404" pitchFamily="49" charset="0"/>
              </a:rPr>
              <a:t>:</a:t>
            </a:r>
          </a:p>
          <a:p>
            <a:pPr marL="457200" lvl="1" indent="0">
              <a:lnSpc>
                <a:spcPct val="110000"/>
              </a:lnSpc>
              <a:spcBef>
                <a:spcPts val="600"/>
              </a:spcBef>
              <a:buNone/>
            </a:pPr>
            <a:r>
              <a:rPr lang="en-IN" sz="1600" dirty="0">
                <a:latin typeface="Courier New" panose="02070309020205020404" pitchFamily="49" charset="0"/>
              </a:rPr>
              <a:t>  mean = 0.042</a:t>
            </a:r>
          </a:p>
          <a:p>
            <a:pPr marL="457200" lvl="1" indent="0">
              <a:lnSpc>
                <a:spcPct val="110000"/>
              </a:lnSpc>
              <a:spcBef>
                <a:spcPts val="600"/>
              </a:spcBef>
              <a:buNone/>
            </a:pPr>
            <a:r>
              <a:rPr lang="en-IN" sz="1600" dirty="0">
                <a:latin typeface="Courier New" panose="02070309020205020404" pitchFamily="49" charset="0"/>
              </a:rPr>
              <a:t>  max  = 0.089</a:t>
            </a:r>
          </a:p>
          <a:p>
            <a:pPr marL="457200" lvl="1" indent="0">
              <a:lnSpc>
                <a:spcPct val="110000"/>
              </a:lnSpc>
              <a:spcBef>
                <a:spcPts val="600"/>
              </a:spcBef>
              <a:buNone/>
            </a:pPr>
            <a:r>
              <a:rPr lang="en-IN" sz="1600" dirty="0">
                <a:latin typeface="Courier New" panose="02070309020205020404" pitchFamily="49" charset="0"/>
              </a:rPr>
              <a:t>  std  = 0.018</a:t>
            </a:r>
          </a:p>
          <a:p>
            <a:pPr marL="0" indent="0">
              <a:lnSpc>
                <a:spcPct val="70000"/>
              </a:lnSpc>
              <a:buNone/>
            </a:pPr>
            <a:endParaRPr lang="en-IN" sz="1400" dirty="0">
              <a:latin typeface="Courier New" panose="02070309020205020404" pitchFamily="49" charset="0"/>
            </a:endParaRPr>
          </a:p>
        </p:txBody>
      </p:sp>
    </p:spTree>
    <p:extLst>
      <p:ext uri="{BB962C8B-B14F-4D97-AF65-F5344CB8AC3E}">
        <p14:creationId xmlns:p14="http://schemas.microsoft.com/office/powerpoint/2010/main" val="1829169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C139C-5B09-314C-57C4-408C53A42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9F17D-D024-3846-83F7-D9407314638F}"/>
              </a:ext>
            </a:extLst>
          </p:cNvPr>
          <p:cNvSpPr>
            <a:spLocks noGrp="1"/>
          </p:cNvSpPr>
          <p:nvPr>
            <p:ph type="title"/>
          </p:nvPr>
        </p:nvSpPr>
        <p:spPr/>
        <p:txBody>
          <a:bodyPr/>
          <a:lstStyle/>
          <a:p>
            <a:r>
              <a:rPr lang="en-US" dirty="0"/>
              <a:t>6C(iii) Module Overview &amp; Block Diagram</a:t>
            </a:r>
            <a:endParaRPr lang="en-IN" dirty="0"/>
          </a:p>
        </p:txBody>
      </p:sp>
      <p:sp>
        <p:nvSpPr>
          <p:cNvPr id="3" name="Content Placeholder 2">
            <a:extLst>
              <a:ext uri="{FF2B5EF4-FFF2-40B4-BE49-F238E27FC236}">
                <a16:creationId xmlns:a16="http://schemas.microsoft.com/office/drawing/2014/main" id="{C7AF6725-01FF-B358-C1A4-F44A0463FF0C}"/>
              </a:ext>
            </a:extLst>
          </p:cNvPr>
          <p:cNvSpPr>
            <a:spLocks noGrp="1"/>
          </p:cNvSpPr>
          <p:nvPr>
            <p:ph idx="1"/>
          </p:nvPr>
        </p:nvSpPr>
        <p:spPr/>
        <p:txBody>
          <a:bodyPr>
            <a:normAutofit/>
          </a:bodyPr>
          <a:lstStyle/>
          <a:p>
            <a:pPr marL="0" indent="0">
              <a:buNone/>
            </a:pPr>
            <a:r>
              <a:rPr lang="en-US" sz="2400" b="1" dirty="0"/>
              <a:t>SUB-Module:</a:t>
            </a:r>
          </a:p>
          <a:p>
            <a:pPr marL="457200" lvl="1" indent="0">
              <a:buNone/>
            </a:pPr>
            <a:r>
              <a:rPr lang="en-US" sz="2000" b="1" dirty="0"/>
              <a:t>	</a:t>
            </a:r>
            <a:r>
              <a:rPr lang="en-IN" sz="2000" dirty="0"/>
              <a:t> DATA SERIALIZATION</a:t>
            </a:r>
            <a:endParaRPr lang="en-US" sz="2000" dirty="0"/>
          </a:p>
          <a:p>
            <a:pPr marL="0" indent="0">
              <a:buNone/>
            </a:pPr>
            <a:r>
              <a:rPr lang="en-US" b="1" dirty="0"/>
              <a:t>	</a:t>
            </a:r>
          </a:p>
          <a:p>
            <a:pPr marL="0" indent="0">
              <a:buNone/>
            </a:pPr>
            <a:r>
              <a:rPr lang="en-US" sz="2400" b="1" dirty="0"/>
              <a:t>Block Diagram:</a:t>
            </a:r>
            <a:endParaRPr lang="en-IN" sz="2400" b="1" dirty="0"/>
          </a:p>
        </p:txBody>
      </p:sp>
      <p:pic>
        <p:nvPicPr>
          <p:cNvPr id="5" name="Picture 4">
            <a:extLst>
              <a:ext uri="{FF2B5EF4-FFF2-40B4-BE49-F238E27FC236}">
                <a16:creationId xmlns:a16="http://schemas.microsoft.com/office/drawing/2014/main" id="{A595D988-6743-F1A0-5787-3E57DF83DF74}"/>
              </a:ext>
            </a:extLst>
          </p:cNvPr>
          <p:cNvPicPr>
            <a:picLocks noChangeAspect="1"/>
          </p:cNvPicPr>
          <p:nvPr/>
        </p:nvPicPr>
        <p:blipFill>
          <a:blip r:embed="rId2">
            <a:extLst>
              <a:ext uri="{28A0092B-C50C-407E-A947-70E740481C1C}">
                <a14:useLocalDpi xmlns:a14="http://schemas.microsoft.com/office/drawing/2010/main" val="0"/>
              </a:ext>
            </a:extLst>
          </a:blip>
          <a:srcRect l="741" t="2157" r="-1" b="1711"/>
          <a:stretch>
            <a:fillRect/>
          </a:stretch>
        </p:blipFill>
        <p:spPr>
          <a:xfrm>
            <a:off x="4381500" y="2685150"/>
            <a:ext cx="5905500" cy="3807725"/>
          </a:xfrm>
          <a:prstGeom prst="rect">
            <a:avLst/>
          </a:prstGeom>
        </p:spPr>
      </p:pic>
    </p:spTree>
    <p:extLst>
      <p:ext uri="{BB962C8B-B14F-4D97-AF65-F5344CB8AC3E}">
        <p14:creationId xmlns:p14="http://schemas.microsoft.com/office/powerpoint/2010/main" val="2093548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F282-4C4A-7FFA-8EC3-4B0F2A3FDAE6}"/>
              </a:ext>
            </a:extLst>
          </p:cNvPr>
          <p:cNvSpPr>
            <a:spLocks noGrp="1"/>
          </p:cNvSpPr>
          <p:nvPr>
            <p:ph type="title"/>
          </p:nvPr>
        </p:nvSpPr>
        <p:spPr>
          <a:xfrm>
            <a:off x="1005840" y="-175261"/>
            <a:ext cx="10515600" cy="1325563"/>
          </a:xfrm>
        </p:spPr>
        <p:txBody>
          <a:bodyPr/>
          <a:lstStyle/>
          <a:p>
            <a:r>
              <a:rPr lang="en-US" dirty="0"/>
              <a:t>6C (iii) </a:t>
            </a:r>
            <a:r>
              <a:rPr lang="en-IN" dirty="0"/>
              <a:t>Algorithm Details</a:t>
            </a:r>
          </a:p>
        </p:txBody>
      </p:sp>
      <p:sp>
        <p:nvSpPr>
          <p:cNvPr id="3" name="Content Placeholder 2">
            <a:extLst>
              <a:ext uri="{FF2B5EF4-FFF2-40B4-BE49-F238E27FC236}">
                <a16:creationId xmlns:a16="http://schemas.microsoft.com/office/drawing/2014/main" id="{9FB2288A-04D7-9AFE-806D-5D7CF5CC26B1}"/>
              </a:ext>
            </a:extLst>
          </p:cNvPr>
          <p:cNvSpPr>
            <a:spLocks noGrp="1"/>
          </p:cNvSpPr>
          <p:nvPr>
            <p:ph idx="1"/>
          </p:nvPr>
        </p:nvSpPr>
        <p:spPr>
          <a:xfrm>
            <a:off x="838200" y="842926"/>
            <a:ext cx="10515600" cy="4351338"/>
          </a:xfrm>
        </p:spPr>
        <p:txBody>
          <a:bodyPr>
            <a:normAutofit/>
          </a:bodyPr>
          <a:lstStyle/>
          <a:p>
            <a:pPr marL="0" indent="0">
              <a:buNone/>
            </a:pPr>
            <a:r>
              <a:rPr lang="en-US" sz="2000" b="1" dirty="0"/>
              <a:t>Algorithm Type</a:t>
            </a:r>
          </a:p>
          <a:p>
            <a:pPr marL="0" indent="0">
              <a:buNone/>
            </a:pPr>
            <a:r>
              <a:rPr lang="en-US" sz="1600" b="1" dirty="0"/>
              <a:t>	Deterministic Data Packaging &amp; Export</a:t>
            </a:r>
            <a:endParaRPr lang="en-US" sz="1600" dirty="0"/>
          </a:p>
          <a:p>
            <a:pPr marL="0" indent="0">
              <a:buNone/>
            </a:pPr>
            <a:r>
              <a:rPr lang="en-IN" sz="1600" b="1" dirty="0"/>
              <a:t>JSON Structure</a:t>
            </a:r>
          </a:p>
          <a:p>
            <a:pPr marL="0" indent="0">
              <a:buNone/>
            </a:pPr>
            <a:r>
              <a:rPr lang="en-IN" sz="1600" b="1" dirty="0"/>
              <a:t>1. Metadata Section</a:t>
            </a:r>
          </a:p>
        </p:txBody>
      </p:sp>
      <p:sp>
        <p:nvSpPr>
          <p:cNvPr id="7" name="TextBox 6">
            <a:extLst>
              <a:ext uri="{FF2B5EF4-FFF2-40B4-BE49-F238E27FC236}">
                <a16:creationId xmlns:a16="http://schemas.microsoft.com/office/drawing/2014/main" id="{A2516C10-9487-C294-EDA3-5F2B3D975F16}"/>
              </a:ext>
            </a:extLst>
          </p:cNvPr>
          <p:cNvSpPr txBox="1"/>
          <p:nvPr/>
        </p:nvSpPr>
        <p:spPr>
          <a:xfrm>
            <a:off x="1150620" y="2236424"/>
            <a:ext cx="5318760" cy="2095958"/>
          </a:xfrm>
          <a:prstGeom prst="rect">
            <a:avLst/>
          </a:prstGeom>
          <a:noFill/>
        </p:spPr>
        <p:txBody>
          <a:bodyPr wrap="square">
            <a:spAutoFit/>
          </a:bodyPr>
          <a:lstStyle/>
          <a:p>
            <a:pPr lvl="1">
              <a:lnSpc>
                <a:spcPct val="110000"/>
              </a:lnSpc>
              <a:spcBef>
                <a:spcPts val="600"/>
              </a:spcBef>
            </a:pPr>
            <a:r>
              <a:rPr lang="en-IN" sz="1600" dirty="0">
                <a:latin typeface="Courier New" panose="02070309020205020404" pitchFamily="49" charset="0"/>
              </a:rPr>
              <a:t>metadata:</a:t>
            </a:r>
          </a:p>
          <a:p>
            <a:pPr lvl="1">
              <a:lnSpc>
                <a:spcPct val="110000"/>
              </a:lnSpc>
              <a:spcBef>
                <a:spcPts val="600"/>
              </a:spcBef>
            </a:pPr>
            <a:r>
              <a:rPr lang="en-IN" sz="1600" dirty="0">
                <a:latin typeface="Courier New" panose="02070309020205020404" pitchFamily="49" charset="0"/>
              </a:rPr>
              <a:t>  </a:t>
            </a:r>
            <a:r>
              <a:rPr lang="en-IN" sz="1600" dirty="0" err="1">
                <a:latin typeface="Courier New" panose="02070309020205020404" pitchFamily="49" charset="0"/>
              </a:rPr>
              <a:t>num_frames</a:t>
            </a:r>
            <a:endParaRPr lang="en-IN" sz="1600" dirty="0">
              <a:latin typeface="Courier New" panose="02070309020205020404" pitchFamily="49" charset="0"/>
            </a:endParaRPr>
          </a:p>
          <a:p>
            <a:pPr lvl="1">
              <a:lnSpc>
                <a:spcPct val="110000"/>
              </a:lnSpc>
              <a:spcBef>
                <a:spcPts val="600"/>
              </a:spcBef>
            </a:pPr>
            <a:r>
              <a:rPr lang="en-IN" sz="1600" dirty="0">
                <a:latin typeface="Courier New" panose="02070309020205020404" pitchFamily="49" charset="0"/>
              </a:rPr>
              <a:t>  </a:t>
            </a:r>
            <a:r>
              <a:rPr lang="en-IN" sz="1600" dirty="0" err="1">
                <a:latin typeface="Courier New" panose="02070309020205020404" pitchFamily="49" charset="0"/>
              </a:rPr>
              <a:t>num_joints</a:t>
            </a:r>
            <a:endParaRPr lang="en-IN" sz="1600" dirty="0">
              <a:latin typeface="Courier New" panose="02070309020205020404" pitchFamily="49" charset="0"/>
            </a:endParaRPr>
          </a:p>
          <a:p>
            <a:pPr lvl="1">
              <a:lnSpc>
                <a:spcPct val="110000"/>
              </a:lnSpc>
              <a:spcBef>
                <a:spcPts val="600"/>
              </a:spcBef>
            </a:pPr>
            <a:r>
              <a:rPr lang="en-IN" sz="1600" dirty="0">
                <a:latin typeface="Courier New" panose="02070309020205020404" pitchFamily="49" charset="0"/>
              </a:rPr>
              <a:t>  </a:t>
            </a:r>
            <a:r>
              <a:rPr lang="en-IN" sz="1600" dirty="0" err="1">
                <a:latin typeface="Courier New" panose="02070309020205020404" pitchFamily="49" charset="0"/>
              </a:rPr>
              <a:t>alignment_method</a:t>
            </a:r>
            <a:endParaRPr lang="en-IN" sz="1600" dirty="0">
              <a:latin typeface="Courier New" panose="02070309020205020404" pitchFamily="49" charset="0"/>
            </a:endParaRPr>
          </a:p>
          <a:p>
            <a:pPr lvl="1">
              <a:lnSpc>
                <a:spcPct val="110000"/>
              </a:lnSpc>
              <a:spcBef>
                <a:spcPts val="600"/>
              </a:spcBef>
            </a:pPr>
            <a:r>
              <a:rPr lang="en-IN" sz="1600" dirty="0">
                <a:latin typeface="Courier New" panose="02070309020205020404" pitchFamily="49" charset="0"/>
              </a:rPr>
              <a:t>  </a:t>
            </a:r>
            <a:r>
              <a:rPr lang="en-IN" sz="1600" dirty="0" err="1">
                <a:latin typeface="Courier New" panose="02070309020205020404" pitchFamily="49" charset="0"/>
              </a:rPr>
              <a:t>expert_pose_path</a:t>
            </a:r>
            <a:endParaRPr lang="en-IN" sz="1600" dirty="0">
              <a:latin typeface="Courier New" panose="02070309020205020404" pitchFamily="49" charset="0"/>
            </a:endParaRPr>
          </a:p>
          <a:p>
            <a:pPr lvl="1">
              <a:lnSpc>
                <a:spcPct val="110000"/>
              </a:lnSpc>
              <a:spcBef>
                <a:spcPts val="600"/>
              </a:spcBef>
            </a:pPr>
            <a:r>
              <a:rPr lang="en-IN" sz="1600" dirty="0">
                <a:latin typeface="Courier New" panose="02070309020205020404" pitchFamily="49" charset="0"/>
              </a:rPr>
              <a:t>  </a:t>
            </a:r>
            <a:r>
              <a:rPr lang="en-IN" sz="1600" dirty="0" err="1">
                <a:latin typeface="Courier New" panose="02070309020205020404" pitchFamily="49" charset="0"/>
              </a:rPr>
              <a:t>user_pose_path</a:t>
            </a:r>
            <a:endParaRPr lang="en-IN" sz="1600" dirty="0">
              <a:latin typeface="Courier New" panose="02070309020205020404" pitchFamily="49" charset="0"/>
            </a:endParaRPr>
          </a:p>
        </p:txBody>
      </p:sp>
      <p:sp>
        <p:nvSpPr>
          <p:cNvPr id="9" name="TextBox 8">
            <a:extLst>
              <a:ext uri="{FF2B5EF4-FFF2-40B4-BE49-F238E27FC236}">
                <a16:creationId xmlns:a16="http://schemas.microsoft.com/office/drawing/2014/main" id="{7D5533E4-1D69-8471-38ED-53A77D347463}"/>
              </a:ext>
            </a:extLst>
          </p:cNvPr>
          <p:cNvSpPr txBox="1"/>
          <p:nvPr/>
        </p:nvSpPr>
        <p:spPr>
          <a:xfrm>
            <a:off x="838200" y="4240855"/>
            <a:ext cx="3048000" cy="338554"/>
          </a:xfrm>
          <a:prstGeom prst="rect">
            <a:avLst/>
          </a:prstGeom>
          <a:noFill/>
        </p:spPr>
        <p:txBody>
          <a:bodyPr wrap="square">
            <a:spAutoFit/>
          </a:bodyPr>
          <a:lstStyle/>
          <a:p>
            <a:r>
              <a:rPr lang="en-IN" sz="1600" b="1" dirty="0"/>
              <a:t>2. Joint Statistics</a:t>
            </a:r>
          </a:p>
        </p:txBody>
      </p:sp>
      <p:sp>
        <p:nvSpPr>
          <p:cNvPr id="11" name="TextBox 10">
            <a:extLst>
              <a:ext uri="{FF2B5EF4-FFF2-40B4-BE49-F238E27FC236}">
                <a16:creationId xmlns:a16="http://schemas.microsoft.com/office/drawing/2014/main" id="{F0E6E215-C227-5FC9-BED5-99DF3DF396E5}"/>
              </a:ext>
            </a:extLst>
          </p:cNvPr>
          <p:cNvSpPr txBox="1"/>
          <p:nvPr/>
        </p:nvSpPr>
        <p:spPr>
          <a:xfrm>
            <a:off x="1005840" y="4579409"/>
            <a:ext cx="5608320" cy="1903598"/>
          </a:xfrm>
          <a:prstGeom prst="rect">
            <a:avLst/>
          </a:prstGeom>
          <a:noFill/>
        </p:spPr>
        <p:txBody>
          <a:bodyPr wrap="square">
            <a:spAutoFit/>
          </a:bodyPr>
          <a:lstStyle/>
          <a:p>
            <a:pPr lvl="1">
              <a:lnSpc>
                <a:spcPct val="110000"/>
              </a:lnSpc>
              <a:spcBef>
                <a:spcPts val="300"/>
              </a:spcBef>
              <a:buNone/>
            </a:pPr>
            <a:r>
              <a:rPr lang="en-US" sz="1600" dirty="0">
                <a:latin typeface="Courier New" panose="02070309020205020404" pitchFamily="49" charset="0"/>
              </a:rPr>
              <a:t>Summarized performance per joint.</a:t>
            </a:r>
          </a:p>
          <a:p>
            <a:pPr lvl="1">
              <a:lnSpc>
                <a:spcPct val="110000"/>
              </a:lnSpc>
              <a:spcBef>
                <a:spcPts val="300"/>
              </a:spcBef>
              <a:buNone/>
            </a:pPr>
            <a:r>
              <a:rPr lang="en-US" sz="1600" dirty="0" err="1">
                <a:latin typeface="Courier New" panose="02070309020205020404" pitchFamily="49" charset="0"/>
              </a:rPr>
              <a:t>joint_statistics</a:t>
            </a:r>
            <a:r>
              <a:rPr lang="en-US" sz="1600" dirty="0">
                <a:latin typeface="Courier New" panose="02070309020205020404" pitchFamily="49" charset="0"/>
              </a:rPr>
              <a:t>:</a:t>
            </a:r>
          </a:p>
          <a:p>
            <a:pPr lvl="1">
              <a:lnSpc>
                <a:spcPct val="110000"/>
              </a:lnSpc>
              <a:spcBef>
                <a:spcPts val="300"/>
              </a:spcBef>
              <a:buNone/>
            </a:pPr>
            <a:r>
              <a:rPr lang="en-US" sz="1600" dirty="0">
                <a:latin typeface="Courier New" panose="02070309020205020404" pitchFamily="49" charset="0"/>
              </a:rPr>
              <a:t>  </a:t>
            </a:r>
            <a:r>
              <a:rPr lang="en-US" sz="1600" dirty="0" err="1">
                <a:latin typeface="Courier New" panose="02070309020205020404" pitchFamily="49" charset="0"/>
              </a:rPr>
              <a:t>joint_name</a:t>
            </a:r>
            <a:r>
              <a:rPr lang="en-US" sz="1600" dirty="0">
                <a:latin typeface="Courier New" panose="02070309020205020404" pitchFamily="49" charset="0"/>
              </a:rPr>
              <a:t>:</a:t>
            </a:r>
          </a:p>
          <a:p>
            <a:pPr lvl="1">
              <a:lnSpc>
                <a:spcPct val="110000"/>
              </a:lnSpc>
              <a:spcBef>
                <a:spcPts val="300"/>
              </a:spcBef>
              <a:buNone/>
            </a:pPr>
            <a:r>
              <a:rPr lang="en-US" sz="1600" dirty="0">
                <a:latin typeface="Courier New" panose="02070309020205020404" pitchFamily="49" charset="0"/>
              </a:rPr>
              <a:t>    mean</a:t>
            </a:r>
          </a:p>
          <a:p>
            <a:pPr lvl="1">
              <a:lnSpc>
                <a:spcPct val="110000"/>
              </a:lnSpc>
              <a:spcBef>
                <a:spcPts val="300"/>
              </a:spcBef>
              <a:buNone/>
            </a:pPr>
            <a:r>
              <a:rPr lang="en-US" sz="1600" dirty="0">
                <a:latin typeface="Courier New" panose="02070309020205020404" pitchFamily="49" charset="0"/>
              </a:rPr>
              <a:t>    max</a:t>
            </a:r>
          </a:p>
          <a:p>
            <a:pPr lvl="1">
              <a:lnSpc>
                <a:spcPct val="110000"/>
              </a:lnSpc>
              <a:spcBef>
                <a:spcPts val="300"/>
              </a:spcBef>
              <a:buNone/>
            </a:pPr>
            <a:r>
              <a:rPr lang="en-US" sz="1600" dirty="0">
                <a:latin typeface="Courier New" panose="02070309020205020404" pitchFamily="49" charset="0"/>
              </a:rPr>
              <a:t>    std</a:t>
            </a:r>
          </a:p>
        </p:txBody>
      </p:sp>
      <p:sp>
        <p:nvSpPr>
          <p:cNvPr id="13" name="TextBox 12">
            <a:extLst>
              <a:ext uri="{FF2B5EF4-FFF2-40B4-BE49-F238E27FC236}">
                <a16:creationId xmlns:a16="http://schemas.microsoft.com/office/drawing/2014/main" id="{C6EFB25D-8883-6BE6-CC66-E5128D23C169}"/>
              </a:ext>
            </a:extLst>
          </p:cNvPr>
          <p:cNvSpPr txBox="1"/>
          <p:nvPr/>
        </p:nvSpPr>
        <p:spPr>
          <a:xfrm>
            <a:off x="6096000" y="949120"/>
            <a:ext cx="6096000" cy="1600438"/>
          </a:xfrm>
          <a:prstGeom prst="rect">
            <a:avLst/>
          </a:prstGeom>
          <a:noFill/>
        </p:spPr>
        <p:txBody>
          <a:bodyPr wrap="square">
            <a:spAutoFit/>
          </a:bodyPr>
          <a:lstStyle/>
          <a:p>
            <a:pPr>
              <a:buNone/>
            </a:pPr>
            <a:r>
              <a:rPr lang="en-US" b="1" dirty="0"/>
              <a:t>3. Frame Statistics</a:t>
            </a:r>
          </a:p>
          <a:p>
            <a:pPr>
              <a:buNone/>
            </a:pPr>
            <a:r>
              <a:rPr lang="en-US" sz="1600" dirty="0">
                <a:latin typeface="Courier New" panose="02070309020205020404" pitchFamily="49" charset="0"/>
              </a:rPr>
              <a:t>Ov</a:t>
            </a:r>
            <a:r>
              <a:rPr lang="en-US" sz="1400" dirty="0"/>
              <a:t>erall body deviation per frame.</a:t>
            </a:r>
          </a:p>
          <a:p>
            <a:pPr>
              <a:buNone/>
            </a:pPr>
            <a:r>
              <a:rPr lang="en-US" sz="1600" dirty="0" err="1">
                <a:latin typeface="Courier New" panose="02070309020205020404" pitchFamily="49" charset="0"/>
              </a:rPr>
              <a:t>frame_statistics</a:t>
            </a:r>
            <a:r>
              <a:rPr lang="en-US" sz="1600" dirty="0">
                <a:latin typeface="Courier New" panose="02070309020205020404" pitchFamily="49" charset="0"/>
              </a:rPr>
              <a:t>:</a:t>
            </a:r>
          </a:p>
          <a:p>
            <a:pPr>
              <a:buNone/>
            </a:pPr>
            <a:r>
              <a:rPr lang="en-US" sz="1600" dirty="0">
                <a:latin typeface="Courier New" panose="02070309020205020404" pitchFamily="49" charset="0"/>
              </a:rPr>
              <a:t>  </a:t>
            </a:r>
            <a:r>
              <a:rPr lang="en-US" sz="1600" dirty="0" err="1">
                <a:latin typeface="Courier New" panose="02070309020205020404" pitchFamily="49" charset="0"/>
              </a:rPr>
              <a:t>frame_index</a:t>
            </a:r>
            <a:r>
              <a:rPr lang="en-US" sz="1600" dirty="0">
                <a:latin typeface="Courier New" panose="02070309020205020404" pitchFamily="49" charset="0"/>
              </a:rPr>
              <a:t>:</a:t>
            </a:r>
          </a:p>
          <a:p>
            <a:pPr>
              <a:buNone/>
            </a:pPr>
            <a:r>
              <a:rPr lang="en-US" sz="1600" dirty="0">
                <a:latin typeface="Courier New" panose="02070309020205020404" pitchFamily="49" charset="0"/>
              </a:rPr>
              <a:t>    </a:t>
            </a:r>
            <a:r>
              <a:rPr lang="en-US" sz="1600" dirty="0" err="1">
                <a:latin typeface="Courier New" panose="02070309020205020404" pitchFamily="49" charset="0"/>
              </a:rPr>
              <a:t>mean_error</a:t>
            </a:r>
            <a:endParaRPr lang="en-US" sz="1600" dirty="0">
              <a:latin typeface="Courier New" panose="02070309020205020404" pitchFamily="49" charset="0"/>
            </a:endParaRPr>
          </a:p>
          <a:p>
            <a:pPr>
              <a:buNone/>
            </a:pPr>
            <a:r>
              <a:rPr lang="en-US" sz="1600" dirty="0">
                <a:latin typeface="Courier New" panose="02070309020205020404" pitchFamily="49" charset="0"/>
              </a:rPr>
              <a:t>    </a:t>
            </a:r>
            <a:r>
              <a:rPr lang="en-US" sz="1600" dirty="0" err="1">
                <a:latin typeface="Courier New" panose="02070309020205020404" pitchFamily="49" charset="0"/>
              </a:rPr>
              <a:t>max_error</a:t>
            </a:r>
            <a:endParaRPr lang="en-US" sz="1600" dirty="0">
              <a:latin typeface="Courier New" panose="02070309020205020404" pitchFamily="49" charset="0"/>
            </a:endParaRPr>
          </a:p>
        </p:txBody>
      </p:sp>
      <p:sp>
        <p:nvSpPr>
          <p:cNvPr id="15" name="TextBox 14">
            <a:extLst>
              <a:ext uri="{FF2B5EF4-FFF2-40B4-BE49-F238E27FC236}">
                <a16:creationId xmlns:a16="http://schemas.microsoft.com/office/drawing/2014/main" id="{AD07E6DA-8AA1-CF78-4C0B-05A11FEC2047}"/>
              </a:ext>
            </a:extLst>
          </p:cNvPr>
          <p:cNvSpPr txBox="1"/>
          <p:nvPr/>
        </p:nvSpPr>
        <p:spPr>
          <a:xfrm>
            <a:off x="6096000" y="2623190"/>
            <a:ext cx="6355080" cy="2308324"/>
          </a:xfrm>
          <a:prstGeom prst="rect">
            <a:avLst/>
          </a:prstGeom>
          <a:noFill/>
        </p:spPr>
        <p:txBody>
          <a:bodyPr wrap="square">
            <a:spAutoFit/>
          </a:bodyPr>
          <a:lstStyle/>
          <a:p>
            <a:pPr>
              <a:buNone/>
            </a:pPr>
            <a:r>
              <a:rPr lang="en-US" b="1" dirty="0"/>
              <a:t>4. Phase Statistics</a:t>
            </a:r>
          </a:p>
          <a:p>
            <a:pPr>
              <a:buNone/>
            </a:pPr>
            <a:r>
              <a:rPr lang="en-US" sz="1400" dirty="0"/>
              <a:t>Temporal progression of joint errors.</a:t>
            </a:r>
          </a:p>
          <a:p>
            <a:r>
              <a:rPr lang="en-US" sz="1600" dirty="0" err="1">
                <a:latin typeface="Courier New" panose="02070309020205020404" pitchFamily="49" charset="0"/>
              </a:rPr>
              <a:t>phase_statistics</a:t>
            </a:r>
            <a:r>
              <a:rPr lang="en-US" sz="1600" dirty="0">
                <a:latin typeface="Courier New" panose="02070309020205020404" pitchFamily="49" charset="0"/>
              </a:rPr>
              <a:t>:</a:t>
            </a:r>
          </a:p>
          <a:p>
            <a:r>
              <a:rPr lang="en-US" sz="1600" dirty="0">
                <a:latin typeface="Courier New" panose="02070309020205020404" pitchFamily="49" charset="0"/>
              </a:rPr>
              <a:t>  early:</a:t>
            </a:r>
          </a:p>
          <a:p>
            <a:r>
              <a:rPr lang="en-US" sz="1600" dirty="0">
                <a:latin typeface="Courier New" panose="02070309020205020404" pitchFamily="49" charset="0"/>
              </a:rPr>
              <a:t>    </a:t>
            </a:r>
            <a:r>
              <a:rPr lang="en-US" sz="1600" dirty="0" err="1">
                <a:latin typeface="Courier New" panose="02070309020205020404" pitchFamily="49" charset="0"/>
              </a:rPr>
              <a:t>joint_name</a:t>
            </a:r>
            <a:r>
              <a:rPr lang="en-US" sz="1600" dirty="0">
                <a:latin typeface="Courier New" panose="02070309020205020404" pitchFamily="49" charset="0"/>
              </a:rPr>
              <a:t> → </a:t>
            </a:r>
            <a:r>
              <a:rPr lang="en-US" sz="1600" dirty="0" err="1">
                <a:latin typeface="Courier New" panose="02070309020205020404" pitchFamily="49" charset="0"/>
              </a:rPr>
              <a:t>mean_error</a:t>
            </a:r>
            <a:endParaRPr lang="en-US" sz="1600" dirty="0">
              <a:latin typeface="Courier New" panose="02070309020205020404" pitchFamily="49" charset="0"/>
            </a:endParaRPr>
          </a:p>
          <a:p>
            <a:r>
              <a:rPr lang="en-US" sz="1600" dirty="0">
                <a:latin typeface="Courier New" panose="02070309020205020404" pitchFamily="49" charset="0"/>
              </a:rPr>
              <a:t>  mid:</a:t>
            </a:r>
          </a:p>
          <a:p>
            <a:r>
              <a:rPr lang="en-US" sz="1600" dirty="0">
                <a:latin typeface="Courier New" panose="02070309020205020404" pitchFamily="49" charset="0"/>
              </a:rPr>
              <a:t>    </a:t>
            </a:r>
            <a:r>
              <a:rPr lang="en-US" sz="1600" dirty="0" err="1">
                <a:latin typeface="Courier New" panose="02070309020205020404" pitchFamily="49" charset="0"/>
              </a:rPr>
              <a:t>joint_name</a:t>
            </a:r>
            <a:r>
              <a:rPr lang="en-US" sz="1600" dirty="0">
                <a:latin typeface="Courier New" panose="02070309020205020404" pitchFamily="49" charset="0"/>
              </a:rPr>
              <a:t> → </a:t>
            </a:r>
            <a:r>
              <a:rPr lang="en-US" sz="1600" dirty="0" err="1">
                <a:latin typeface="Courier New" panose="02070309020205020404" pitchFamily="49" charset="0"/>
              </a:rPr>
              <a:t>mean_error</a:t>
            </a:r>
            <a:endParaRPr lang="en-US" sz="1600" dirty="0">
              <a:latin typeface="Courier New" panose="02070309020205020404" pitchFamily="49" charset="0"/>
            </a:endParaRPr>
          </a:p>
          <a:p>
            <a:r>
              <a:rPr lang="en-US" sz="1600" dirty="0">
                <a:latin typeface="Courier New" panose="02070309020205020404" pitchFamily="49" charset="0"/>
              </a:rPr>
              <a:t>  late:</a:t>
            </a:r>
          </a:p>
          <a:p>
            <a:r>
              <a:rPr lang="en-US" sz="1600" dirty="0">
                <a:latin typeface="Courier New" panose="02070309020205020404" pitchFamily="49" charset="0"/>
              </a:rPr>
              <a:t>    </a:t>
            </a:r>
            <a:r>
              <a:rPr lang="en-US" sz="1600" dirty="0" err="1">
                <a:latin typeface="Courier New" panose="02070309020205020404" pitchFamily="49" charset="0"/>
              </a:rPr>
              <a:t>joint_name</a:t>
            </a:r>
            <a:r>
              <a:rPr lang="en-US" sz="1600" dirty="0">
                <a:latin typeface="Courier New" panose="02070309020205020404" pitchFamily="49" charset="0"/>
              </a:rPr>
              <a:t> → </a:t>
            </a:r>
            <a:r>
              <a:rPr lang="en-US" sz="1600" dirty="0" err="1">
                <a:latin typeface="Courier New" panose="02070309020205020404" pitchFamily="49" charset="0"/>
              </a:rPr>
              <a:t>mean_error</a:t>
            </a:r>
            <a:endParaRPr lang="en-US" sz="1600" dirty="0">
              <a:latin typeface="Courier New" panose="02070309020205020404" pitchFamily="49" charset="0"/>
            </a:endParaRPr>
          </a:p>
        </p:txBody>
      </p:sp>
      <p:sp>
        <p:nvSpPr>
          <p:cNvPr id="17" name="TextBox 16">
            <a:extLst>
              <a:ext uri="{FF2B5EF4-FFF2-40B4-BE49-F238E27FC236}">
                <a16:creationId xmlns:a16="http://schemas.microsoft.com/office/drawing/2014/main" id="{2D036A26-6510-BE5D-74BD-332689EFB96D}"/>
              </a:ext>
            </a:extLst>
          </p:cNvPr>
          <p:cNvSpPr txBox="1"/>
          <p:nvPr/>
        </p:nvSpPr>
        <p:spPr>
          <a:xfrm>
            <a:off x="6096000" y="5103267"/>
            <a:ext cx="6198870" cy="1323439"/>
          </a:xfrm>
          <a:prstGeom prst="rect">
            <a:avLst/>
          </a:prstGeom>
          <a:noFill/>
        </p:spPr>
        <p:txBody>
          <a:bodyPr wrap="square">
            <a:spAutoFit/>
          </a:bodyPr>
          <a:lstStyle/>
          <a:p>
            <a:pPr>
              <a:buNone/>
            </a:pPr>
            <a:r>
              <a:rPr lang="en-US" b="1" dirty="0"/>
              <a:t>5. Frame–Joint Error Export</a:t>
            </a:r>
          </a:p>
          <a:p>
            <a:r>
              <a:rPr lang="en-US" sz="1400" dirty="0"/>
              <a:t>Full error detail retained.</a:t>
            </a:r>
          </a:p>
          <a:p>
            <a:r>
              <a:rPr lang="en-US" sz="1600" dirty="0" err="1">
                <a:latin typeface="Courier New" panose="02070309020205020404" pitchFamily="49" charset="0"/>
              </a:rPr>
              <a:t>frame_joint_errors</a:t>
            </a:r>
            <a:r>
              <a:rPr lang="en-US" sz="1600" dirty="0">
                <a:latin typeface="Courier New" panose="02070309020205020404" pitchFamily="49" charset="0"/>
              </a:rPr>
              <a:t>:</a:t>
            </a:r>
          </a:p>
          <a:p>
            <a:r>
              <a:rPr lang="en-US" sz="1600" dirty="0">
                <a:latin typeface="Courier New" panose="02070309020205020404" pitchFamily="49" charset="0"/>
              </a:rPr>
              <a:t>  </a:t>
            </a:r>
            <a:r>
              <a:rPr lang="en-US" sz="1600" dirty="0" err="1">
                <a:latin typeface="Courier New" panose="02070309020205020404" pitchFamily="49" charset="0"/>
              </a:rPr>
              <a:t>frame_index</a:t>
            </a:r>
            <a:r>
              <a:rPr lang="en-US" sz="1600" dirty="0">
                <a:latin typeface="Courier New" panose="02070309020205020404" pitchFamily="49" charset="0"/>
              </a:rPr>
              <a:t>:</a:t>
            </a:r>
          </a:p>
          <a:p>
            <a:r>
              <a:rPr lang="en-US" sz="1600" dirty="0">
                <a:latin typeface="Courier New" panose="02070309020205020404" pitchFamily="49" charset="0"/>
              </a:rPr>
              <a:t>    </a:t>
            </a:r>
            <a:r>
              <a:rPr lang="en-US" sz="1600" dirty="0" err="1">
                <a:latin typeface="Courier New" panose="02070309020205020404" pitchFamily="49" charset="0"/>
              </a:rPr>
              <a:t>joint_name</a:t>
            </a:r>
            <a:r>
              <a:rPr lang="en-US" sz="1600" dirty="0">
                <a:latin typeface="Courier New" panose="02070309020205020404" pitchFamily="49" charset="0"/>
              </a:rPr>
              <a:t> → error</a:t>
            </a:r>
          </a:p>
        </p:txBody>
      </p:sp>
    </p:spTree>
    <p:extLst>
      <p:ext uri="{BB962C8B-B14F-4D97-AF65-F5344CB8AC3E}">
        <p14:creationId xmlns:p14="http://schemas.microsoft.com/office/powerpoint/2010/main" val="1005434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9699-16EE-4081-5F6B-AFEC9F73F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BE0FE-7CCF-A5CF-DFE0-D40B7F8F7EFE}"/>
              </a:ext>
            </a:extLst>
          </p:cNvPr>
          <p:cNvSpPr>
            <a:spLocks noGrp="1"/>
          </p:cNvSpPr>
          <p:nvPr>
            <p:ph type="title"/>
          </p:nvPr>
        </p:nvSpPr>
        <p:spPr/>
        <p:txBody>
          <a:bodyPr/>
          <a:lstStyle/>
          <a:p>
            <a:r>
              <a:rPr lang="en-US" dirty="0"/>
              <a:t>6C (iii) </a:t>
            </a:r>
            <a:r>
              <a:rPr lang="en-IN" dirty="0"/>
              <a:t>Algorithms Details (</a:t>
            </a:r>
            <a:r>
              <a:rPr lang="en-IN" dirty="0" err="1"/>
              <a:t>cont</a:t>
            </a:r>
            <a:r>
              <a:rPr lang="en-IN" dirty="0"/>
              <a:t>)</a:t>
            </a:r>
          </a:p>
        </p:txBody>
      </p:sp>
      <p:sp>
        <p:nvSpPr>
          <p:cNvPr id="3" name="Content Placeholder 2">
            <a:extLst>
              <a:ext uri="{FF2B5EF4-FFF2-40B4-BE49-F238E27FC236}">
                <a16:creationId xmlns:a16="http://schemas.microsoft.com/office/drawing/2014/main" id="{8B69BFB3-23A4-73C9-C289-1AAA5088CDD0}"/>
              </a:ext>
            </a:extLst>
          </p:cNvPr>
          <p:cNvSpPr>
            <a:spLocks noGrp="1"/>
          </p:cNvSpPr>
          <p:nvPr>
            <p:ph idx="1"/>
          </p:nvPr>
        </p:nvSpPr>
        <p:spPr/>
        <p:txBody>
          <a:bodyPr>
            <a:normAutofit lnSpcReduction="10000"/>
          </a:bodyPr>
          <a:lstStyle/>
          <a:p>
            <a:pPr marL="0" indent="0">
              <a:buNone/>
            </a:pPr>
            <a:r>
              <a:rPr lang="en-US" sz="2600" b="1" dirty="0"/>
              <a:t>Sample Input &amp; Output</a:t>
            </a:r>
          </a:p>
          <a:p>
            <a:pPr marL="0" indent="0">
              <a:buNone/>
            </a:pPr>
            <a:r>
              <a:rPr lang="en-US" sz="2200" b="1" dirty="0"/>
              <a:t>Sample Input</a:t>
            </a:r>
          </a:p>
          <a:p>
            <a:pPr marL="457200" lvl="1" indent="0">
              <a:lnSpc>
                <a:spcPct val="120000"/>
              </a:lnSpc>
              <a:spcBef>
                <a:spcPts val="300"/>
              </a:spcBef>
              <a:buNone/>
            </a:pPr>
            <a:r>
              <a:rPr lang="en-US" sz="1700" dirty="0" err="1">
                <a:latin typeface="Courier New" panose="02070309020205020404" pitchFamily="49" charset="0"/>
              </a:rPr>
              <a:t>left_knee</a:t>
            </a:r>
            <a:r>
              <a:rPr lang="en-US" sz="1700" dirty="0">
                <a:latin typeface="Courier New" panose="02070309020205020404" pitchFamily="49" charset="0"/>
              </a:rPr>
              <a:t>:</a:t>
            </a:r>
          </a:p>
          <a:p>
            <a:pPr marL="457200" lvl="1" indent="0">
              <a:lnSpc>
                <a:spcPct val="120000"/>
              </a:lnSpc>
              <a:spcBef>
                <a:spcPts val="300"/>
              </a:spcBef>
              <a:buNone/>
            </a:pPr>
            <a:r>
              <a:rPr lang="en-US" sz="1700" dirty="0">
                <a:latin typeface="Courier New" panose="02070309020205020404" pitchFamily="49" charset="0"/>
              </a:rPr>
              <a:t>  mean = 0.042</a:t>
            </a:r>
          </a:p>
          <a:p>
            <a:pPr marL="457200" lvl="1" indent="0">
              <a:lnSpc>
                <a:spcPct val="120000"/>
              </a:lnSpc>
              <a:spcBef>
                <a:spcPts val="300"/>
              </a:spcBef>
              <a:buNone/>
            </a:pPr>
            <a:r>
              <a:rPr lang="en-US" sz="1700" dirty="0">
                <a:latin typeface="Courier New" panose="02070309020205020404" pitchFamily="49" charset="0"/>
              </a:rPr>
              <a:t>  max  = 0.089</a:t>
            </a:r>
          </a:p>
          <a:p>
            <a:pPr marL="457200" lvl="1" indent="0">
              <a:lnSpc>
                <a:spcPct val="120000"/>
              </a:lnSpc>
              <a:spcBef>
                <a:spcPts val="300"/>
              </a:spcBef>
              <a:buNone/>
            </a:pPr>
            <a:r>
              <a:rPr lang="en-US" sz="1700" dirty="0">
                <a:latin typeface="Courier New" panose="02070309020205020404" pitchFamily="49" charset="0"/>
              </a:rPr>
              <a:t>  std  = 0.018</a:t>
            </a:r>
          </a:p>
          <a:p>
            <a:pPr marL="0" indent="0">
              <a:lnSpc>
                <a:spcPct val="100000"/>
              </a:lnSpc>
              <a:buNone/>
            </a:pPr>
            <a:r>
              <a:rPr lang="en-US" sz="2200" b="1" dirty="0"/>
              <a:t>Serialized Output</a:t>
            </a:r>
          </a:p>
          <a:p>
            <a:pPr marL="457200" lvl="1" indent="0">
              <a:lnSpc>
                <a:spcPct val="120000"/>
              </a:lnSpc>
              <a:spcBef>
                <a:spcPts val="300"/>
              </a:spcBef>
              <a:buNone/>
            </a:pPr>
            <a:r>
              <a:rPr lang="en-US" sz="1700" dirty="0">
                <a:latin typeface="Courier New" panose="02070309020205020404" pitchFamily="49" charset="0"/>
              </a:rPr>
              <a:t>"</a:t>
            </a:r>
            <a:r>
              <a:rPr lang="en-US" sz="1700" dirty="0" err="1">
                <a:latin typeface="Courier New" panose="02070309020205020404" pitchFamily="49" charset="0"/>
              </a:rPr>
              <a:t>left_knee</a:t>
            </a:r>
            <a:r>
              <a:rPr lang="en-US" sz="1700" dirty="0">
                <a:latin typeface="Courier New" panose="02070309020205020404" pitchFamily="49" charset="0"/>
              </a:rPr>
              <a:t>": {</a:t>
            </a:r>
          </a:p>
          <a:p>
            <a:pPr marL="457200" lvl="1" indent="0">
              <a:lnSpc>
                <a:spcPct val="120000"/>
              </a:lnSpc>
              <a:spcBef>
                <a:spcPts val="300"/>
              </a:spcBef>
              <a:buNone/>
            </a:pPr>
            <a:r>
              <a:rPr lang="en-US" sz="1700" dirty="0">
                <a:latin typeface="Courier New" panose="02070309020205020404" pitchFamily="49" charset="0"/>
              </a:rPr>
              <a:t>  "mean": 0.042,</a:t>
            </a:r>
          </a:p>
          <a:p>
            <a:pPr marL="457200" lvl="1" indent="0">
              <a:lnSpc>
                <a:spcPct val="120000"/>
              </a:lnSpc>
              <a:spcBef>
                <a:spcPts val="300"/>
              </a:spcBef>
              <a:buNone/>
            </a:pPr>
            <a:r>
              <a:rPr lang="en-US" sz="1700" dirty="0">
                <a:latin typeface="Courier New" panose="02070309020205020404" pitchFamily="49" charset="0"/>
              </a:rPr>
              <a:t>  "max": 0.089,</a:t>
            </a:r>
          </a:p>
          <a:p>
            <a:pPr marL="457200" lvl="1" indent="0">
              <a:lnSpc>
                <a:spcPct val="120000"/>
              </a:lnSpc>
              <a:spcBef>
                <a:spcPts val="300"/>
              </a:spcBef>
              <a:buNone/>
            </a:pPr>
            <a:r>
              <a:rPr lang="en-US" sz="1700" dirty="0">
                <a:latin typeface="Courier New" panose="02070309020205020404" pitchFamily="49" charset="0"/>
              </a:rPr>
              <a:t>  "std": 0.018</a:t>
            </a:r>
          </a:p>
          <a:p>
            <a:pPr marL="457200" lvl="1" indent="0">
              <a:lnSpc>
                <a:spcPct val="120000"/>
              </a:lnSpc>
              <a:spcBef>
                <a:spcPts val="300"/>
              </a:spcBef>
              <a:buNone/>
            </a:pPr>
            <a:r>
              <a:rPr lang="en-US" sz="1700" dirty="0">
                <a:latin typeface="Courier New" panose="02070309020205020404" pitchFamily="49" charset="0"/>
              </a:rPr>
              <a:t>}</a:t>
            </a:r>
          </a:p>
          <a:p>
            <a:endParaRPr lang="en-IN" dirty="0"/>
          </a:p>
        </p:txBody>
      </p:sp>
    </p:spTree>
    <p:extLst>
      <p:ext uri="{BB962C8B-B14F-4D97-AF65-F5344CB8AC3E}">
        <p14:creationId xmlns:p14="http://schemas.microsoft.com/office/powerpoint/2010/main" val="24305736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6EE2-0FDF-7737-B3F5-623957F86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15B5B-6AD5-4701-8709-6832B06EF2DE}"/>
              </a:ext>
            </a:extLst>
          </p:cNvPr>
          <p:cNvSpPr>
            <a:spLocks noGrp="1"/>
          </p:cNvSpPr>
          <p:nvPr>
            <p:ph type="title"/>
          </p:nvPr>
        </p:nvSpPr>
        <p:spPr/>
        <p:txBody>
          <a:bodyPr/>
          <a:lstStyle/>
          <a:p>
            <a:r>
              <a:rPr lang="en-US" dirty="0"/>
              <a:t>6D </a:t>
            </a:r>
            <a:r>
              <a:rPr lang="en-IN" dirty="0"/>
              <a:t>Modules </a:t>
            </a:r>
            <a:r>
              <a:rPr lang="en-US" dirty="0"/>
              <a:t>(</a:t>
            </a:r>
            <a:r>
              <a:rPr lang="en-IN" dirty="0"/>
              <a:t>SIMILARITY SCORING</a:t>
            </a:r>
            <a:r>
              <a:rPr lang="en-US" dirty="0"/>
              <a:t>)</a:t>
            </a:r>
            <a:endParaRPr lang="en-IN" dirty="0"/>
          </a:p>
        </p:txBody>
      </p:sp>
      <p:sp>
        <p:nvSpPr>
          <p:cNvPr id="3" name="Content Placeholder 2">
            <a:extLst>
              <a:ext uri="{FF2B5EF4-FFF2-40B4-BE49-F238E27FC236}">
                <a16:creationId xmlns:a16="http://schemas.microsoft.com/office/drawing/2014/main" id="{F230C4A3-8FDA-0B4C-CA47-1D06A4E2A827}"/>
              </a:ext>
            </a:extLst>
          </p:cNvPr>
          <p:cNvSpPr>
            <a:spLocks noGrp="1"/>
          </p:cNvSpPr>
          <p:nvPr>
            <p:ph idx="1"/>
          </p:nvPr>
        </p:nvSpPr>
        <p:spPr/>
        <p:txBody>
          <a:bodyPr/>
          <a:lstStyle/>
          <a:p>
            <a:pPr marL="0" indent="0">
              <a:buNone/>
            </a:pPr>
            <a:r>
              <a:rPr lang="en-IN" sz="2400" dirty="0"/>
              <a:t>Module 4: </a:t>
            </a:r>
            <a:r>
              <a:rPr lang="en-US" sz="2400" dirty="0"/>
              <a:t>JOINT </a:t>
            </a:r>
            <a:r>
              <a:rPr lang="en-IN" sz="2400" dirty="0"/>
              <a:t>SIMILARITY SCORING</a:t>
            </a:r>
          </a:p>
          <a:p>
            <a:pPr marL="0" indent="0">
              <a:buNone/>
            </a:pPr>
            <a:endParaRPr lang="en-IN" dirty="0"/>
          </a:p>
          <a:p>
            <a:pPr marL="0" indent="0">
              <a:buNone/>
            </a:pPr>
            <a:r>
              <a:rPr lang="en-IN" sz="2400" dirty="0"/>
              <a:t>SUB-MODULES :</a:t>
            </a:r>
          </a:p>
          <a:p>
            <a:pPr marL="914400" lvl="1" indent="-457200">
              <a:buFont typeface="+mj-lt"/>
              <a:buAutoNum type="romanUcPeriod"/>
            </a:pPr>
            <a:r>
              <a:rPr lang="en-US" sz="2000" dirty="0"/>
              <a:t>SIMILARITY SCORE ENGINE</a:t>
            </a:r>
          </a:p>
        </p:txBody>
      </p:sp>
    </p:spTree>
    <p:extLst>
      <p:ext uri="{BB962C8B-B14F-4D97-AF65-F5344CB8AC3E}">
        <p14:creationId xmlns:p14="http://schemas.microsoft.com/office/powerpoint/2010/main" val="6521547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42BCA-DB8E-EAB8-5C3C-62C9D8C5A3B5}"/>
              </a:ext>
            </a:extLst>
          </p:cNvPr>
          <p:cNvSpPr>
            <a:spLocks noGrp="1"/>
          </p:cNvSpPr>
          <p:nvPr>
            <p:ph type="title"/>
          </p:nvPr>
        </p:nvSpPr>
        <p:spPr/>
        <p:txBody>
          <a:bodyPr/>
          <a:lstStyle/>
          <a:p>
            <a:r>
              <a:rPr lang="en-US" dirty="0"/>
              <a:t>6D (</a:t>
            </a:r>
            <a:r>
              <a:rPr lang="en-US" dirty="0" err="1"/>
              <a:t>i</a:t>
            </a:r>
            <a:r>
              <a:rPr lang="en-US" dirty="0"/>
              <a:t>) </a:t>
            </a:r>
            <a:r>
              <a:rPr lang="en-IN" dirty="0"/>
              <a:t>Module Overview &amp; Block Diagram</a:t>
            </a:r>
          </a:p>
        </p:txBody>
      </p:sp>
      <p:sp>
        <p:nvSpPr>
          <p:cNvPr id="3" name="Content Placeholder 2">
            <a:extLst>
              <a:ext uri="{FF2B5EF4-FFF2-40B4-BE49-F238E27FC236}">
                <a16:creationId xmlns:a16="http://schemas.microsoft.com/office/drawing/2014/main" id="{3DA4950A-3785-CA25-482A-6F1D8E108F7B}"/>
              </a:ext>
            </a:extLst>
          </p:cNvPr>
          <p:cNvSpPr>
            <a:spLocks noGrp="1"/>
          </p:cNvSpPr>
          <p:nvPr>
            <p:ph idx="1"/>
          </p:nvPr>
        </p:nvSpPr>
        <p:spPr/>
        <p:txBody>
          <a:bodyPr>
            <a:normAutofit/>
          </a:bodyPr>
          <a:lstStyle/>
          <a:p>
            <a:r>
              <a:rPr lang="en-US" sz="2400" b="1" dirty="0"/>
              <a:t>Module Name</a:t>
            </a:r>
          </a:p>
          <a:p>
            <a:pPr marL="914400" lvl="1" indent="-457200">
              <a:buFont typeface="+mj-lt"/>
              <a:buAutoNum type="romanUcPeriod"/>
            </a:pPr>
            <a:r>
              <a:rPr lang="en-US" sz="2000" dirty="0"/>
              <a:t>SIMILARITY SCORE ENGINE</a:t>
            </a:r>
          </a:p>
          <a:p>
            <a:pPr marL="0" indent="0">
              <a:buNone/>
            </a:pPr>
            <a:endParaRPr lang="en-US" b="1" dirty="0"/>
          </a:p>
          <a:p>
            <a:r>
              <a:rPr lang="en-US" sz="2400" b="1" dirty="0"/>
              <a:t>Block Diagram</a:t>
            </a:r>
            <a:endParaRPr lang="en-IN" sz="2400" b="1" dirty="0"/>
          </a:p>
        </p:txBody>
      </p:sp>
      <p:pic>
        <p:nvPicPr>
          <p:cNvPr id="5" name="Picture 4">
            <a:extLst>
              <a:ext uri="{FF2B5EF4-FFF2-40B4-BE49-F238E27FC236}">
                <a16:creationId xmlns:a16="http://schemas.microsoft.com/office/drawing/2014/main" id="{33339B8B-CC79-5242-E321-08A63E6EB04B}"/>
              </a:ext>
            </a:extLst>
          </p:cNvPr>
          <p:cNvPicPr>
            <a:picLocks noChangeAspect="1"/>
          </p:cNvPicPr>
          <p:nvPr/>
        </p:nvPicPr>
        <p:blipFill>
          <a:blip r:embed="rId2">
            <a:extLst>
              <a:ext uri="{28A0092B-C50C-407E-A947-70E740481C1C}">
                <a14:useLocalDpi xmlns:a14="http://schemas.microsoft.com/office/drawing/2010/main" val="0"/>
              </a:ext>
            </a:extLst>
          </a:blip>
          <a:srcRect l="518" t="38207" r="668" b="36982"/>
          <a:stretch>
            <a:fillRect/>
          </a:stretch>
        </p:blipFill>
        <p:spPr>
          <a:xfrm>
            <a:off x="292675" y="4049078"/>
            <a:ext cx="11606649" cy="1940242"/>
          </a:xfrm>
          <a:prstGeom prst="rect">
            <a:avLst/>
          </a:prstGeom>
        </p:spPr>
      </p:pic>
    </p:spTree>
    <p:extLst>
      <p:ext uri="{BB962C8B-B14F-4D97-AF65-F5344CB8AC3E}">
        <p14:creationId xmlns:p14="http://schemas.microsoft.com/office/powerpoint/2010/main" val="29804220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61F4-0562-D318-C5CF-546EC7CD1A1C}"/>
              </a:ext>
            </a:extLst>
          </p:cNvPr>
          <p:cNvSpPr>
            <a:spLocks noGrp="1"/>
          </p:cNvSpPr>
          <p:nvPr>
            <p:ph type="title"/>
          </p:nvPr>
        </p:nvSpPr>
        <p:spPr>
          <a:xfrm>
            <a:off x="838200" y="-211747"/>
            <a:ext cx="10515600" cy="1325563"/>
          </a:xfrm>
        </p:spPr>
        <p:txBody>
          <a:bodyPr/>
          <a:lstStyle/>
          <a:p>
            <a:r>
              <a:rPr lang="en-US" dirty="0"/>
              <a:t>6D (</a:t>
            </a:r>
            <a:r>
              <a:rPr lang="en-US" dirty="0" err="1"/>
              <a:t>i</a:t>
            </a:r>
            <a:r>
              <a:rPr lang="en-US" dirty="0"/>
              <a:t>) </a:t>
            </a:r>
            <a:r>
              <a:rPr lang="en-IN" dirty="0"/>
              <a:t>Scoring Algorithms</a:t>
            </a:r>
          </a:p>
        </p:txBody>
      </p:sp>
      <p:sp>
        <p:nvSpPr>
          <p:cNvPr id="3" name="Content Placeholder 2">
            <a:extLst>
              <a:ext uri="{FF2B5EF4-FFF2-40B4-BE49-F238E27FC236}">
                <a16:creationId xmlns:a16="http://schemas.microsoft.com/office/drawing/2014/main" id="{9444746C-9DC8-8CB0-B5B0-B0CAFCC01C1F}"/>
              </a:ext>
            </a:extLst>
          </p:cNvPr>
          <p:cNvSpPr>
            <a:spLocks noGrp="1"/>
          </p:cNvSpPr>
          <p:nvPr>
            <p:ph idx="1"/>
          </p:nvPr>
        </p:nvSpPr>
        <p:spPr>
          <a:xfrm>
            <a:off x="838200" y="849312"/>
            <a:ext cx="11567160" cy="5159375"/>
          </a:xfrm>
        </p:spPr>
        <p:txBody>
          <a:bodyPr>
            <a:normAutofit/>
          </a:bodyPr>
          <a:lstStyle/>
          <a:p>
            <a:pPr marL="0" indent="0">
              <a:buNone/>
            </a:pPr>
            <a:r>
              <a:rPr lang="en-IN" sz="2000" b="1" dirty="0"/>
              <a:t>Algorithm Type</a:t>
            </a:r>
          </a:p>
          <a:p>
            <a:pPr marL="0" indent="0">
              <a:buNone/>
            </a:pPr>
            <a:r>
              <a:rPr lang="en-IN" sz="2000" b="1" dirty="0"/>
              <a:t>	Deterministic Score Aggregation</a:t>
            </a:r>
            <a:endParaRPr lang="en-US" sz="1400" b="1" dirty="0"/>
          </a:p>
          <a:p>
            <a:pPr marL="0" indent="0">
              <a:buNone/>
            </a:pPr>
            <a:r>
              <a:rPr lang="en-US" sz="2000" b="1" dirty="0"/>
              <a:t>1. Structural Similarity Score</a:t>
            </a:r>
          </a:p>
          <a:p>
            <a:pPr marL="0" indent="0">
              <a:buNone/>
            </a:pPr>
            <a:r>
              <a:rPr lang="en-IN" sz="1400" dirty="0"/>
              <a:t>	</a:t>
            </a:r>
            <a:r>
              <a:rPr lang="en-IN" sz="1600" dirty="0"/>
              <a:t>Extract mean joint errors: </a:t>
            </a:r>
            <a:r>
              <a:rPr lang="en-IN" sz="1600" dirty="0" err="1">
                <a:latin typeface="Courier New" panose="02070309020205020404" pitchFamily="49" charset="0"/>
              </a:rPr>
              <a:t>mean_errors</a:t>
            </a:r>
            <a:r>
              <a:rPr lang="en-IN" sz="1600" dirty="0">
                <a:latin typeface="Courier New" panose="02070309020205020404" pitchFamily="49" charset="0"/>
              </a:rPr>
              <a:t> = { </a:t>
            </a:r>
            <a:r>
              <a:rPr lang="en-IN" sz="1600" dirty="0" err="1">
                <a:latin typeface="Courier New" panose="02070309020205020404" pitchFamily="49" charset="0"/>
              </a:rPr>
              <a:t>mean_error</a:t>
            </a:r>
            <a:r>
              <a:rPr lang="en-IN" sz="1600" dirty="0">
                <a:latin typeface="Courier New" panose="02070309020205020404" pitchFamily="49" charset="0"/>
              </a:rPr>
              <a:t>(j) for all 17 joints }</a:t>
            </a:r>
          </a:p>
          <a:p>
            <a:pPr marL="0" indent="0">
              <a:buNone/>
            </a:pPr>
            <a:r>
              <a:rPr lang="en-IN" sz="1600" dirty="0"/>
              <a:t>	Compute overall mean joint error: </a:t>
            </a:r>
            <a:r>
              <a:rPr lang="en-IN" sz="1600" dirty="0" err="1">
                <a:latin typeface="Courier New" panose="02070309020205020404" pitchFamily="49" charset="0"/>
              </a:rPr>
              <a:t>mean_joint_error</a:t>
            </a:r>
            <a:r>
              <a:rPr lang="en-IN" sz="1600" dirty="0">
                <a:latin typeface="Courier New" panose="02070309020205020404" pitchFamily="49" charset="0"/>
              </a:rPr>
              <a:t> = </a:t>
            </a:r>
            <a:r>
              <a:rPr lang="en-IN" sz="1600" dirty="0" err="1">
                <a:latin typeface="Courier New" panose="02070309020205020404" pitchFamily="49" charset="0"/>
              </a:rPr>
              <a:t>nanmean</a:t>
            </a:r>
            <a:r>
              <a:rPr lang="en-IN" sz="1600" dirty="0">
                <a:latin typeface="Courier New" panose="02070309020205020404" pitchFamily="49" charset="0"/>
              </a:rPr>
              <a:t>(</a:t>
            </a:r>
            <a:r>
              <a:rPr lang="en-IN" sz="1600" dirty="0" err="1">
                <a:latin typeface="Courier New" panose="02070309020205020404" pitchFamily="49" charset="0"/>
              </a:rPr>
              <a:t>mean_errors</a:t>
            </a:r>
            <a:r>
              <a:rPr lang="en-IN" sz="1600" dirty="0">
                <a:latin typeface="Courier New" panose="02070309020205020404" pitchFamily="49" charset="0"/>
              </a:rPr>
              <a:t>)</a:t>
            </a:r>
          </a:p>
          <a:p>
            <a:pPr marL="0" indent="0">
              <a:buNone/>
            </a:pPr>
            <a:r>
              <a:rPr lang="en-IN" sz="1600" dirty="0"/>
              <a:t>	Normalize using fixed threshold: </a:t>
            </a:r>
            <a:r>
              <a:rPr lang="en-IN" sz="1600" dirty="0" err="1">
                <a:latin typeface="Courier New" panose="02070309020205020404" pitchFamily="49" charset="0"/>
              </a:rPr>
              <a:t>structural_similarity</a:t>
            </a:r>
            <a:r>
              <a:rPr lang="en-IN" sz="1600" dirty="0">
                <a:latin typeface="Courier New" panose="02070309020205020404" pitchFamily="49" charset="0"/>
              </a:rPr>
              <a:t> = (1 − </a:t>
            </a:r>
            <a:r>
              <a:rPr lang="en-IN" sz="1600" dirty="0" err="1">
                <a:latin typeface="Courier New" panose="02070309020205020404" pitchFamily="49" charset="0"/>
              </a:rPr>
              <a:t>mean_joint_error</a:t>
            </a:r>
            <a:r>
              <a:rPr lang="en-IN" sz="1600" dirty="0">
                <a:latin typeface="Courier New" panose="02070309020205020404" pitchFamily="49" charset="0"/>
              </a:rPr>
              <a:t> / MAX_ERROR_THRESHOLD) × 100</a:t>
            </a:r>
          </a:p>
          <a:p>
            <a:pPr marL="0" indent="0">
              <a:buNone/>
            </a:pPr>
            <a:r>
              <a:rPr lang="en-IN" sz="1600" dirty="0"/>
              <a:t>	Where:	</a:t>
            </a:r>
            <a:r>
              <a:rPr lang="en-IN" sz="1600" dirty="0">
                <a:latin typeface="Courier New" panose="02070309020205020404" pitchFamily="49" charset="0"/>
              </a:rPr>
              <a:t>MAX_ERROR_THRESHOLD = 1.5 Clamp result to [0, 100].</a:t>
            </a:r>
          </a:p>
          <a:p>
            <a:pPr marL="0" indent="0">
              <a:buNone/>
            </a:pPr>
            <a:endParaRPr lang="en-IN" sz="1400" dirty="0">
              <a:latin typeface="Courier New" panose="02070309020205020404" pitchFamily="49" charset="0"/>
            </a:endParaRPr>
          </a:p>
          <a:p>
            <a:pPr marL="0" indent="0">
              <a:buNone/>
            </a:pPr>
            <a:endParaRPr lang="en-IN" sz="1400" dirty="0">
              <a:latin typeface="Courier New" panose="02070309020205020404" pitchFamily="49" charset="0"/>
            </a:endParaRPr>
          </a:p>
        </p:txBody>
      </p:sp>
      <p:sp>
        <p:nvSpPr>
          <p:cNvPr id="5" name="TextBox 4">
            <a:extLst>
              <a:ext uri="{FF2B5EF4-FFF2-40B4-BE49-F238E27FC236}">
                <a16:creationId xmlns:a16="http://schemas.microsoft.com/office/drawing/2014/main" id="{610C9353-39F0-8C3D-DD68-31B199CC7EEB}"/>
              </a:ext>
            </a:extLst>
          </p:cNvPr>
          <p:cNvSpPr txBox="1"/>
          <p:nvPr/>
        </p:nvSpPr>
        <p:spPr>
          <a:xfrm>
            <a:off x="838200" y="3770114"/>
            <a:ext cx="9608820" cy="2780248"/>
          </a:xfrm>
          <a:prstGeom prst="rect">
            <a:avLst/>
          </a:prstGeom>
          <a:noFill/>
        </p:spPr>
        <p:txBody>
          <a:bodyPr wrap="square">
            <a:spAutoFit/>
          </a:bodyPr>
          <a:lstStyle/>
          <a:p>
            <a:r>
              <a:rPr lang="en-IN" sz="2000" b="1" dirty="0"/>
              <a:t>2. Temporal Similarity Score</a:t>
            </a:r>
          </a:p>
          <a:p>
            <a:pPr>
              <a:lnSpc>
                <a:spcPct val="90000"/>
              </a:lnSpc>
              <a:spcBef>
                <a:spcPts val="1000"/>
              </a:spcBef>
            </a:pPr>
            <a:br>
              <a:rPr lang="en-IN" sz="1400" b="1" dirty="0"/>
            </a:br>
            <a:r>
              <a:rPr lang="en-IN" sz="1600" dirty="0"/>
              <a:t>Extract aligned frame count: </a:t>
            </a:r>
            <a:r>
              <a:rPr lang="en-IN" sz="1600" dirty="0" err="1">
                <a:latin typeface="Courier New" panose="02070309020205020404" pitchFamily="49" charset="0"/>
              </a:rPr>
              <a:t>T_aligned</a:t>
            </a:r>
            <a:endParaRPr lang="en-IN" sz="1600" dirty="0">
              <a:latin typeface="Courier New" panose="02070309020205020404" pitchFamily="49" charset="0"/>
            </a:endParaRPr>
          </a:p>
          <a:p>
            <a:pPr>
              <a:lnSpc>
                <a:spcPct val="90000"/>
              </a:lnSpc>
              <a:spcBef>
                <a:spcPts val="1000"/>
              </a:spcBef>
            </a:pPr>
            <a:r>
              <a:rPr lang="en-IN" sz="1600" dirty="0"/>
              <a:t>Compare with baseline: </a:t>
            </a:r>
            <a:r>
              <a:rPr lang="en-IN" sz="1600" dirty="0">
                <a:latin typeface="Courier New" panose="02070309020205020404" pitchFamily="49" charset="0"/>
              </a:rPr>
              <a:t>BASELINE_FRAMES = </a:t>
            </a:r>
            <a:r>
              <a:rPr lang="en-IN" sz="1600" dirty="0" err="1">
                <a:latin typeface="Courier New" panose="02070309020205020404" pitchFamily="49" charset="0"/>
              </a:rPr>
              <a:t>Expert_Total_Frames</a:t>
            </a:r>
            <a:endParaRPr lang="en-IN" sz="1600" dirty="0">
              <a:latin typeface="Courier New" panose="02070309020205020404" pitchFamily="49" charset="0"/>
            </a:endParaRPr>
          </a:p>
          <a:p>
            <a:pPr>
              <a:lnSpc>
                <a:spcPct val="90000"/>
              </a:lnSpc>
              <a:spcBef>
                <a:spcPts val="1000"/>
              </a:spcBef>
            </a:pPr>
            <a:r>
              <a:rPr lang="en-IN" sz="1600" dirty="0"/>
              <a:t>Compute deviation: </a:t>
            </a:r>
            <a:r>
              <a:rPr lang="en-IN" sz="1600" dirty="0" err="1">
                <a:latin typeface="Courier New" panose="02070309020205020404" pitchFamily="49" charset="0"/>
              </a:rPr>
              <a:t>frame_deviation</a:t>
            </a:r>
            <a:r>
              <a:rPr lang="en-IN" sz="1600" dirty="0">
                <a:latin typeface="Courier New" panose="02070309020205020404" pitchFamily="49" charset="0"/>
              </a:rPr>
              <a:t> = |</a:t>
            </a:r>
            <a:r>
              <a:rPr lang="en-IN" sz="1600" dirty="0" err="1">
                <a:latin typeface="Courier New" panose="02070309020205020404" pitchFamily="49" charset="0"/>
              </a:rPr>
              <a:t>T_aligned</a:t>
            </a:r>
            <a:r>
              <a:rPr lang="en-IN" sz="1600" dirty="0">
                <a:latin typeface="Courier New" panose="02070309020205020404" pitchFamily="49" charset="0"/>
              </a:rPr>
              <a:t> − BASELINE_FRAMES|</a:t>
            </a:r>
          </a:p>
          <a:p>
            <a:pPr>
              <a:lnSpc>
                <a:spcPct val="90000"/>
              </a:lnSpc>
              <a:spcBef>
                <a:spcPts val="1000"/>
              </a:spcBef>
            </a:pPr>
            <a:r>
              <a:rPr lang="en-IN" sz="1600" dirty="0"/>
              <a:t>Normalize deviation: </a:t>
            </a:r>
            <a:r>
              <a:rPr lang="en-IN" sz="1600" dirty="0" err="1">
                <a:latin typeface="Courier New" panose="02070309020205020404" pitchFamily="49" charset="0"/>
              </a:rPr>
              <a:t>temporal_quality</a:t>
            </a:r>
            <a:r>
              <a:rPr lang="en-IN" sz="1600" dirty="0">
                <a:latin typeface="Courier New" panose="02070309020205020404" pitchFamily="49" charset="0"/>
              </a:rPr>
              <a:t> = 1 − (</a:t>
            </a:r>
            <a:r>
              <a:rPr lang="en-IN" sz="1600" dirty="0" err="1">
                <a:latin typeface="Courier New" panose="02070309020205020404" pitchFamily="49" charset="0"/>
              </a:rPr>
              <a:t>frame_deviation</a:t>
            </a:r>
            <a:r>
              <a:rPr lang="en-IN" sz="1600" dirty="0">
                <a:latin typeface="Courier New" panose="02070309020205020404" pitchFamily="49" charset="0"/>
              </a:rPr>
              <a:t> / (BASELINE_FRAMES × 0.5))</a:t>
            </a:r>
          </a:p>
          <a:p>
            <a:pPr>
              <a:lnSpc>
                <a:spcPct val="90000"/>
              </a:lnSpc>
              <a:spcBef>
                <a:spcPts val="1000"/>
              </a:spcBef>
            </a:pPr>
            <a:r>
              <a:rPr lang="en-IN" sz="1600" dirty="0"/>
              <a:t>Scale to score range: </a:t>
            </a:r>
            <a:r>
              <a:rPr lang="en-IN" sz="1600" dirty="0" err="1">
                <a:latin typeface="Courier New" panose="02070309020205020404" pitchFamily="49" charset="0"/>
              </a:rPr>
              <a:t>temporal_similarity</a:t>
            </a:r>
            <a:r>
              <a:rPr lang="en-IN" sz="1600" dirty="0">
                <a:latin typeface="Courier New" panose="02070309020205020404" pitchFamily="49" charset="0"/>
              </a:rPr>
              <a:t> = 70 + (</a:t>
            </a:r>
            <a:r>
              <a:rPr lang="en-IN" sz="1600" dirty="0" err="1">
                <a:latin typeface="Courier New" panose="02070309020205020404" pitchFamily="49" charset="0"/>
              </a:rPr>
              <a:t>temporal_quality</a:t>
            </a:r>
            <a:r>
              <a:rPr lang="en-IN" sz="1600" dirty="0">
                <a:latin typeface="Courier New" panose="02070309020205020404" pitchFamily="49" charset="0"/>
              </a:rPr>
              <a:t> × 30)</a:t>
            </a:r>
          </a:p>
          <a:p>
            <a:endParaRPr lang="en-IN" sz="1400" b="1" dirty="0"/>
          </a:p>
        </p:txBody>
      </p:sp>
    </p:spTree>
    <p:extLst>
      <p:ext uri="{BB962C8B-B14F-4D97-AF65-F5344CB8AC3E}">
        <p14:creationId xmlns:p14="http://schemas.microsoft.com/office/powerpoint/2010/main" val="22861490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4E50-5703-C63A-B726-C5F673B22CDF}"/>
              </a:ext>
            </a:extLst>
          </p:cNvPr>
          <p:cNvSpPr>
            <a:spLocks noGrp="1"/>
          </p:cNvSpPr>
          <p:nvPr>
            <p:ph type="title"/>
          </p:nvPr>
        </p:nvSpPr>
        <p:spPr/>
        <p:txBody>
          <a:bodyPr/>
          <a:lstStyle/>
          <a:p>
            <a:r>
              <a:rPr lang="en-US" dirty="0"/>
              <a:t>6D (</a:t>
            </a:r>
            <a:r>
              <a:rPr lang="en-US" dirty="0" err="1"/>
              <a:t>i</a:t>
            </a:r>
            <a:r>
              <a:rPr lang="en-US" dirty="0"/>
              <a:t>) </a:t>
            </a:r>
            <a:r>
              <a:rPr lang="en-IN" dirty="0"/>
              <a:t>Scoring Algorithms (</a:t>
            </a:r>
            <a:r>
              <a:rPr lang="en-IN" dirty="0" err="1"/>
              <a:t>cont</a:t>
            </a:r>
            <a:r>
              <a:rPr lang="en-IN" dirty="0"/>
              <a:t>)</a:t>
            </a:r>
          </a:p>
        </p:txBody>
      </p:sp>
      <p:sp>
        <p:nvSpPr>
          <p:cNvPr id="3" name="Content Placeholder 2">
            <a:extLst>
              <a:ext uri="{FF2B5EF4-FFF2-40B4-BE49-F238E27FC236}">
                <a16:creationId xmlns:a16="http://schemas.microsoft.com/office/drawing/2014/main" id="{45747FE3-E9B0-71C4-C957-EBFA4C1BB0AD}"/>
              </a:ext>
            </a:extLst>
          </p:cNvPr>
          <p:cNvSpPr>
            <a:spLocks noGrp="1"/>
          </p:cNvSpPr>
          <p:nvPr>
            <p:ph idx="1"/>
          </p:nvPr>
        </p:nvSpPr>
        <p:spPr/>
        <p:txBody>
          <a:bodyPr>
            <a:normAutofit/>
          </a:bodyPr>
          <a:lstStyle/>
          <a:p>
            <a:pPr marL="0" indent="0">
              <a:buNone/>
            </a:pPr>
            <a:r>
              <a:rPr lang="en-US" sz="2000" b="1" dirty="0"/>
              <a:t>3. Overall Similarity Score</a:t>
            </a:r>
            <a:br>
              <a:rPr lang="en-US" sz="2000" b="1" dirty="0"/>
            </a:br>
            <a:endParaRPr lang="en-US" sz="2000" b="1" dirty="0"/>
          </a:p>
          <a:p>
            <a:pPr marL="0" indent="0">
              <a:buNone/>
            </a:pPr>
            <a:r>
              <a:rPr lang="en-US" sz="2000" b="1" dirty="0"/>
              <a:t>Weighted Aggregation</a:t>
            </a:r>
          </a:p>
          <a:p>
            <a:pPr marL="457200" lvl="1" indent="0">
              <a:buNone/>
            </a:pPr>
            <a:r>
              <a:rPr lang="en-US" sz="1600" dirty="0" err="1">
                <a:latin typeface="Courier New" panose="02070309020205020404" pitchFamily="49" charset="0"/>
              </a:rPr>
              <a:t>overall_score</a:t>
            </a:r>
            <a:r>
              <a:rPr lang="en-US" sz="1600" dirty="0">
                <a:latin typeface="Courier New" panose="02070309020205020404" pitchFamily="49" charset="0"/>
              </a:rPr>
              <a:t> = 0.6 × </a:t>
            </a:r>
            <a:r>
              <a:rPr lang="en-US" sz="1600" dirty="0" err="1">
                <a:latin typeface="Courier New" panose="02070309020205020404" pitchFamily="49" charset="0"/>
              </a:rPr>
              <a:t>structural_similarity</a:t>
            </a:r>
            <a:r>
              <a:rPr lang="en-US" sz="1600" dirty="0">
                <a:latin typeface="Courier New" panose="02070309020205020404" pitchFamily="49" charset="0"/>
              </a:rPr>
              <a:t> + 0.4 × </a:t>
            </a:r>
            <a:r>
              <a:rPr lang="en-US" sz="1600" dirty="0" err="1">
                <a:latin typeface="Courier New" panose="02070309020205020404" pitchFamily="49" charset="0"/>
              </a:rPr>
              <a:t>temporal_similarity</a:t>
            </a:r>
            <a:endParaRPr lang="en-US" sz="1600" dirty="0">
              <a:latin typeface="Courier New" panose="02070309020205020404" pitchFamily="49" charset="0"/>
            </a:endParaRPr>
          </a:p>
          <a:p>
            <a:pPr marL="0" indent="0">
              <a:buNone/>
            </a:pPr>
            <a:r>
              <a:rPr lang="en-IN" sz="2000" b="1" dirty="0"/>
              <a:t>Sample Input &amp; Output</a:t>
            </a:r>
          </a:p>
          <a:p>
            <a:pPr marL="0" indent="0">
              <a:buNone/>
            </a:pPr>
            <a:r>
              <a:rPr lang="en-IN" sz="2000" b="1" dirty="0"/>
              <a:t>Sample Input</a:t>
            </a:r>
          </a:p>
          <a:p>
            <a:pPr marL="457200" lvl="1" indent="0">
              <a:lnSpc>
                <a:spcPct val="100000"/>
              </a:lnSpc>
              <a:buNone/>
            </a:pPr>
            <a:r>
              <a:rPr lang="en-IN" sz="1600" dirty="0" err="1">
                <a:latin typeface="Courier New" panose="02070309020205020404" pitchFamily="49" charset="0"/>
              </a:rPr>
              <a:t>mean_joint_error</a:t>
            </a:r>
            <a:r>
              <a:rPr lang="en-IN" sz="1600" dirty="0">
                <a:latin typeface="Courier New" panose="02070309020205020404" pitchFamily="49" charset="0"/>
              </a:rPr>
              <a:t> = 0.48</a:t>
            </a:r>
          </a:p>
          <a:p>
            <a:pPr marL="457200" lvl="1" indent="0">
              <a:lnSpc>
                <a:spcPct val="100000"/>
              </a:lnSpc>
              <a:buNone/>
            </a:pPr>
            <a:r>
              <a:rPr lang="en-IN" sz="1600" dirty="0" err="1">
                <a:latin typeface="Courier New" panose="02070309020205020404" pitchFamily="49" charset="0"/>
              </a:rPr>
              <a:t>T_aligned</a:t>
            </a:r>
            <a:r>
              <a:rPr lang="en-IN" sz="1600" dirty="0">
                <a:latin typeface="Courier New" panose="02070309020205020404" pitchFamily="49" charset="0"/>
              </a:rPr>
              <a:t> = 103</a:t>
            </a:r>
          </a:p>
          <a:p>
            <a:pPr marL="0" indent="0">
              <a:buNone/>
            </a:pPr>
            <a:r>
              <a:rPr lang="en-IN" sz="2000" b="1" dirty="0"/>
              <a:t>Sample Output</a:t>
            </a:r>
          </a:p>
          <a:p>
            <a:pPr marL="457200" lvl="1" indent="0">
              <a:lnSpc>
                <a:spcPct val="100000"/>
              </a:lnSpc>
              <a:buNone/>
            </a:pPr>
            <a:r>
              <a:rPr lang="en-IN" sz="1600" dirty="0" err="1">
                <a:latin typeface="Courier New" panose="02070309020205020404" pitchFamily="49" charset="0"/>
              </a:rPr>
              <a:t>structural_similarity</a:t>
            </a:r>
            <a:r>
              <a:rPr lang="en-IN" sz="1600" dirty="0">
                <a:latin typeface="Courier New" panose="02070309020205020404" pitchFamily="49" charset="0"/>
              </a:rPr>
              <a:t> ≈ 68%</a:t>
            </a:r>
          </a:p>
          <a:p>
            <a:pPr marL="457200" lvl="1" indent="0">
              <a:lnSpc>
                <a:spcPct val="100000"/>
              </a:lnSpc>
              <a:buNone/>
            </a:pPr>
            <a:r>
              <a:rPr lang="en-IN" sz="1600" dirty="0" err="1">
                <a:latin typeface="Courier New" panose="02070309020205020404" pitchFamily="49" charset="0"/>
              </a:rPr>
              <a:t>temporal_similarity</a:t>
            </a:r>
            <a:r>
              <a:rPr lang="en-IN" sz="1600" dirty="0">
                <a:latin typeface="Courier New" panose="02070309020205020404" pitchFamily="49" charset="0"/>
              </a:rPr>
              <a:t>   ≈ 93.7%</a:t>
            </a:r>
          </a:p>
          <a:p>
            <a:pPr marL="457200" lvl="1" indent="0">
              <a:lnSpc>
                <a:spcPct val="100000"/>
              </a:lnSpc>
              <a:buNone/>
            </a:pPr>
            <a:r>
              <a:rPr lang="en-IN" sz="1600" dirty="0" err="1">
                <a:latin typeface="Courier New" panose="02070309020205020404" pitchFamily="49" charset="0"/>
              </a:rPr>
              <a:t>overall_score</a:t>
            </a:r>
            <a:r>
              <a:rPr lang="en-IN" sz="1600" dirty="0">
                <a:latin typeface="Courier New" panose="02070309020205020404" pitchFamily="49" charset="0"/>
              </a:rPr>
              <a:t>         ≈ 78.3%</a:t>
            </a:r>
          </a:p>
          <a:p>
            <a:endParaRPr lang="en-IN" dirty="0"/>
          </a:p>
        </p:txBody>
      </p:sp>
    </p:spTree>
    <p:extLst>
      <p:ext uri="{BB962C8B-B14F-4D97-AF65-F5344CB8AC3E}">
        <p14:creationId xmlns:p14="http://schemas.microsoft.com/office/powerpoint/2010/main" val="1610058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2A68-43D5-82DC-C410-8A7F0ACC305F}"/>
              </a:ext>
            </a:extLst>
          </p:cNvPr>
          <p:cNvSpPr>
            <a:spLocks noGrp="1"/>
          </p:cNvSpPr>
          <p:nvPr>
            <p:ph type="ctrTitle"/>
          </p:nvPr>
        </p:nvSpPr>
        <p:spPr>
          <a:xfrm>
            <a:off x="2381249" y="2084917"/>
            <a:ext cx="7429501" cy="2688165"/>
          </a:xfrm>
        </p:spPr>
        <p:txBody>
          <a:bodyPr>
            <a:noAutofit/>
          </a:bodyPr>
          <a:lstStyle/>
          <a:p>
            <a:r>
              <a:rPr lang="en-IN" sz="9600" dirty="0">
                <a:latin typeface="Algerian" panose="04020705040A02060702" pitchFamily="82" charset="0"/>
              </a:rPr>
              <a:t>THANK </a:t>
            </a:r>
            <a:br>
              <a:rPr lang="en-IN" sz="9600" dirty="0">
                <a:latin typeface="Algerian" panose="04020705040A02060702" pitchFamily="82" charset="0"/>
              </a:rPr>
            </a:br>
            <a:r>
              <a:rPr lang="en-IN" sz="9600" dirty="0">
                <a:latin typeface="Algerian" panose="04020705040A02060702" pitchFamily="82" charset="0"/>
              </a:rPr>
              <a:t>YOU</a:t>
            </a:r>
          </a:p>
        </p:txBody>
      </p:sp>
    </p:spTree>
    <p:extLst>
      <p:ext uri="{BB962C8B-B14F-4D97-AF65-F5344CB8AC3E}">
        <p14:creationId xmlns:p14="http://schemas.microsoft.com/office/powerpoint/2010/main" val="3873845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2645</TotalTime>
  <Words>3961</Words>
  <Application>Microsoft Office PowerPoint</Application>
  <PresentationFormat>Widescreen</PresentationFormat>
  <Paragraphs>573</Paragraphs>
  <Slides>49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Algerian</vt:lpstr>
      <vt:lpstr>Arial</vt:lpstr>
      <vt:lpstr>Calibri</vt:lpstr>
      <vt:lpstr>Calibri Light</vt:lpstr>
      <vt:lpstr>Courier New</vt:lpstr>
      <vt:lpstr>Wingdings</vt:lpstr>
      <vt:lpstr>Office Theme</vt:lpstr>
      <vt:lpstr>An AR-Based Coaching System for Kabaddi Using Pose Estimation and LLM Feedback</vt:lpstr>
      <vt:lpstr>1. Introduction</vt:lpstr>
      <vt:lpstr>2. Introduction (Kabaddi skills)</vt:lpstr>
      <vt:lpstr>2. Problem Statement</vt:lpstr>
      <vt:lpstr>4. Literature Survey</vt:lpstr>
      <vt:lpstr>4. Literature Survey cont.</vt:lpstr>
      <vt:lpstr>5. Overall System Architecture (High Level)</vt:lpstr>
      <vt:lpstr>6. Modules </vt:lpstr>
      <vt:lpstr>6 A. Modules (POSE EXTRACTION &amp; CLEANING)</vt:lpstr>
      <vt:lpstr>6A (i) – Module Overview &amp; Block Diagram</vt:lpstr>
      <vt:lpstr>6A (i) – Algorithm Details</vt:lpstr>
      <vt:lpstr>6A (i)– Algorithm Details cont.</vt:lpstr>
      <vt:lpstr>6A (ii) – Module Overview &amp; Block Diagram</vt:lpstr>
      <vt:lpstr>6A (ii) Algorithm Details</vt:lpstr>
      <vt:lpstr>6A (ii) Algorithm Details (cont)</vt:lpstr>
      <vt:lpstr>6A (iii) Module Overview &amp; Block Diagram</vt:lpstr>
      <vt:lpstr>6A (iii) Algorithm Details</vt:lpstr>
      <vt:lpstr>6A(iii) Algorithm Details (cont)</vt:lpstr>
      <vt:lpstr>6A(iii) Algorithm Details (cont)</vt:lpstr>
      <vt:lpstr>6A(iv) Module Overview &amp; Block Diagram</vt:lpstr>
      <vt:lpstr>6A(iv) Algorithms Used</vt:lpstr>
      <vt:lpstr>6A(iv) Algorithms Used (cont)</vt:lpstr>
      <vt:lpstr>6B Modules (POSE EXTRACTION &amp; CLEANING)</vt:lpstr>
      <vt:lpstr>6B (i) – Module Overview &amp; Block Diagram</vt:lpstr>
      <vt:lpstr>6B(i) Algorithm Details</vt:lpstr>
      <vt:lpstr>6B(i) Algorithm Details (cont)</vt:lpstr>
      <vt:lpstr>6B (ii) – Module Overview &amp; Block Diagram</vt:lpstr>
      <vt:lpstr>6B (ii) – Algorithm Details</vt:lpstr>
      <vt:lpstr>6B (ii) – Algorithm Details (cont)</vt:lpstr>
      <vt:lpstr>6B (iii) – Module Overview &amp; Block Diagram</vt:lpstr>
      <vt:lpstr>6B (iii) Algorithm Details</vt:lpstr>
      <vt:lpstr>6B (iii) Algorithm Details (cont)</vt:lpstr>
      <vt:lpstr>6C Modules (JOINT ERROR ANALYSIS)</vt:lpstr>
      <vt:lpstr>6C(i) Module Overview &amp; Block Diagram</vt:lpstr>
      <vt:lpstr>6C (i) Algorithm Details</vt:lpstr>
      <vt:lpstr>6C (i) Algorithm Details (cont)</vt:lpstr>
      <vt:lpstr>6C(ii) Module Overview &amp; Block Diagram</vt:lpstr>
      <vt:lpstr>6C (ii) Algorithms Details</vt:lpstr>
      <vt:lpstr>6C (ii) Algorithms Details (cont)</vt:lpstr>
      <vt:lpstr>6C (ii) Algorithms Details (cont)</vt:lpstr>
      <vt:lpstr>6C (ii) Algorithms Details (cont)</vt:lpstr>
      <vt:lpstr>6C(iii) Module Overview &amp; Block Diagram</vt:lpstr>
      <vt:lpstr>6C (iii) Algorithm Details</vt:lpstr>
      <vt:lpstr>6C (iii) Algorithms Details (cont)</vt:lpstr>
      <vt:lpstr>6D Modules (SIMILARITY SCORING)</vt:lpstr>
      <vt:lpstr>6D (i) Module Overview &amp; Block Diagram</vt:lpstr>
      <vt:lpstr>6D (i) Scoring Algorithms</vt:lpstr>
      <vt:lpstr>6D (i) Scoring Algorithms (cont)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Ibrahim.MS</dc:creator>
  <cp:lastModifiedBy>Mohamed Ibrahim.MS</cp:lastModifiedBy>
  <cp:revision>11</cp:revision>
  <dcterms:created xsi:type="dcterms:W3CDTF">2026-01-13T01:00:03Z</dcterms:created>
  <dcterms:modified xsi:type="dcterms:W3CDTF">2026-01-27T06:59:06Z</dcterms:modified>
</cp:coreProperties>
</file>